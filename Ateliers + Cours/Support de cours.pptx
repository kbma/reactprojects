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6"/>
  </p:notesMasterIdLst>
  <p:sldIdLst>
    <p:sldId id="256" r:id="rId2"/>
    <p:sldId id="478" r:id="rId3"/>
    <p:sldId id="477" r:id="rId4"/>
    <p:sldId id="483" r:id="rId5"/>
    <p:sldId id="257" r:id="rId6"/>
    <p:sldId id="258" r:id="rId7"/>
    <p:sldId id="484" r:id="rId8"/>
    <p:sldId id="260" r:id="rId9"/>
    <p:sldId id="448" r:id="rId10"/>
    <p:sldId id="374" r:id="rId11"/>
    <p:sldId id="486" r:id="rId12"/>
    <p:sldId id="487" r:id="rId13"/>
    <p:sldId id="488" r:id="rId14"/>
    <p:sldId id="485" r:id="rId15"/>
    <p:sldId id="262" r:id="rId16"/>
    <p:sldId id="263" r:id="rId17"/>
    <p:sldId id="375" r:id="rId18"/>
    <p:sldId id="376" r:id="rId19"/>
    <p:sldId id="387" r:id="rId20"/>
    <p:sldId id="388" r:id="rId21"/>
    <p:sldId id="389" r:id="rId22"/>
    <p:sldId id="264" r:id="rId23"/>
    <p:sldId id="377" r:id="rId24"/>
    <p:sldId id="381" r:id="rId25"/>
    <p:sldId id="378" r:id="rId26"/>
    <p:sldId id="382" r:id="rId27"/>
    <p:sldId id="472" r:id="rId28"/>
    <p:sldId id="391" r:id="rId29"/>
    <p:sldId id="392" r:id="rId30"/>
    <p:sldId id="393" r:id="rId31"/>
    <p:sldId id="383" r:id="rId32"/>
    <p:sldId id="390" r:id="rId33"/>
    <p:sldId id="394" r:id="rId34"/>
    <p:sldId id="395" r:id="rId35"/>
    <p:sldId id="396" r:id="rId36"/>
    <p:sldId id="384" r:id="rId37"/>
    <p:sldId id="385" r:id="rId38"/>
    <p:sldId id="398" r:id="rId39"/>
    <p:sldId id="489" r:id="rId40"/>
    <p:sldId id="399" r:id="rId41"/>
    <p:sldId id="400" r:id="rId42"/>
    <p:sldId id="401" r:id="rId43"/>
    <p:sldId id="402" r:id="rId44"/>
    <p:sldId id="473" r:id="rId45"/>
    <p:sldId id="386" r:id="rId46"/>
    <p:sldId id="380" r:id="rId47"/>
    <p:sldId id="265" r:id="rId48"/>
    <p:sldId id="403" r:id="rId49"/>
    <p:sldId id="404" r:id="rId50"/>
    <p:sldId id="474" r:id="rId51"/>
    <p:sldId id="266" r:id="rId52"/>
    <p:sldId id="406" r:id="rId53"/>
    <p:sldId id="407" r:id="rId54"/>
    <p:sldId id="408" r:id="rId55"/>
    <p:sldId id="409" r:id="rId56"/>
    <p:sldId id="410" r:id="rId57"/>
    <p:sldId id="267" r:id="rId58"/>
    <p:sldId id="475" r:id="rId59"/>
    <p:sldId id="268" r:id="rId60"/>
    <p:sldId id="269" r:id="rId61"/>
    <p:sldId id="270" r:id="rId62"/>
    <p:sldId id="271" r:id="rId63"/>
    <p:sldId id="272" r:id="rId64"/>
    <p:sldId id="273" r:id="rId65"/>
    <p:sldId id="274" r:id="rId66"/>
    <p:sldId id="275" r:id="rId67"/>
    <p:sldId id="476" r:id="rId68"/>
    <p:sldId id="277" r:id="rId69"/>
    <p:sldId id="279" r:id="rId70"/>
    <p:sldId id="413" r:id="rId71"/>
    <p:sldId id="414" r:id="rId72"/>
    <p:sldId id="415" r:id="rId73"/>
    <p:sldId id="416" r:id="rId74"/>
    <p:sldId id="417" r:id="rId75"/>
    <p:sldId id="418" r:id="rId76"/>
    <p:sldId id="419" r:id="rId77"/>
    <p:sldId id="454" r:id="rId78"/>
    <p:sldId id="420" r:id="rId79"/>
    <p:sldId id="421" r:id="rId80"/>
    <p:sldId id="423" r:id="rId81"/>
    <p:sldId id="424" r:id="rId82"/>
    <p:sldId id="425" r:id="rId83"/>
    <p:sldId id="426" r:id="rId84"/>
    <p:sldId id="455" r:id="rId85"/>
    <p:sldId id="427" r:id="rId86"/>
    <p:sldId id="428" r:id="rId87"/>
    <p:sldId id="429" r:id="rId88"/>
    <p:sldId id="430" r:id="rId89"/>
    <p:sldId id="431" r:id="rId90"/>
    <p:sldId id="433" r:id="rId91"/>
    <p:sldId id="434" r:id="rId92"/>
    <p:sldId id="435" r:id="rId93"/>
    <p:sldId id="436" r:id="rId94"/>
    <p:sldId id="437" r:id="rId95"/>
    <p:sldId id="438" r:id="rId96"/>
    <p:sldId id="439" r:id="rId97"/>
    <p:sldId id="440" r:id="rId98"/>
    <p:sldId id="456" r:id="rId99"/>
    <p:sldId id="479" r:id="rId100"/>
    <p:sldId id="480" r:id="rId101"/>
    <p:sldId id="481" r:id="rId102"/>
    <p:sldId id="482" r:id="rId103"/>
    <p:sldId id="458" r:id="rId104"/>
    <p:sldId id="459" r:id="rId105"/>
    <p:sldId id="460" r:id="rId106"/>
    <p:sldId id="462" r:id="rId107"/>
    <p:sldId id="464" r:id="rId108"/>
    <p:sldId id="471" r:id="rId109"/>
    <p:sldId id="465" r:id="rId110"/>
    <p:sldId id="466" r:id="rId111"/>
    <p:sldId id="467" r:id="rId112"/>
    <p:sldId id="468" r:id="rId113"/>
    <p:sldId id="461" r:id="rId114"/>
    <p:sldId id="463" r:id="rId1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89020" autoAdjust="0"/>
  </p:normalViewPr>
  <p:slideViewPr>
    <p:cSldViewPr snapToGrid="0">
      <p:cViewPr varScale="1">
        <p:scale>
          <a:sx n="73" d="100"/>
          <a:sy n="73" d="100"/>
        </p:scale>
        <p:origin x="10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DC4F1-36D0-4CB3-A5EE-066C91ABE3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93FBF-B85B-4ED8-A240-C397C8605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20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5129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JavaScript (et JSX), slice(0, 11) est une méthode utilisée pour extraire une portion d’un tableau ou d’une chaîne.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651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973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705A-E64A-9E5C-3935-059ADD4E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E94DEB4-D857-019B-9DF6-B3683D028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29F85-19A7-9ECE-70C9-F87933124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0E87F8-9B7E-8E7D-81F7-0B562FAC3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362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// Fichier : src/components/</a:t>
            </a:r>
            <a:r>
              <a:rPr lang="fr-FR" dirty="0" err="1"/>
              <a:t>ColorChangerClass.jsx</a:t>
            </a:r>
            <a:endParaRPr lang="fr-FR" dirty="0"/>
          </a:p>
          <a:p>
            <a:r>
              <a:rPr lang="fr-FR" dirty="0"/>
              <a:t>import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/>
              <a:t>class </a:t>
            </a:r>
            <a:r>
              <a:rPr lang="fr-FR" dirty="0" err="1"/>
              <a:t>ColorChangerClass</a:t>
            </a:r>
            <a:r>
              <a:rPr lang="fr-FR" dirty="0"/>
              <a:t> </a:t>
            </a:r>
            <a:r>
              <a:rPr lang="fr-FR" dirty="0" err="1"/>
              <a:t>extends</a:t>
            </a:r>
            <a:r>
              <a:rPr lang="fr-FR" dirty="0"/>
              <a:t> </a:t>
            </a:r>
            <a:r>
              <a:rPr lang="fr-FR" dirty="0" err="1"/>
              <a:t>React.Component</a:t>
            </a:r>
            <a:r>
              <a:rPr lang="fr-FR" dirty="0"/>
              <a:t> {</a:t>
            </a:r>
          </a:p>
          <a:p>
            <a:r>
              <a:rPr lang="fr-FR" dirty="0"/>
              <a:t>  </a:t>
            </a:r>
            <a:r>
              <a:rPr lang="fr-FR" dirty="0" err="1"/>
              <a:t>constructor</a:t>
            </a:r>
            <a:r>
              <a:rPr lang="fr-FR" dirty="0"/>
              <a:t>(</a:t>
            </a:r>
            <a:r>
              <a:rPr lang="fr-FR" dirty="0" err="1"/>
              <a:t>props</a:t>
            </a:r>
            <a:r>
              <a:rPr lang="fr-FR" dirty="0"/>
              <a:t>) {</a:t>
            </a:r>
          </a:p>
          <a:p>
            <a:r>
              <a:rPr lang="fr-FR" dirty="0"/>
              <a:t>    super(</a:t>
            </a:r>
            <a:r>
              <a:rPr lang="fr-FR" dirty="0" err="1"/>
              <a:t>props</a:t>
            </a:r>
            <a:r>
              <a:rPr lang="fr-FR" dirty="0"/>
              <a:t>);</a:t>
            </a:r>
          </a:p>
          <a:p>
            <a:r>
              <a:rPr lang="fr-FR" dirty="0"/>
              <a:t>    </a:t>
            </a:r>
            <a:r>
              <a:rPr lang="fr-FR" dirty="0" err="1"/>
              <a:t>this.state</a:t>
            </a:r>
            <a:r>
              <a:rPr lang="fr-FR" dirty="0"/>
              <a:t> = { </a:t>
            </a:r>
            <a:r>
              <a:rPr lang="fr-FR" dirty="0" err="1"/>
              <a:t>color</a:t>
            </a:r>
            <a:r>
              <a:rPr lang="fr-FR" dirty="0"/>
              <a:t>: "</a:t>
            </a:r>
            <a:r>
              <a:rPr lang="fr-FR" dirty="0" err="1"/>
              <a:t>blue</a:t>
            </a:r>
            <a:r>
              <a:rPr lang="fr-FR" dirty="0"/>
              <a:t>" };</a:t>
            </a:r>
          </a:p>
          <a:p>
            <a:r>
              <a:rPr lang="fr-FR" dirty="0"/>
              <a:t>    </a:t>
            </a:r>
            <a:r>
              <a:rPr lang="fr-FR" dirty="0" err="1"/>
              <a:t>this.changeColor</a:t>
            </a:r>
            <a:r>
              <a:rPr lang="fr-FR" dirty="0"/>
              <a:t> = </a:t>
            </a:r>
            <a:r>
              <a:rPr lang="fr-FR" dirty="0" err="1"/>
              <a:t>this.changeColor.bind</a:t>
            </a:r>
            <a:r>
              <a:rPr lang="fr-FR" dirty="0"/>
              <a:t>(</a:t>
            </a:r>
            <a:r>
              <a:rPr lang="fr-FR" dirty="0" err="1"/>
              <a:t>this</a:t>
            </a:r>
            <a:r>
              <a:rPr lang="fr-FR" dirty="0"/>
              <a:t>);</a:t>
            </a:r>
          </a:p>
          <a:p>
            <a:r>
              <a:rPr lang="fr-FR" dirty="0"/>
              <a:t>  }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changeColor</a:t>
            </a:r>
            <a:r>
              <a:rPr lang="fr-FR" dirty="0"/>
              <a:t>() {</a:t>
            </a:r>
          </a:p>
          <a:p>
            <a:r>
              <a:rPr lang="fr-FR" dirty="0"/>
              <a:t>    </a:t>
            </a:r>
            <a:r>
              <a:rPr lang="fr-FR" dirty="0" err="1"/>
              <a:t>this.setState</a:t>
            </a:r>
            <a:r>
              <a:rPr lang="fr-FR" dirty="0"/>
              <a:t>({ </a:t>
            </a:r>
            <a:r>
              <a:rPr lang="fr-FR" dirty="0" err="1"/>
              <a:t>color</a:t>
            </a:r>
            <a:r>
              <a:rPr lang="fr-FR" dirty="0"/>
              <a:t>: </a:t>
            </a:r>
            <a:r>
              <a:rPr lang="fr-FR" dirty="0" err="1"/>
              <a:t>this.state.color</a:t>
            </a:r>
            <a:r>
              <a:rPr lang="fr-FR" dirty="0"/>
              <a:t> === "</a:t>
            </a:r>
            <a:r>
              <a:rPr lang="fr-FR" dirty="0" err="1"/>
              <a:t>blue</a:t>
            </a:r>
            <a:r>
              <a:rPr lang="fr-FR" dirty="0"/>
              <a:t>" ? "green" : "</a:t>
            </a:r>
            <a:r>
              <a:rPr lang="fr-FR" dirty="0" err="1"/>
              <a:t>blue</a:t>
            </a:r>
            <a:r>
              <a:rPr lang="fr-FR" dirty="0"/>
              <a:t>" });</a:t>
            </a:r>
          </a:p>
          <a:p>
            <a:r>
              <a:rPr lang="fr-FR" dirty="0"/>
              <a:t>  }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render</a:t>
            </a:r>
            <a:r>
              <a:rPr lang="fr-FR" dirty="0"/>
              <a:t>() {</a:t>
            </a:r>
          </a:p>
          <a:p>
            <a:r>
              <a:rPr lang="fr-FR" dirty="0"/>
              <a:t>    return (</a:t>
            </a:r>
          </a:p>
          <a:p>
            <a:r>
              <a:rPr lang="fr-FR" dirty="0"/>
              <a:t>      &lt;div&gt;</a:t>
            </a:r>
          </a:p>
          <a:p>
            <a:r>
              <a:rPr lang="fr-FR" dirty="0"/>
              <a:t>        &lt;h2 style={{ </a:t>
            </a:r>
            <a:r>
              <a:rPr lang="fr-FR" dirty="0" err="1"/>
              <a:t>color</a:t>
            </a:r>
            <a:r>
              <a:rPr lang="fr-FR" dirty="0"/>
              <a:t>: </a:t>
            </a:r>
            <a:r>
              <a:rPr lang="fr-FR" dirty="0" err="1"/>
              <a:t>this.state.color</a:t>
            </a:r>
            <a:r>
              <a:rPr lang="fr-FR" dirty="0"/>
              <a:t> }}&gt;Couleur actuelle: {</a:t>
            </a:r>
            <a:r>
              <a:rPr lang="fr-FR" dirty="0" err="1"/>
              <a:t>this.state.color</a:t>
            </a:r>
            <a:r>
              <a:rPr lang="fr-FR" dirty="0"/>
              <a:t>}&lt;/h2&gt;</a:t>
            </a:r>
          </a:p>
          <a:p>
            <a:r>
              <a:rPr lang="fr-FR" dirty="0"/>
              <a:t>       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</a:t>
            </a:r>
            <a:r>
              <a:rPr lang="fr-FR" dirty="0" err="1"/>
              <a:t>this.changeColor</a:t>
            </a:r>
            <a:r>
              <a:rPr lang="fr-FR" dirty="0"/>
              <a:t>}&gt;Changer la couleur&lt;/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      &lt;/div&gt;</a:t>
            </a:r>
          </a:p>
          <a:p>
            <a:r>
              <a:rPr lang="fr-FR" dirty="0"/>
              <a:t>    );</a:t>
            </a:r>
          </a:p>
          <a:p>
            <a:r>
              <a:rPr lang="fr-FR" dirty="0"/>
              <a:t>  }</a:t>
            </a:r>
          </a:p>
          <a:p>
            <a:r>
              <a:rPr lang="fr-FR" dirty="0"/>
              <a:t>}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ColorChangerClass</a:t>
            </a:r>
            <a:r>
              <a:rPr lang="fr-FR" dirty="0"/>
              <a:t>;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8807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// Fichier : src/components/</a:t>
            </a:r>
            <a:r>
              <a:rPr lang="fr-FR" dirty="0" err="1"/>
              <a:t>ColorChangerFunction.jsx</a:t>
            </a:r>
            <a:endParaRPr lang="fr-FR" dirty="0"/>
          </a:p>
          <a:p>
            <a:r>
              <a:rPr lang="fr-FR" dirty="0"/>
              <a:t>import { </a:t>
            </a:r>
            <a:r>
              <a:rPr lang="fr-FR" dirty="0" err="1"/>
              <a:t>useState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ColorChangerFunction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</a:t>
            </a:r>
            <a:r>
              <a:rPr lang="fr-FR" dirty="0" err="1"/>
              <a:t>color</a:t>
            </a:r>
            <a:r>
              <a:rPr lang="fr-FR" dirty="0"/>
              <a:t>, </a:t>
            </a:r>
            <a:r>
              <a:rPr lang="fr-FR" dirty="0" err="1"/>
              <a:t>setColor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("</a:t>
            </a:r>
            <a:r>
              <a:rPr lang="fr-FR" dirty="0" err="1"/>
              <a:t>blue</a:t>
            </a:r>
            <a:r>
              <a:rPr lang="fr-FR" dirty="0"/>
              <a:t>");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changeColor</a:t>
            </a:r>
            <a:r>
              <a:rPr lang="fr-FR" dirty="0"/>
              <a:t> = () =&gt; {</a:t>
            </a:r>
          </a:p>
          <a:p>
            <a:r>
              <a:rPr lang="fr-FR" dirty="0"/>
              <a:t>    </a:t>
            </a:r>
            <a:r>
              <a:rPr lang="fr-FR" dirty="0" err="1"/>
              <a:t>setColor</a:t>
            </a:r>
            <a:r>
              <a:rPr lang="fr-FR" dirty="0"/>
              <a:t>(</a:t>
            </a:r>
            <a:r>
              <a:rPr lang="fr-FR" dirty="0" err="1"/>
              <a:t>color</a:t>
            </a:r>
            <a:r>
              <a:rPr lang="fr-FR" dirty="0"/>
              <a:t> === "</a:t>
            </a:r>
            <a:r>
              <a:rPr lang="fr-FR" dirty="0" err="1"/>
              <a:t>blue</a:t>
            </a:r>
            <a:r>
              <a:rPr lang="fr-FR" dirty="0"/>
              <a:t>" ? "green" : "</a:t>
            </a:r>
            <a:r>
              <a:rPr lang="fr-FR" dirty="0" err="1"/>
              <a:t>blue</a:t>
            </a:r>
            <a:r>
              <a:rPr lang="fr-FR" dirty="0"/>
              <a:t>");</a:t>
            </a:r>
          </a:p>
          <a:p>
            <a:r>
              <a:rPr lang="fr-FR" dirty="0"/>
              <a:t>  };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&lt;h2 style={{ </a:t>
            </a:r>
            <a:r>
              <a:rPr lang="fr-FR" dirty="0" err="1"/>
              <a:t>color</a:t>
            </a:r>
            <a:r>
              <a:rPr lang="fr-FR" dirty="0"/>
              <a:t> }}&gt;Couleur actuelle: {</a:t>
            </a:r>
            <a:r>
              <a:rPr lang="fr-FR" dirty="0" err="1"/>
              <a:t>color</a:t>
            </a:r>
            <a:r>
              <a:rPr lang="fr-FR" dirty="0"/>
              <a:t>}&lt;/h2&gt;</a:t>
            </a:r>
          </a:p>
          <a:p>
            <a:r>
              <a:rPr lang="fr-FR" dirty="0"/>
              <a:t>     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</a:t>
            </a:r>
            <a:r>
              <a:rPr lang="fr-FR" dirty="0" err="1"/>
              <a:t>changeColor</a:t>
            </a:r>
            <a:r>
              <a:rPr lang="fr-FR" dirty="0"/>
              <a:t>}&gt;Changer la couleur&lt;/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838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import { </a:t>
            </a:r>
            <a:r>
              <a:rPr lang="fr-FR" dirty="0" err="1"/>
              <a:t>useState</a:t>
            </a:r>
            <a:r>
              <a:rPr lang="fr-FR" dirty="0"/>
              <a:t>, </a:t>
            </a:r>
            <a:r>
              <a:rPr lang="fr-FR" dirty="0" err="1"/>
              <a:t>useEffect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CounterTitle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[count, </a:t>
            </a:r>
            <a:r>
              <a:rPr lang="fr-FR" dirty="0" err="1"/>
              <a:t>setCount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(0);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useEffect</a:t>
            </a:r>
            <a:r>
              <a:rPr lang="fr-FR" dirty="0"/>
              <a:t>(() =&gt; {</a:t>
            </a:r>
          </a:p>
          <a:p>
            <a:r>
              <a:rPr lang="fr-FR" dirty="0"/>
              <a:t>    </a:t>
            </a:r>
            <a:r>
              <a:rPr lang="fr-FR" dirty="0" err="1"/>
              <a:t>document.title</a:t>
            </a:r>
            <a:r>
              <a:rPr lang="fr-FR" dirty="0"/>
              <a:t> = `Compteur : ${count}`;</a:t>
            </a:r>
          </a:p>
          <a:p>
            <a:r>
              <a:rPr lang="fr-FR" dirty="0"/>
              <a:t>  }, [count]); // l'effet s'exécute uniquement quand "count" change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&lt;p&gt;Compteur : {count}&lt;/p&gt;</a:t>
            </a:r>
          </a:p>
          <a:p>
            <a:r>
              <a:rPr lang="fr-FR" dirty="0"/>
              <a:t>     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={() =&gt; </a:t>
            </a:r>
            <a:r>
              <a:rPr lang="fr-FR" dirty="0" err="1"/>
              <a:t>setCount</a:t>
            </a:r>
            <a:r>
              <a:rPr lang="fr-FR" dirty="0"/>
              <a:t>(count + 1)}&gt;+1&lt;/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862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566ED-4440-B25A-5AE6-4F694C375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86A7D56-211F-5578-6F1C-2A8BEC6DF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C99F78C-4548-F1A5-7317-B3C69C487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C72F8A-2283-7832-7095-F518D805E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4632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2825-E15B-D28B-5EE1-E86EF7FF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747FF0D-D6F6-5534-DC91-444267AF9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8E3E42B-C0C5-9B55-9D3D-3E7F0D9CB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import { </a:t>
            </a:r>
            <a:r>
              <a:rPr lang="fr-FR" dirty="0" err="1"/>
              <a:t>useState</a:t>
            </a:r>
            <a:r>
              <a:rPr lang="fr-FR" dirty="0"/>
              <a:t>, </a:t>
            </a:r>
            <a:r>
              <a:rPr lang="fr-FR" dirty="0" err="1"/>
              <a:t>useEffect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Timer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[seconds, </a:t>
            </a:r>
            <a:r>
              <a:rPr lang="fr-FR" dirty="0" err="1"/>
              <a:t>setSeconds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(0);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useEffect</a:t>
            </a:r>
            <a:r>
              <a:rPr lang="fr-FR" dirty="0"/>
              <a:t>(() =&gt; {</a:t>
            </a:r>
          </a:p>
          <a:p>
            <a:r>
              <a:rPr lang="fr-FR" dirty="0"/>
              <a:t>  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interval</a:t>
            </a:r>
            <a:r>
              <a:rPr lang="fr-FR" dirty="0"/>
              <a:t> = </a:t>
            </a:r>
            <a:r>
              <a:rPr lang="fr-FR" dirty="0" err="1"/>
              <a:t>setInterval</a:t>
            </a:r>
            <a:r>
              <a:rPr lang="fr-FR" dirty="0"/>
              <a:t>(() =&gt; {</a:t>
            </a:r>
          </a:p>
          <a:p>
            <a:r>
              <a:rPr lang="fr-FR" dirty="0"/>
              <a:t>      </a:t>
            </a:r>
            <a:r>
              <a:rPr lang="fr-FR" dirty="0" err="1"/>
              <a:t>setSeconds</a:t>
            </a:r>
            <a:r>
              <a:rPr lang="fr-FR" dirty="0"/>
              <a:t>(</a:t>
            </a:r>
            <a:r>
              <a:rPr lang="fr-FR" dirty="0" err="1"/>
              <a:t>prev</a:t>
            </a:r>
            <a:r>
              <a:rPr lang="fr-FR" dirty="0"/>
              <a:t> =&gt; </a:t>
            </a:r>
            <a:r>
              <a:rPr lang="fr-FR" dirty="0" err="1"/>
              <a:t>prev</a:t>
            </a:r>
            <a:r>
              <a:rPr lang="fr-FR" dirty="0"/>
              <a:t> + 1);</a:t>
            </a:r>
          </a:p>
          <a:p>
            <a:r>
              <a:rPr lang="fr-FR" dirty="0"/>
              <a:t>    }, 1000);</a:t>
            </a:r>
          </a:p>
          <a:p>
            <a:endParaRPr lang="fr-FR" dirty="0"/>
          </a:p>
          <a:p>
            <a:r>
              <a:rPr lang="fr-FR" dirty="0"/>
              <a:t>    // Fonction de nettoyage : arrêt du </a:t>
            </a:r>
            <a:r>
              <a:rPr lang="fr-FR" dirty="0" err="1"/>
              <a:t>timer</a:t>
            </a:r>
            <a:r>
              <a:rPr lang="fr-FR" dirty="0"/>
              <a:t> si le composant est démonté</a:t>
            </a:r>
          </a:p>
          <a:p>
            <a:r>
              <a:rPr lang="fr-FR" dirty="0"/>
              <a:t>    return () =&gt; </a:t>
            </a:r>
            <a:r>
              <a:rPr lang="fr-FR" dirty="0" err="1"/>
              <a:t>clearInterval</a:t>
            </a:r>
            <a:r>
              <a:rPr lang="fr-FR" dirty="0"/>
              <a:t>(</a:t>
            </a:r>
            <a:r>
              <a:rPr lang="fr-FR" dirty="0" err="1"/>
              <a:t>interval</a:t>
            </a:r>
            <a:r>
              <a:rPr lang="fr-FR" dirty="0"/>
              <a:t>);</a:t>
            </a:r>
          </a:p>
          <a:p>
            <a:r>
              <a:rPr lang="fr-FR" dirty="0"/>
              <a:t>  }, []); // [] → s'exécute une seule fois au montage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&lt;p&gt;Temps écoulé : {seconds} secondes&lt;/p&gt;</a:t>
            </a:r>
          </a:p>
          <a:p>
            <a:r>
              <a:rPr lang="fr-FR" dirty="0"/>
              <a:t>     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={() =&gt; </a:t>
            </a:r>
            <a:r>
              <a:rPr lang="fr-FR" dirty="0" err="1"/>
              <a:t>setSeconds</a:t>
            </a:r>
            <a:r>
              <a:rPr lang="fr-FR" dirty="0"/>
              <a:t>(0)}&gt;Réinitialiser&lt;/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FF2DB3-8DFD-6A1F-CDB5-8BBB573E9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948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React from "react";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IfExample</a:t>
            </a:r>
            <a:r>
              <a:rPr lang="en-US" dirty="0"/>
              <a:t> = () =&gt; {</a:t>
            </a:r>
          </a:p>
          <a:p>
            <a:r>
              <a:rPr lang="en-US" dirty="0"/>
              <a:t>  const </a:t>
            </a:r>
            <a:r>
              <a:rPr lang="en-US" dirty="0" err="1"/>
              <a:t>isLoggedIn</a:t>
            </a:r>
            <a:r>
              <a:rPr lang="en-US" dirty="0"/>
              <a:t> = true;</a:t>
            </a:r>
          </a:p>
          <a:p>
            <a:endParaRPr lang="en-US" dirty="0"/>
          </a:p>
          <a:p>
            <a:r>
              <a:rPr lang="en-US" dirty="0"/>
              <a:t>  let message;</a:t>
            </a:r>
          </a:p>
          <a:p>
            <a:r>
              <a:rPr lang="en-US" dirty="0"/>
              <a:t>  if (</a:t>
            </a:r>
            <a:r>
              <a:rPr lang="en-US" dirty="0" err="1"/>
              <a:t>isLoggedIn</a:t>
            </a:r>
            <a:r>
              <a:rPr lang="en-US" dirty="0"/>
              <a:t>) {</a:t>
            </a:r>
          </a:p>
          <a:p>
            <a:r>
              <a:rPr lang="en-US" dirty="0"/>
              <a:t>    message = &lt;h1&gt;Bienvenue sur le site !&lt;/h1&gt;;</a:t>
            </a:r>
          </a:p>
          <a:p>
            <a:r>
              <a:rPr lang="en-US" dirty="0"/>
              <a:t>  } else {</a:t>
            </a:r>
          </a:p>
          <a:p>
            <a:r>
              <a:rPr lang="en-US" dirty="0"/>
              <a:t>    message = &lt;h1&gt;</a:t>
            </a:r>
            <a:r>
              <a:rPr lang="en-US" dirty="0" err="1"/>
              <a:t>Veuillez</a:t>
            </a:r>
            <a:r>
              <a:rPr lang="en-US" dirty="0"/>
              <a:t> vous connecter&lt;/h1&gt;;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return &lt;div&gt;{message}&lt;/div&gt;;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IfExample</a:t>
            </a:r>
            <a:r>
              <a:rPr lang="en-US" dirty="0"/>
              <a:t>;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9598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import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AndExample</a:t>
            </a:r>
            <a:r>
              <a:rPr lang="fr-FR" dirty="0"/>
              <a:t> = () =&gt;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showMessage</a:t>
            </a:r>
            <a:r>
              <a:rPr lang="fr-FR" dirty="0"/>
              <a:t> = </a:t>
            </a:r>
            <a:r>
              <a:rPr lang="fr-FR" dirty="0" err="1"/>
              <a:t>true</a:t>
            </a:r>
            <a:r>
              <a:rPr lang="fr-FR" dirty="0"/>
              <a:t>;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&lt;h1&gt;Liste principale&lt;/h1&gt;</a:t>
            </a:r>
          </a:p>
          <a:p>
            <a:r>
              <a:rPr lang="fr-FR" dirty="0"/>
              <a:t>      {</a:t>
            </a:r>
            <a:r>
              <a:rPr lang="fr-FR" dirty="0" err="1"/>
              <a:t>showMessage</a:t>
            </a:r>
            <a:r>
              <a:rPr lang="fr-FR" dirty="0"/>
              <a:t> &amp;&amp; &lt;p&gt;Vous voyez ce message car </a:t>
            </a:r>
            <a:r>
              <a:rPr lang="fr-FR" dirty="0" err="1"/>
              <a:t>showMessage</a:t>
            </a:r>
            <a:r>
              <a:rPr lang="fr-FR" dirty="0"/>
              <a:t> est vrai !&lt;/p&gt;}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};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AndExample</a:t>
            </a:r>
            <a:r>
              <a:rPr lang="fr-FR" dirty="0"/>
              <a:t>;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0882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BADA3-296A-C4C5-C1FF-A07C4B6E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DFEB66B-9BE5-1124-225D-8CBE24D18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E89262-AAB5-7652-D9FF-FAC5AEFD5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import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TernaryExample</a:t>
            </a:r>
            <a:r>
              <a:rPr lang="fr-FR" dirty="0"/>
              <a:t> = () =&gt;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isLoggedIn</a:t>
            </a:r>
            <a:r>
              <a:rPr lang="fr-FR" dirty="0"/>
              <a:t> = false;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{</a:t>
            </a:r>
            <a:r>
              <a:rPr lang="fr-FR" dirty="0" err="1"/>
              <a:t>isLoggedIn</a:t>
            </a:r>
            <a:r>
              <a:rPr lang="fr-FR" dirty="0"/>
              <a:t> ? &lt;h1&gt;Bienvenue !&lt;/h1&gt; : &lt;h1&gt;Veuillez vous connecter&lt;/h1&gt;}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};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TernaryExample</a:t>
            </a:r>
            <a:r>
              <a:rPr lang="fr-FR" dirty="0"/>
              <a:t>;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899DAC-C084-B81F-A809-FC2412A34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229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20D9E-FD81-9175-CED4-096AB6CA5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13BCEB-128E-9C9E-53DF-51E2C8801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B8ACA39-6FDD-A330-F731-71442FE15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import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 err="1"/>
              <a:t>const</a:t>
            </a:r>
            <a:r>
              <a:rPr lang="fr-FR" dirty="0"/>
              <a:t> fruits = ["Pomme", "Banane", "Orange"];</a:t>
            </a:r>
          </a:p>
          <a:p>
            <a:endParaRPr lang="fr-FR" dirty="0"/>
          </a:p>
          <a:p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ListExample</a:t>
            </a:r>
            <a:r>
              <a:rPr lang="fr-FR" dirty="0"/>
              <a:t> = () =&gt; {</a:t>
            </a:r>
          </a:p>
          <a:p>
            <a:r>
              <a:rPr lang="fr-FR" dirty="0"/>
              <a:t>  return (</a:t>
            </a:r>
          </a:p>
          <a:p>
            <a:r>
              <a:rPr lang="fr-FR" dirty="0"/>
              <a:t>    &lt;</a:t>
            </a:r>
            <a:r>
              <a:rPr lang="fr-FR" dirty="0" err="1"/>
              <a:t>ul</a:t>
            </a:r>
            <a:r>
              <a:rPr lang="fr-FR" dirty="0"/>
              <a:t>&gt;</a:t>
            </a:r>
          </a:p>
          <a:p>
            <a:r>
              <a:rPr lang="fr-FR" dirty="0"/>
              <a:t>      {</a:t>
            </a:r>
            <a:r>
              <a:rPr lang="fr-FR" dirty="0" err="1"/>
              <a:t>fruits.map</a:t>
            </a:r>
            <a:r>
              <a:rPr lang="fr-FR" dirty="0"/>
              <a:t>((fruit, index) =&gt; (</a:t>
            </a:r>
          </a:p>
          <a:p>
            <a:r>
              <a:rPr lang="fr-FR" dirty="0"/>
              <a:t>        &lt;li key={index}&gt;{fruit}&lt;/li&gt;</a:t>
            </a:r>
          </a:p>
          <a:p>
            <a:r>
              <a:rPr lang="fr-FR" dirty="0"/>
              <a:t>      ))}</a:t>
            </a:r>
          </a:p>
          <a:p>
            <a:r>
              <a:rPr lang="fr-FR" dirty="0"/>
              <a:t>    &lt;/</a:t>
            </a:r>
            <a:r>
              <a:rPr lang="fr-FR" dirty="0" err="1"/>
              <a:t>ul</a:t>
            </a:r>
            <a:r>
              <a:rPr lang="fr-FR" dirty="0"/>
              <a:t>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};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ListExample</a:t>
            </a:r>
            <a:r>
              <a:rPr lang="fr-FR" dirty="0"/>
              <a:t>;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90D0B1-50D5-256E-BBDD-25B61628B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770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";</a:t>
            </a:r>
          </a:p>
          <a:p>
            <a:b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MultiForm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setForm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({});</a:t>
            </a:r>
          </a:p>
          <a:p>
            <a:b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handleChange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(e) {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setForm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({ ...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[e.target.name]: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e.target.value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});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b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return (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&lt;input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firstName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onChange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={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handleChange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/&gt;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&lt;input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="email"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onChange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={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handleChange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/&gt;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&lt;p&gt;{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JSON.stringify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)}&lt;/p&gt;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&lt;/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);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 default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MultiForm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1814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BrowserRouter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dirty="0"/>
          </a:p>
          <a:p>
            <a:pPr lvl="1"/>
            <a:r>
              <a:rPr lang="fr-FR" dirty="0"/>
              <a:t>Active le routage dans l’application (gestion de l’URL et de l’historique du navigateur).</a:t>
            </a:r>
          </a:p>
          <a:p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&lt;Routes&gt;</a:t>
            </a:r>
            <a:endParaRPr lang="fr-FR" dirty="0"/>
          </a:p>
          <a:p>
            <a:pPr lvl="1"/>
            <a:r>
              <a:rPr lang="fr-FR" dirty="0"/>
              <a:t>Contient la liste de toutes les routes définies dans l’application.</a:t>
            </a:r>
          </a:p>
          <a:p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&lt;Route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="/"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={&lt;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Layout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/&gt;}&gt;</a:t>
            </a:r>
            <a:endParaRPr lang="fr-FR" dirty="0"/>
          </a:p>
          <a:p>
            <a:pPr lvl="1"/>
            <a:r>
              <a:rPr lang="fr-FR" dirty="0"/>
              <a:t>Définit la route </a:t>
            </a:r>
            <a:r>
              <a:rPr lang="fr-FR" b="1" dirty="0"/>
              <a:t>parent</a:t>
            </a:r>
            <a:r>
              <a:rPr lang="fr-FR" dirty="0"/>
              <a:t> avec le composant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Layout</a:t>
            </a:r>
            <a:r>
              <a:rPr lang="fr-FR" dirty="0"/>
              <a:t>.</a:t>
            </a:r>
          </a:p>
          <a:p>
            <a:pPr lvl="1"/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Layout</a:t>
            </a:r>
            <a:r>
              <a:rPr lang="fr-FR" dirty="0"/>
              <a:t> affiche généralement le menu +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Outlet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/&gt;</a:t>
            </a:r>
            <a:r>
              <a:rPr lang="fr-FR" dirty="0"/>
              <a:t> pour les pages enfants.</a:t>
            </a:r>
          </a:p>
          <a:p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&lt;Route index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={&lt;Home /&gt;} /&gt;</a:t>
            </a:r>
            <a:endParaRPr lang="fr-FR" dirty="0"/>
          </a:p>
          <a:p>
            <a:pPr lvl="1"/>
            <a:r>
              <a:rPr lang="fr-FR" dirty="0"/>
              <a:t>Route par défaut (page d’accueil), affichée quand on visite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FR" dirty="0"/>
              <a:t>.</a:t>
            </a:r>
          </a:p>
          <a:p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&lt;Route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="blogs"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={&lt;Blogs /&gt;} /&gt;</a:t>
            </a:r>
            <a:endParaRPr lang="fr-FR" dirty="0"/>
          </a:p>
          <a:p>
            <a:pPr lvl="1"/>
            <a:r>
              <a:rPr lang="fr-FR" dirty="0"/>
              <a:t>Affiche le composant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Blogs</a:t>
            </a:r>
            <a:r>
              <a:rPr lang="fr-FR" dirty="0"/>
              <a:t> sur l’URL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/blogs</a:t>
            </a:r>
            <a:r>
              <a:rPr lang="fr-FR" dirty="0"/>
              <a:t>.</a:t>
            </a:r>
          </a:p>
          <a:p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&lt;Route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="contact"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={&lt;Contact /&gt;} /&gt;</a:t>
            </a:r>
            <a:endParaRPr lang="fr-FR" dirty="0"/>
          </a:p>
          <a:p>
            <a:pPr lvl="1"/>
            <a:r>
              <a:rPr lang="fr-FR" dirty="0"/>
              <a:t>Affiche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Contact</a:t>
            </a:r>
            <a:r>
              <a:rPr lang="fr-FR" dirty="0"/>
              <a:t> sur l’URL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/contact</a:t>
            </a:r>
            <a:r>
              <a:rPr lang="fr-FR" dirty="0"/>
              <a:t>.</a:t>
            </a:r>
          </a:p>
          <a:p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&lt;Route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="*"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={&lt;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NoPage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/&gt;} /&gt;</a:t>
            </a:r>
            <a:endParaRPr lang="fr-FR" dirty="0"/>
          </a:p>
          <a:p>
            <a:pPr lvl="1"/>
            <a:r>
              <a:rPr lang="fr-FR" dirty="0"/>
              <a:t>Route </a:t>
            </a:r>
            <a:r>
              <a:rPr lang="fr-FR" b="1" dirty="0"/>
              <a:t>catch-all</a:t>
            </a:r>
            <a:r>
              <a:rPr lang="fr-FR" dirty="0"/>
              <a:t>, s’affiche pour toute URL non définie → page 404.</a:t>
            </a:r>
          </a:p>
          <a:p>
            <a:r>
              <a:rPr lang="fr-FR" dirty="0"/>
              <a:t>En résumé :</a:t>
            </a:r>
            <a:br>
              <a:rPr lang="fr-FR" dirty="0"/>
            </a:b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BrowserRouter</a:t>
            </a:r>
            <a:r>
              <a:rPr lang="fr-FR" dirty="0"/>
              <a:t> → active la navigation</a:t>
            </a:r>
            <a:br>
              <a:rPr lang="fr-FR" dirty="0"/>
            </a:b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Routes</a:t>
            </a:r>
            <a:r>
              <a:rPr lang="fr-FR" dirty="0"/>
              <a:t> → groupe des routes</a:t>
            </a:r>
            <a:br>
              <a:rPr lang="fr-FR" dirty="0"/>
            </a:b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Layout</a:t>
            </a:r>
            <a:r>
              <a:rPr lang="fr-FR" dirty="0"/>
              <a:t> → structure commune</a:t>
            </a:r>
            <a:br>
              <a:rPr lang="fr-FR" dirty="0"/>
            </a:b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</a:t>
            </a:r>
            <a:r>
              <a:rPr lang="fr-FR" dirty="0"/>
              <a:t>,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fr-FR" dirty="0"/>
              <a:t>,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fr-FR" dirty="0"/>
              <a:t> → définissent quelle page afficher selon l’URL.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73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50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74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4106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75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1665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81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5652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93FBF-B85B-4ED8-A240-C397C8605871}" type="slidenum">
              <a:rPr lang="fr-FR" smtClean="0"/>
              <a:t>108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960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04C7A6-8CE7-A7B3-4733-C5AC98B6E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89F01CF-9F23-AB09-D046-EBADDF05D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18B454-2831-BB0F-8E68-34D6DAB7C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7AD6-0607-4D1C-AFC7-DD8D9D0FE4FA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4028BB-55AB-F5BD-42DB-AA58BF92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738F97-A4DA-2D82-85DC-D436BEDA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348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6FB86B-33FA-9AFF-805B-DD8EB74E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08DB2-6CA6-98AE-CCCB-465B095E9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339734-A8D9-04A7-5FB6-E7442A864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5DFA-BC4A-40DB-88B3-BCDE9351A07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2F81A7-90B5-5960-0123-CB612292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05DCEA-0673-9173-F5D4-367B656B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360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71433F-19F6-54D9-417E-B04F1793F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7A9367-050B-F689-2CB8-B643853AC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1A08C0-65BE-B2BD-2C0E-1BE16577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ECCA-EC2A-49BD-A0B5-7A705592A320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7404B4-9C13-2177-043F-35BF200F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C37B40-BFEA-E93E-A4B5-DA636B10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14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0C6702-6C49-FF4C-69D5-ACC2504C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A5E459-990D-930D-45B4-00DC4810F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AF6F0CD-8EA1-89AC-D344-4A2AE2719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9DFEF4A-C868-0150-2FEE-EC9338ED6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58DE-673A-46FB-BBFF-399D46A75E1C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C52465-B6DD-3A72-9C6E-80748E1B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016DB2-BB7A-7B8D-016F-6D88C97B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926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721E8-C736-0A7F-0514-CCBBA768E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8F872D-AACF-30C6-4727-346B9E80B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CC74FC-90E2-6755-9716-5D0AB9ABE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BEE819-3225-C623-B8B3-67C1D1F17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0A42C86-521A-9D77-532A-B6063D427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941C97-29B1-0B68-5E2D-5EC2E0A4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A3D-CAEA-40D6-9E6F-7F34E77B9D22}" type="datetime1">
              <a:rPr lang="en-US" smtClean="0"/>
              <a:t>11/19/2025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F29DDB4-865D-105B-E032-D293AEB2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AA4AC0-60CB-3F29-A2CA-4DE8010D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28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168251-81D1-2D40-A02A-E3747032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8CA2F0-505B-C13C-8D2C-6300AE5F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729C-7F32-440A-A0E5-3178AE234915}" type="datetime1">
              <a:rPr lang="en-US" smtClean="0"/>
              <a:t>11/19/2025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C03FC1-CCA4-64B1-0A2B-25062459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4A3E24-7CA5-3C10-803C-F76234C5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01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846DEC-D66A-1D8C-2B3C-AF439F7AA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7B2E-A401-46C6-839F-8E1248F909D4}" type="datetime1">
              <a:rPr lang="en-US" smtClean="0"/>
              <a:t>11/19/2025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3BB2870-5E09-8CF7-4EF4-05A30EDAA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A35946-AEA1-1000-9231-B1139254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3126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40897-2089-5434-5770-10FCF9F05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3AD900-21F5-1C45-3DB1-AEFAE5F0C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F16812-FCB0-6FDE-C10E-4D64B052B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C5A87E-CA12-0505-DE7F-1FFA6991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356E-46C8-4CAD-B3AD-4CBE4163D098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E43E65-00C7-98F0-0320-BBB132AA4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BF5A80-8115-AF8A-9DD8-80CF718E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01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620235-FFE0-95B2-1961-EACE1F80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8C2CB5E-988F-61B2-1D24-9B42EC9B2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028BAB-84FF-5148-A232-E89082A88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1B436F-FF83-4A2A-4234-A07F466E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31DF-F418-4303-A765-694605F53588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2199AB-1AF7-0B32-56B1-C4A957D7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85903D-BE22-ED6C-C532-03FC21C07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393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755758-A94C-920F-48DE-6E850191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9B571F3-409F-BA65-A573-12A744037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D5B02A-0936-6DB0-37A0-D2901D38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41C1-0D85-4D48-93D4-D883A15F3DD5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421035-324E-EF0D-5B3F-476C6B48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7ACCEA-B78E-B37C-1400-ACF97B6C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09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4B577BD-EAA4-F1EC-E594-382E128AB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9DE817-B059-9444-FD74-75070AF1B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1ACB97-0836-CF9B-7D20-E2D33E74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45FD2-5EC2-4020-9CDC-094BE15151DD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815A2A-C468-9AE4-B166-DE83D939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D5C5A1-145F-D181-6075-E5B11A8D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57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B5C2D5B-6AF8-1B2D-5EF9-BEFAB155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46F3F2-D2C8-44C6-BD4E-FAEA02FDC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7D45B5-71B3-B911-C744-6F0D117DF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50A0D-AD0C-468A-9D39-3902EA293BC8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BFE22C-727E-5D74-C974-45BAA087D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D08CEB-37C4-501C-298C-33F110C02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CAE16-C5AC-4BC6-9CFA-BCF455D4CA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38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bbassi.kamel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F269BDC9-F5DC-4A16-9583-2F8CE4184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4A49DE-BDD1-5DA5-2306-8583A4EE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063296"/>
            <a:ext cx="9144000" cy="11526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sz="2800" noProof="0" dirty="0"/>
              <a:t>U</a:t>
            </a:r>
            <a:r>
              <a:rPr lang="fr-FR" sz="28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 bibliothèque JavaScript qui permet de créer des interfaces utilisateur interactives et réutilisables.</a:t>
            </a:r>
          </a:p>
        </p:txBody>
      </p:sp>
      <p:sp>
        <p:nvSpPr>
          <p:cNvPr id="48" name="Freeform: Shape 32">
            <a:extLst>
              <a:ext uri="{FF2B5EF4-FFF2-40B4-BE49-F238E27FC236}">
                <a16:creationId xmlns:a16="http://schemas.microsoft.com/office/drawing/2014/main" id="{903CE7F4-D1BB-4A5B-8E96-915177640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"/>
            <a:ext cx="9379192" cy="4251280"/>
          </a:xfrm>
          <a:custGeom>
            <a:avLst/>
            <a:gdLst>
              <a:gd name="connsiteX0" fmla="*/ 9379192 w 9379192"/>
              <a:gd name="connsiteY0" fmla="*/ 3752527 h 3752527"/>
              <a:gd name="connsiteX1" fmla="*/ 3293459 w 9379192"/>
              <a:gd name="connsiteY1" fmla="*/ 3752527 h 3752527"/>
              <a:gd name="connsiteX2" fmla="*/ 3297156 w 9379192"/>
              <a:gd name="connsiteY2" fmla="*/ 3752055 h 3752527"/>
              <a:gd name="connsiteX3" fmla="*/ 3642095 w 9379192"/>
              <a:gd name="connsiteY3" fmla="*/ 3690141 h 3752527"/>
              <a:gd name="connsiteX4" fmla="*/ 2307659 w 9379192"/>
              <a:gd name="connsiteY4" fmla="*/ 3500267 h 3752527"/>
              <a:gd name="connsiteX5" fmla="*/ 2383194 w 9379192"/>
              <a:gd name="connsiteY5" fmla="*/ 3475501 h 3752527"/>
              <a:gd name="connsiteX6" fmla="*/ 2237161 w 9379192"/>
              <a:gd name="connsiteY6" fmla="*/ 3376437 h 3752527"/>
              <a:gd name="connsiteX7" fmla="*/ 1637924 w 9379192"/>
              <a:gd name="connsiteY7" fmla="*/ 3219585 h 3752527"/>
              <a:gd name="connsiteX8" fmla="*/ 2383194 w 9379192"/>
              <a:gd name="connsiteY8" fmla="*/ 2955415 h 3752527"/>
              <a:gd name="connsiteX9" fmla="*/ 1542249 w 9379192"/>
              <a:gd name="connsiteY9" fmla="*/ 2596307 h 3752527"/>
              <a:gd name="connsiteX10" fmla="*/ 1114221 w 9379192"/>
              <a:gd name="connsiteY10" fmla="*/ 2509625 h 3752527"/>
              <a:gd name="connsiteX11" fmla="*/ 2524191 w 9379192"/>
              <a:gd name="connsiteY11" fmla="*/ 2059708 h 3752527"/>
              <a:gd name="connsiteX12" fmla="*/ 238027 w 9379192"/>
              <a:gd name="connsiteY12" fmla="*/ 1836815 h 3752527"/>
              <a:gd name="connsiteX13" fmla="*/ 424343 w 9379192"/>
              <a:gd name="connsiteY13" fmla="*/ 1746006 h 3752527"/>
              <a:gd name="connsiteX14" fmla="*/ 1844384 w 9379192"/>
              <a:gd name="connsiteY14" fmla="*/ 1770772 h 3752527"/>
              <a:gd name="connsiteX15" fmla="*/ 2081058 w 9379192"/>
              <a:gd name="connsiteY15" fmla="*/ 1700602 h 3752527"/>
              <a:gd name="connsiteX16" fmla="*/ 1844384 w 9379192"/>
              <a:gd name="connsiteY16" fmla="*/ 1589154 h 3752527"/>
              <a:gd name="connsiteX17" fmla="*/ 922869 w 9379192"/>
              <a:gd name="connsiteY17" fmla="*/ 1506601 h 3752527"/>
              <a:gd name="connsiteX18" fmla="*/ 681160 w 9379192"/>
              <a:gd name="connsiteY18" fmla="*/ 1320855 h 3752527"/>
              <a:gd name="connsiteX19" fmla="*/ 273276 w 9379192"/>
              <a:gd name="connsiteY19" fmla="*/ 1106216 h 3752527"/>
              <a:gd name="connsiteX20" fmla="*/ 555269 w 9379192"/>
              <a:gd name="connsiteY20" fmla="*/ 928727 h 3752527"/>
              <a:gd name="connsiteX21" fmla="*/ 97029 w 9379192"/>
              <a:gd name="connsiteY21" fmla="*/ 664555 h 3752527"/>
              <a:gd name="connsiteX22" fmla="*/ 227955 w 9379192"/>
              <a:gd name="connsiteY22" fmla="*/ 317831 h 3752527"/>
              <a:gd name="connsiteX23" fmla="*/ 998402 w 9379192"/>
              <a:gd name="connsiteY23" fmla="*/ 235277 h 3752527"/>
              <a:gd name="connsiteX24" fmla="*/ 2030701 w 9379192"/>
              <a:gd name="connsiteY24" fmla="*/ 115575 h 3752527"/>
              <a:gd name="connsiteX25" fmla="*/ 3068036 w 9379192"/>
              <a:gd name="connsiteY25" fmla="*/ 12383 h 3752527"/>
              <a:gd name="connsiteX26" fmla="*/ 4105370 w 9379192"/>
              <a:gd name="connsiteY26" fmla="*/ 12383 h 3752527"/>
              <a:gd name="connsiteX27" fmla="*/ 4402472 w 9379192"/>
              <a:gd name="connsiteY27" fmla="*/ 20638 h 3752527"/>
              <a:gd name="connsiteX28" fmla="*/ 4407507 w 9379192"/>
              <a:gd name="connsiteY28" fmla="*/ 20638 h 3752527"/>
              <a:gd name="connsiteX29" fmla="*/ 5696622 w 9379192"/>
              <a:gd name="connsiteY29" fmla="*/ 57788 h 3752527"/>
              <a:gd name="connsiteX30" fmla="*/ 6175004 w 9379192"/>
              <a:gd name="connsiteY30" fmla="*/ 61915 h 3752527"/>
              <a:gd name="connsiteX31" fmla="*/ 7212339 w 9379192"/>
              <a:gd name="connsiteY31" fmla="*/ 66042 h 3752527"/>
              <a:gd name="connsiteX32" fmla="*/ 8244638 w 9379192"/>
              <a:gd name="connsiteY32" fmla="*/ 49532 h 3752527"/>
              <a:gd name="connsiteX33" fmla="*/ 9292044 w 9379192"/>
              <a:gd name="connsiteY33" fmla="*/ 0 h 3752527"/>
              <a:gd name="connsiteX34" fmla="*/ 9379192 w 9379192"/>
              <a:gd name="connsiteY34" fmla="*/ 2762 h 375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379192" h="3752527">
                <a:moveTo>
                  <a:pt x="9379192" y="3752527"/>
                </a:moveTo>
                <a:lnTo>
                  <a:pt x="3293459" y="3752527"/>
                </a:lnTo>
                <a:lnTo>
                  <a:pt x="3297156" y="3752055"/>
                </a:lnTo>
                <a:cubicBezTo>
                  <a:pt x="3412975" y="3736577"/>
                  <a:pt x="3551454" y="3714906"/>
                  <a:pt x="3642095" y="3690141"/>
                </a:cubicBezTo>
                <a:cubicBezTo>
                  <a:pt x="3380244" y="3686012"/>
                  <a:pt x="2347945" y="3529162"/>
                  <a:pt x="2307659" y="3500267"/>
                </a:cubicBezTo>
                <a:cubicBezTo>
                  <a:pt x="2327803" y="3492012"/>
                  <a:pt x="2358017" y="3483757"/>
                  <a:pt x="2383194" y="3475501"/>
                </a:cubicBezTo>
                <a:cubicBezTo>
                  <a:pt x="2327803" y="3450736"/>
                  <a:pt x="2282482" y="3421842"/>
                  <a:pt x="2237161" y="3376437"/>
                </a:cubicBezTo>
                <a:cubicBezTo>
                  <a:pt x="2091129" y="3223714"/>
                  <a:pt x="1844384" y="3277374"/>
                  <a:pt x="1637924" y="3219585"/>
                </a:cubicBezTo>
                <a:cubicBezTo>
                  <a:pt x="1768850" y="2897627"/>
                  <a:pt x="2116307" y="3017329"/>
                  <a:pt x="2383194" y="2955415"/>
                </a:cubicBezTo>
                <a:cubicBezTo>
                  <a:pt x="1683245" y="2765541"/>
                  <a:pt x="1819207" y="2666477"/>
                  <a:pt x="1542249" y="2596307"/>
                </a:cubicBezTo>
                <a:cubicBezTo>
                  <a:pt x="1194791" y="2509625"/>
                  <a:pt x="1114221" y="2509625"/>
                  <a:pt x="1114221" y="2509625"/>
                </a:cubicBezTo>
                <a:cubicBezTo>
                  <a:pt x="1522105" y="2245455"/>
                  <a:pt x="2010559" y="2530264"/>
                  <a:pt x="2524191" y="2059708"/>
                </a:cubicBezTo>
                <a:cubicBezTo>
                  <a:pt x="2030701" y="1993667"/>
                  <a:pt x="555269" y="1960645"/>
                  <a:pt x="238027" y="1836815"/>
                </a:cubicBezTo>
                <a:cubicBezTo>
                  <a:pt x="358880" y="1882219"/>
                  <a:pt x="368952" y="1746006"/>
                  <a:pt x="424343" y="1746006"/>
                </a:cubicBezTo>
                <a:cubicBezTo>
                  <a:pt x="892655" y="1741879"/>
                  <a:pt x="1371037" y="1820305"/>
                  <a:pt x="1844384" y="1770772"/>
                </a:cubicBezTo>
                <a:cubicBezTo>
                  <a:pt x="1929989" y="1766645"/>
                  <a:pt x="2065951" y="1803793"/>
                  <a:pt x="2081058" y="1700602"/>
                </a:cubicBezTo>
                <a:cubicBezTo>
                  <a:pt x="2096164" y="1572644"/>
                  <a:pt x="1919919" y="1601537"/>
                  <a:pt x="1844384" y="1589154"/>
                </a:cubicBezTo>
                <a:cubicBezTo>
                  <a:pt x="1537212" y="1547877"/>
                  <a:pt x="1235076" y="1531367"/>
                  <a:pt x="922869" y="1506601"/>
                </a:cubicBezTo>
                <a:cubicBezTo>
                  <a:pt x="791943" y="1494218"/>
                  <a:pt x="630804" y="1518984"/>
                  <a:pt x="681160" y="1320855"/>
                </a:cubicBezTo>
                <a:cubicBezTo>
                  <a:pt x="640874" y="1130983"/>
                  <a:pt x="399166" y="1197025"/>
                  <a:pt x="273276" y="1106216"/>
                </a:cubicBezTo>
                <a:cubicBezTo>
                  <a:pt x="333703" y="998897"/>
                  <a:pt x="504913" y="1073196"/>
                  <a:pt x="555269" y="928727"/>
                </a:cubicBezTo>
                <a:cubicBezTo>
                  <a:pt x="313560" y="974131"/>
                  <a:pt x="338738" y="660428"/>
                  <a:pt x="97029" y="664555"/>
                </a:cubicBezTo>
                <a:cubicBezTo>
                  <a:pt x="-104395" y="478810"/>
                  <a:pt x="41638" y="388001"/>
                  <a:pt x="227955" y="317831"/>
                </a:cubicBezTo>
                <a:cubicBezTo>
                  <a:pt x="469664" y="231150"/>
                  <a:pt x="736551" y="251788"/>
                  <a:pt x="998402" y="235277"/>
                </a:cubicBezTo>
                <a:cubicBezTo>
                  <a:pt x="1345860" y="198128"/>
                  <a:pt x="1678209" y="111447"/>
                  <a:pt x="2030701" y="115575"/>
                </a:cubicBezTo>
                <a:cubicBezTo>
                  <a:pt x="2363052" y="28893"/>
                  <a:pt x="2730650" y="123829"/>
                  <a:pt x="3068036" y="12383"/>
                </a:cubicBezTo>
                <a:cubicBezTo>
                  <a:pt x="3410457" y="12383"/>
                  <a:pt x="3757914" y="12383"/>
                  <a:pt x="4105370" y="12383"/>
                </a:cubicBezTo>
                <a:cubicBezTo>
                  <a:pt x="4206084" y="16510"/>
                  <a:pt x="4301759" y="16510"/>
                  <a:pt x="4402472" y="20638"/>
                </a:cubicBezTo>
                <a:cubicBezTo>
                  <a:pt x="4402472" y="20638"/>
                  <a:pt x="4407507" y="20638"/>
                  <a:pt x="4407507" y="20638"/>
                </a:cubicBezTo>
                <a:cubicBezTo>
                  <a:pt x="4840570" y="33022"/>
                  <a:pt x="5268596" y="41276"/>
                  <a:pt x="5696622" y="57788"/>
                </a:cubicBezTo>
                <a:cubicBezTo>
                  <a:pt x="5857761" y="57788"/>
                  <a:pt x="6013864" y="61915"/>
                  <a:pt x="6175004" y="61915"/>
                </a:cubicBezTo>
                <a:cubicBezTo>
                  <a:pt x="6517425" y="82553"/>
                  <a:pt x="6864883" y="94936"/>
                  <a:pt x="7212339" y="66042"/>
                </a:cubicBezTo>
                <a:cubicBezTo>
                  <a:pt x="7559796" y="90809"/>
                  <a:pt x="7897182" y="74298"/>
                  <a:pt x="8244638" y="49532"/>
                </a:cubicBezTo>
                <a:cubicBezTo>
                  <a:pt x="8597130" y="78426"/>
                  <a:pt x="8944587" y="37149"/>
                  <a:pt x="9292044" y="0"/>
                </a:cubicBezTo>
                <a:lnTo>
                  <a:pt x="9379192" y="2762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Image 6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B5AE32EF-D95F-6808-DE01-87E95C404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813" y="643467"/>
            <a:ext cx="9430374" cy="3159175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326A5F-7141-4894-2571-92052C07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6A0285-CBF7-455D-94A6-3557AAF2EF68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t>11/19/2025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1B7DBE-11EB-4D3A-FF88-1B3B2DB6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33542B-EA5C-0FC2-8A7A-A00F69E2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7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726A72D-6E9E-C96A-A2B9-2E3136BB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/>
              <a:t>About</a:t>
            </a:r>
            <a:endParaRPr lang="fr-FR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FE7DE1-3155-86EE-D0A6-AE1187BA4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fr-FR" sz="2400" dirty="0"/>
              <a:t>Kamel ABBASSI, Docteur en informatique et formateur spécialisé en développement web.</a:t>
            </a:r>
          </a:p>
          <a:p>
            <a:r>
              <a:rPr lang="fr-FR" sz="2400" dirty="0"/>
              <a:t>Solides compétences en PHP, Symfony, </a:t>
            </a:r>
            <a:r>
              <a:rPr lang="fr-FR" sz="2400" dirty="0" err="1"/>
              <a:t>Laravel</a:t>
            </a:r>
            <a:r>
              <a:rPr lang="fr-FR" sz="2400" dirty="0"/>
              <a:t>, JavaScript, </a:t>
            </a:r>
            <a:r>
              <a:rPr lang="fr-FR" sz="2400" dirty="0" err="1"/>
              <a:t>ReactJS</a:t>
            </a:r>
            <a:r>
              <a:rPr lang="fr-FR" sz="2400" dirty="0"/>
              <a:t>, Django, Excel et bases de données.</a:t>
            </a:r>
          </a:p>
          <a:p>
            <a:r>
              <a:rPr lang="fr-FR" sz="2400" dirty="0"/>
              <a:t>Créateur de formations pratiques disponibles en ligne sur </a:t>
            </a:r>
            <a:r>
              <a:rPr lang="fr-FR" sz="2400" dirty="0" err="1"/>
              <a:t>Udemy</a:t>
            </a:r>
            <a:r>
              <a:rPr lang="fr-FR" sz="2400" dirty="0"/>
              <a:t> et </a:t>
            </a:r>
            <a:r>
              <a:rPr lang="fr-FR" sz="2400" dirty="0" err="1"/>
              <a:t>Hotmart</a:t>
            </a:r>
            <a:r>
              <a:rPr lang="fr-FR" sz="2400" dirty="0"/>
              <a:t>, destinées aux débutants et aux professionnels.</a:t>
            </a:r>
          </a:p>
          <a:p>
            <a:r>
              <a:rPr lang="fr-FR" sz="2400" dirty="0"/>
              <a:t>Passionné par l’apprentissage, l’innovation et l’accompagnement des apprenants, avec contacts :</a:t>
            </a:r>
          </a:p>
          <a:p>
            <a:pPr lvl="1"/>
            <a:r>
              <a:rPr lang="fr-FR" dirty="0"/>
              <a:t>LinkedIn : linkedin.com/in/</a:t>
            </a:r>
            <a:r>
              <a:rPr lang="fr-FR" dirty="0" err="1"/>
              <a:t>abbassikamel</a:t>
            </a:r>
            <a:endParaRPr lang="fr-FR" dirty="0"/>
          </a:p>
          <a:p>
            <a:pPr lvl="1"/>
            <a:r>
              <a:rPr lang="fr-FR" dirty="0"/>
              <a:t>Email : </a:t>
            </a:r>
            <a:r>
              <a:rPr lang="fr-FR" dirty="0">
                <a:hlinkClick r:id="rId2"/>
              </a:rPr>
              <a:t>abbassi.kamel@gmail.com</a:t>
            </a:r>
            <a:endParaRPr lang="fr-FR" dirty="0"/>
          </a:p>
          <a:p>
            <a:pPr lvl="1"/>
            <a:r>
              <a:rPr lang="fr-FR" dirty="0"/>
              <a:t>Tél : 26 388 202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04B4CD-AFB7-80E6-8E7A-2C56DB34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EB45572-E2FB-4737-AA0D-0F1B61963C2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409792-C2DF-B7CF-9628-9D7486EE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B712E2-513F-74FD-085A-4EC053CB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mtClean="0"/>
              <a:pPr>
                <a:spcAft>
                  <a:spcPts val="600"/>
                </a:spcAft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79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533792-077F-59D2-0A66-6BBD4D64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/>
              <a:t>Plan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A49677-D371-96D6-E652-BC65C00D6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fr-FR" sz="2000" dirty="0"/>
              <a:t>Comprendre les bases et le fonctionnement de </a:t>
            </a:r>
            <a:r>
              <a:rPr lang="fr-FR" sz="2000" dirty="0" err="1"/>
              <a:t>React</a:t>
            </a:r>
            <a:r>
              <a:rPr lang="fr-FR" sz="2000" dirty="0"/>
              <a:t>.</a:t>
            </a:r>
          </a:p>
          <a:p>
            <a:r>
              <a:rPr lang="fr-FR" sz="2000" dirty="0"/>
              <a:t>Construire et organiser des composants réutilisables.</a:t>
            </a:r>
          </a:p>
          <a:p>
            <a:r>
              <a:rPr lang="fr-FR" sz="2000" dirty="0"/>
              <a:t>Gérer l’état avec </a:t>
            </a:r>
            <a:r>
              <a:rPr lang="fr-FR" sz="2000" dirty="0" err="1"/>
              <a:t>useState</a:t>
            </a:r>
            <a:r>
              <a:rPr lang="fr-FR" sz="2000" dirty="0"/>
              <a:t> et les </a:t>
            </a:r>
            <a:r>
              <a:rPr lang="fr-FR" sz="2000" dirty="0" err="1"/>
              <a:t>props</a:t>
            </a:r>
            <a:r>
              <a:rPr lang="fr-FR" sz="2000" dirty="0"/>
              <a:t>.</a:t>
            </a:r>
          </a:p>
          <a:p>
            <a:r>
              <a:rPr lang="fr-FR" sz="2000" dirty="0"/>
              <a:t>Maîtriser les événements et les formulaires contrôlés.</a:t>
            </a:r>
          </a:p>
          <a:p>
            <a:r>
              <a:rPr lang="fr-FR" sz="2000" dirty="0"/>
              <a:t>Afficher, filtrer et manipuler des listes.</a:t>
            </a:r>
          </a:p>
          <a:p>
            <a:r>
              <a:rPr lang="fr-FR" sz="2000" dirty="0"/>
              <a:t>Utiliser les </a:t>
            </a:r>
            <a:r>
              <a:rPr lang="fr-FR" sz="2000" dirty="0" err="1"/>
              <a:t>Hooks</a:t>
            </a:r>
            <a:r>
              <a:rPr lang="fr-FR" sz="2000" dirty="0"/>
              <a:t> essentiels (</a:t>
            </a:r>
            <a:r>
              <a:rPr lang="fr-FR" sz="2000" dirty="0" err="1"/>
              <a:t>useEffect</a:t>
            </a:r>
            <a:r>
              <a:rPr lang="fr-FR" sz="2000" dirty="0"/>
              <a:t>, etc.).</a:t>
            </a:r>
          </a:p>
          <a:p>
            <a:r>
              <a:rPr lang="fr-FR" sz="2000" dirty="0"/>
              <a:t>Consommer des API et réaliser des opérations CRUD.</a:t>
            </a:r>
          </a:p>
          <a:p>
            <a:r>
              <a:rPr lang="fr-FR" sz="2000" dirty="0"/>
              <a:t>Naviguer entre pages avec </a:t>
            </a:r>
            <a:r>
              <a:rPr lang="fr-FR" sz="2000" dirty="0" err="1"/>
              <a:t>React</a:t>
            </a:r>
            <a:r>
              <a:rPr lang="fr-FR" sz="2000" dirty="0"/>
              <a:t> Router.</a:t>
            </a:r>
          </a:p>
          <a:p>
            <a:r>
              <a:rPr lang="fr-FR" sz="2000" dirty="0"/>
              <a:t>Appliquer différentes méthodes de stylisation en </a:t>
            </a:r>
            <a:r>
              <a:rPr lang="fr-FR" sz="2000" dirty="0" err="1"/>
              <a:t>React</a:t>
            </a:r>
            <a:r>
              <a:rPr lang="fr-FR" sz="2000" dirty="0"/>
              <a:t>.</a:t>
            </a:r>
          </a:p>
          <a:p>
            <a:r>
              <a:rPr lang="fr-FR" sz="2000" dirty="0"/>
              <a:t>Sauvegarder des données avec </a:t>
            </a:r>
            <a:r>
              <a:rPr lang="fr-FR" sz="2000" dirty="0" err="1"/>
              <a:t>localStorage</a:t>
            </a:r>
            <a:r>
              <a:rPr lang="fr-FR" sz="2000" dirty="0"/>
              <a:t>.</a:t>
            </a:r>
          </a:p>
          <a:p>
            <a:r>
              <a:rPr lang="fr-FR" sz="2000" dirty="0"/>
              <a:t>Réaliser des mini-projets pratiques (</a:t>
            </a:r>
            <a:r>
              <a:rPr lang="fr-FR" sz="2000" dirty="0" err="1"/>
              <a:t>TodoList</a:t>
            </a:r>
            <a:r>
              <a:rPr lang="fr-FR" sz="2000" dirty="0"/>
              <a:t>, </a:t>
            </a:r>
            <a:r>
              <a:rPr lang="fr-FR" sz="2000" dirty="0" err="1"/>
              <a:t>Weather</a:t>
            </a:r>
            <a:r>
              <a:rPr lang="fr-FR" sz="2000" dirty="0"/>
              <a:t>, </a:t>
            </a:r>
            <a:r>
              <a:rPr lang="fr-FR" sz="2000" dirty="0" err="1"/>
              <a:t>Ecommerce</a:t>
            </a:r>
            <a:r>
              <a:rPr lang="fr-FR" sz="2000" dirty="0"/>
              <a:t>, </a:t>
            </a:r>
            <a:r>
              <a:rPr lang="fr-FR" sz="2000" dirty="0" err="1"/>
              <a:t>APICrud</a:t>
            </a:r>
            <a:r>
              <a:rPr lang="fr-FR" sz="2000" dirty="0"/>
              <a:t>).</a:t>
            </a:r>
          </a:p>
          <a:p>
            <a:r>
              <a:rPr lang="fr-FR" sz="2000" dirty="0"/>
              <a:t>Préparer et déployer une application </a:t>
            </a:r>
            <a:r>
              <a:rPr lang="fr-FR" sz="2000" dirty="0" err="1"/>
              <a:t>React</a:t>
            </a:r>
            <a:r>
              <a:rPr lang="fr-FR" sz="2000" dirty="0"/>
              <a:t> (Hébergement et déploiement).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59E740-77DD-4DEC-FE76-734474AF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0D9378-8F4D-4BA2-8E35-F90C66C1463B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71F9A-C44D-FE14-EB70-A6B4E0155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F68692-1889-0827-A86D-D7DF9B7AE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mtClean="0"/>
              <a:pPr>
                <a:spcAft>
                  <a:spcPts val="600"/>
                </a:spcAft>
              </a:pPr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916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3A75A6-9286-2570-AC69-04D6CC0E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1D88F2-1202-0A84-1A0C-4C2C7F96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5DFA-BC4A-40DB-88B3-BCDE9351A07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BF7141-0494-B01E-C8FA-B08842AB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ABAEF7-B562-4D61-9504-AD441487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E5695D0-33D6-734E-ACDE-40C85174C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593" y="2039027"/>
            <a:ext cx="5225676" cy="195220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E2BC581-CF97-9E06-BB69-17E3E5F3E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492" y="2054302"/>
            <a:ext cx="5020376" cy="1533739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EE04530F-161E-F8E7-221D-E2D24588C324}"/>
              </a:ext>
            </a:extLst>
          </p:cNvPr>
          <p:cNvCxnSpPr>
            <a:cxnSpLocks/>
          </p:cNvCxnSpPr>
          <p:nvPr/>
        </p:nvCxnSpPr>
        <p:spPr>
          <a:xfrm>
            <a:off x="6385687" y="2298357"/>
            <a:ext cx="548981" cy="56841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5A4ACF1F-D9FE-8495-DA85-E078DAF90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424" y="3905778"/>
            <a:ext cx="2264511" cy="2815697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B9C41A8B-2998-7415-B96C-C48387E219BD}"/>
              </a:ext>
            </a:extLst>
          </p:cNvPr>
          <p:cNvCxnSpPr>
            <a:cxnSpLocks/>
          </p:cNvCxnSpPr>
          <p:nvPr/>
        </p:nvCxnSpPr>
        <p:spPr>
          <a:xfrm>
            <a:off x="8321424" y="2821171"/>
            <a:ext cx="328774" cy="145531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Image 17">
            <a:extLst>
              <a:ext uri="{FF2B5EF4-FFF2-40B4-BE49-F238E27FC236}">
                <a16:creationId xmlns:a16="http://schemas.microsoft.com/office/drawing/2014/main" id="{BA441F5E-D54F-8A5D-1996-AA2C023A5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4461" y="4549957"/>
            <a:ext cx="3716924" cy="1806393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E201BF2-A3EA-01A8-0BA1-7388A46B8FDE}"/>
              </a:ext>
            </a:extLst>
          </p:cNvPr>
          <p:cNvSpPr txBox="1"/>
          <p:nvPr/>
        </p:nvSpPr>
        <p:spPr>
          <a:xfrm>
            <a:off x="358346" y="2866768"/>
            <a:ext cx="939231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Ateliers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F0C7283-D33C-36B5-64BC-30327FA10DBE}"/>
              </a:ext>
            </a:extLst>
          </p:cNvPr>
          <p:cNvSpPr txBox="1"/>
          <p:nvPr/>
        </p:nvSpPr>
        <p:spPr>
          <a:xfrm>
            <a:off x="358345" y="4866543"/>
            <a:ext cx="1928092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Support de Cours</a:t>
            </a:r>
          </a:p>
        </p:txBody>
      </p:sp>
    </p:spTree>
    <p:extLst>
      <p:ext uri="{BB962C8B-B14F-4D97-AF65-F5344CB8AC3E}">
        <p14:creationId xmlns:p14="http://schemas.microsoft.com/office/powerpoint/2010/main" val="2097352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30DFD6-5A27-3041-8C89-8973EA1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/>
              <a:t>Qu'est-ce que React ?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0852F4-C1CD-8ADC-316A-685966E4C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 dirty="0" err="1"/>
              <a:t>React</a:t>
            </a:r>
            <a:r>
              <a:rPr lang="fr-FR" sz="2000" dirty="0"/>
              <a:t>, parfois appelé </a:t>
            </a:r>
            <a:r>
              <a:rPr lang="fr-FR" sz="2000" dirty="0" err="1"/>
              <a:t>framework</a:t>
            </a:r>
            <a:r>
              <a:rPr lang="fr-FR" sz="2000" dirty="0"/>
              <a:t> JavaScript frontal, est une bibliothèque JavaScript créée par Facebook.</a:t>
            </a:r>
          </a:p>
          <a:p>
            <a:r>
              <a:rPr lang="fr-FR" sz="2000" dirty="0"/>
              <a:t> </a:t>
            </a:r>
            <a:r>
              <a:rPr lang="fr-FR" sz="2000" dirty="0" err="1"/>
              <a:t>React</a:t>
            </a:r>
            <a:r>
              <a:rPr lang="fr-FR" sz="2000" dirty="0"/>
              <a:t> est un outil pour créer des composants d'interface utilisateur</a:t>
            </a:r>
          </a:p>
          <a:p>
            <a:r>
              <a:rPr lang="fr-FR" sz="2000" dirty="0"/>
              <a:t> </a:t>
            </a:r>
            <a:r>
              <a:rPr lang="fr-FR" sz="2000" dirty="0" err="1"/>
              <a:t>React</a:t>
            </a:r>
            <a:r>
              <a:rPr lang="fr-FR" sz="2000" dirty="0"/>
              <a:t> est utilisé pour créer des applications d'une seule page (</a:t>
            </a:r>
            <a:r>
              <a:rPr lang="fr-FR" sz="2000" b="1" dirty="0"/>
              <a:t>SPA</a:t>
            </a:r>
            <a:r>
              <a:rPr lang="fr-FR" sz="2000" dirty="0"/>
              <a:t>, Single Page Application)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E4F02A-E255-74DF-1AA1-09CEE117A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984" y="1834395"/>
            <a:ext cx="4788505" cy="2540625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918DC6-4AEF-4D02-E240-CAD193F4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631CCBD-1E8E-4A3B-A9CD-864F962C2262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44B99D-A3B8-3473-365B-1362B1F3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742DBA-787A-202F-93AF-7BDAD826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5</a:t>
            </a:fld>
            <a:endParaRPr lang="fr-FR" sz="100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D62CCBD-D540-C680-2BFE-5ADFC5C3DE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847" b="30703"/>
          <a:stretch>
            <a:fillRect/>
          </a:stretch>
        </p:blipFill>
        <p:spPr>
          <a:xfrm>
            <a:off x="7088447" y="4521956"/>
            <a:ext cx="3966519" cy="95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7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Freeform: Shape 103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E383F9-E3B5-0D4E-60B0-6101D2E8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/>
              <a:t>Comment fonctionne React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6C3D5B-3C46-11D2-DE9C-6CECF913E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/>
              <a:t>React crée un DOM(Document Object Model) virtuel en mémoire.</a:t>
            </a:r>
          </a:p>
          <a:p>
            <a:r>
              <a:rPr lang="fr-FR" sz="2000"/>
              <a:t>Toutes les manipulations se font d’abord dans ce DOM virtuel, pas directement dans le navigateur.</a:t>
            </a:r>
          </a:p>
          <a:p>
            <a:r>
              <a:rPr lang="fr-FR" sz="2000"/>
              <a:t>Ensuite, React met à jour seulement ce qui a changé dans le DOM réel.</a:t>
            </a:r>
          </a:p>
          <a:p>
            <a:r>
              <a:rPr lang="fr-FR" sz="2000"/>
              <a:t>Cela permet des mises à jour plus rapides et efficaces.</a:t>
            </a:r>
          </a:p>
        </p:txBody>
      </p:sp>
      <p:pic>
        <p:nvPicPr>
          <p:cNvPr id="1027" name="Picture 3" descr="Inside React: The Virtual DOM. In React, knowing about the Virtual DOM… |  by Rohit S | Level Up Coding">
            <a:extLst>
              <a:ext uri="{FF2B5EF4-FFF2-40B4-BE49-F238E27FC236}">
                <a16:creationId xmlns:a16="http://schemas.microsoft.com/office/drawing/2014/main" id="{8FEC20E3-7D87-B0F2-7A59-7CD94DAB0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901659"/>
            <a:ext cx="4788505" cy="232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C5E99B-AC77-1911-E1B5-6A14ED76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C0B72CE-819D-47FF-B1A3-F52D39A42B29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1042" name="Freeform: Shape 103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6FD021-CC0C-60E1-140F-6A90533C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004BCD-69CD-2969-6E2A-6776FEF5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6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2388207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7E3F2-3745-43F1-B31C-30D090B6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9B380E-4F09-D8B3-D857-BE8F9EFC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Environnement </a:t>
            </a:r>
            <a:r>
              <a:rPr lang="fr-FR" dirty="0" err="1"/>
              <a:t>React</a:t>
            </a:r>
            <a:r>
              <a:rPr lang="fr-FR" dirty="0"/>
              <a:t> (1/4)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A40163F-B1E8-B9EC-6EFE-9DA61B677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b="1" dirty="0"/>
              <a:t>Vite</a:t>
            </a:r>
            <a:r>
              <a:rPr lang="fr-FR" sz="2000" dirty="0"/>
              <a:t> est un </a:t>
            </a:r>
            <a:r>
              <a:rPr lang="fr-FR" sz="2000" b="1" dirty="0"/>
              <a:t>outil de </a:t>
            </a:r>
            <a:r>
              <a:rPr lang="fr-FR" sz="2000" b="1"/>
              <a:t>build</a:t>
            </a:r>
            <a:r>
              <a:rPr lang="fr-FR" sz="2000" b="1" dirty="0"/>
              <a:t> et de développement rapide</a:t>
            </a:r>
            <a:r>
              <a:rPr lang="fr-FR" sz="2000" dirty="0"/>
              <a:t> pour les projets JavaScript modernes (comme </a:t>
            </a:r>
            <a:r>
              <a:rPr lang="fr-FR" sz="2000"/>
              <a:t>React</a:t>
            </a:r>
            <a:r>
              <a:rPr lang="fr-FR" sz="2000" dirty="0"/>
              <a:t>, Vue ou </a:t>
            </a:r>
            <a:r>
              <a:rPr lang="fr-FR" sz="2000"/>
              <a:t>Vanilla</a:t>
            </a:r>
            <a:r>
              <a:rPr lang="fr-FR" sz="2000" dirty="0"/>
              <a:t> JS).</a:t>
            </a:r>
          </a:p>
          <a:p>
            <a:pPr lvl="1"/>
            <a:r>
              <a:rPr lang="fr-FR" sz="2000" dirty="0"/>
              <a:t>Il sert à </a:t>
            </a:r>
            <a:r>
              <a:rPr lang="fr-FR" sz="2000" b="1" dirty="0"/>
              <a:t>lancer un serveur de développement</a:t>
            </a:r>
            <a:r>
              <a:rPr lang="fr-FR" sz="2000" dirty="0"/>
              <a:t> ultra-rapide.</a:t>
            </a:r>
          </a:p>
          <a:p>
            <a:pPr lvl="1"/>
            <a:r>
              <a:rPr lang="fr-FR" sz="2000" dirty="0"/>
              <a:t>Il permet de </a:t>
            </a:r>
            <a:r>
              <a:rPr lang="fr-FR" sz="2000" b="1" dirty="0"/>
              <a:t>compiler et regrouper le code</a:t>
            </a:r>
            <a:r>
              <a:rPr lang="fr-FR" sz="2000" dirty="0"/>
              <a:t> pour la production.</a:t>
            </a:r>
          </a:p>
          <a:p>
            <a:pPr lvl="1"/>
            <a:r>
              <a:rPr lang="fr-FR" sz="2000" dirty="0"/>
              <a:t>Comparé à d’autres outils comme </a:t>
            </a:r>
            <a:r>
              <a:rPr lang="fr-FR" sz="2000" b="1"/>
              <a:t>Webpack</a:t>
            </a:r>
            <a:r>
              <a:rPr lang="fr-FR" sz="2000" dirty="0"/>
              <a:t>, Vite est </a:t>
            </a:r>
            <a:r>
              <a:rPr lang="fr-FR" sz="2000" b="1" dirty="0"/>
              <a:t>beaucoup plus rapide</a:t>
            </a:r>
            <a:r>
              <a:rPr lang="fr-FR" sz="2000" dirty="0"/>
              <a:t> pour démarrer et recharger une application.</a:t>
            </a:r>
          </a:p>
          <a:p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28E8F92-9672-BFA3-0B9C-741E40A28E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1" r="481" b="-3"/>
          <a:stretch>
            <a:fillRect/>
          </a:stretch>
        </p:blipFill>
        <p:spPr>
          <a:xfrm>
            <a:off x="7306928" y="2184914"/>
            <a:ext cx="3613382" cy="3755915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AAD731-EA10-5E23-68BF-55E9C4B1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E75F35-3CDE-4039-8241-FBA6ED266465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D618AB-9A33-A922-74F6-93D783B3D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27A0FD-F0DB-28A3-369E-26D4F811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7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55952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49E0A1-C1FE-CA7B-71C1-7EE12AB5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Environnement </a:t>
            </a:r>
            <a:r>
              <a:rPr lang="fr-FR" dirty="0" err="1"/>
              <a:t>React</a:t>
            </a:r>
            <a:r>
              <a:rPr lang="fr-FR" dirty="0"/>
              <a:t> (2/4)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02A526-B7E0-F7C2-CE4A-9E5FE32B7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/>
              <a:t> Nous avons besoin de </a:t>
            </a:r>
            <a:r>
              <a:rPr lang="fr-FR" sz="2000" b="1"/>
              <a:t>npm</a:t>
            </a:r>
            <a:r>
              <a:rPr lang="fr-FR" sz="2000"/>
              <a:t> qui est inclus avec </a:t>
            </a:r>
            <a:r>
              <a:rPr lang="fr-FR" sz="2000" b="1"/>
              <a:t>NODE.JS</a:t>
            </a:r>
          </a:p>
          <a:p>
            <a:r>
              <a:rPr lang="fr-FR" sz="2000" b="1"/>
              <a:t>Node.js</a:t>
            </a:r>
            <a:r>
              <a:rPr lang="fr-FR" sz="2000"/>
              <a:t> est un environnement d’exécution JavaScript côté serveur.</a:t>
            </a:r>
          </a:p>
          <a:p>
            <a:pPr lvl="1"/>
            <a:r>
              <a:rPr lang="fr-FR" sz="2000" dirty="0"/>
              <a:t>Autrement Permet d’</a:t>
            </a:r>
            <a:r>
              <a:rPr lang="fr-FR" sz="2000" b="1" dirty="0"/>
              <a:t>exécuter du JavaScript en dehors du navigateur</a:t>
            </a:r>
            <a:endParaRPr lang="fr-FR" sz="2000" dirty="0"/>
          </a:p>
          <a:p>
            <a:endParaRPr lang="fr-FR" sz="2000" b="1"/>
          </a:p>
          <a:p>
            <a:r>
              <a:rPr lang="fr-FR" sz="2000"/>
              <a:t>Créer une application React on utilise:  </a:t>
            </a:r>
          </a:p>
          <a:p>
            <a:pPr marL="0" indent="0">
              <a:buNone/>
            </a:pPr>
            <a:r>
              <a:rPr lang="fr-FR" sz="2000" b="1" i="1"/>
              <a:t>npm create vite@latest app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E079BBC-92FA-D671-A6E1-29837542F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97380" y="2184914"/>
            <a:ext cx="4032478" cy="3755915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D7714C-E7B3-8A90-379E-0C5A3CA6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E75F35-3CDE-4039-8241-FBA6ED266465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55AE77-6902-F001-761D-C8E1DB74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CE5F69-6092-46E5-449E-474DD974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8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210490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A8180-9AB3-22A7-4551-4C80CF4F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CA1289-4038-89A7-5E9E-A73DAC846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Environnement </a:t>
            </a:r>
            <a:r>
              <a:rPr lang="fr-FR" dirty="0" err="1"/>
              <a:t>React</a:t>
            </a:r>
            <a:r>
              <a:rPr lang="fr-FR" dirty="0"/>
              <a:t> (3/4)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9F855F-72BB-0B33-D58F-598DD0492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 dirty="0"/>
              <a:t> Ensuite , suivre les étapes et rependre aux questions </a:t>
            </a:r>
            <a:endParaRPr lang="fr-FR" sz="2000" b="1" i="1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8539523-9E72-C74D-1DDA-E3D0F865A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77219" y="2184914"/>
            <a:ext cx="3872800" cy="3755915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EE78B3-C549-FF5A-3936-7939F50EE3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74E7A9-FEC5-4FE9-B1B9-5289A49E0117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8D2704-EDCB-224A-C389-9E2102F16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3BE041-2953-3B35-8FA3-404DC9BB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9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218202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69BB6-E65C-8B44-4C8B-8472464B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DC797B-408C-0849-039B-7B86286D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Environnement </a:t>
            </a:r>
            <a:r>
              <a:rPr lang="fr-FR" dirty="0" err="1"/>
              <a:t>React</a:t>
            </a:r>
            <a:r>
              <a:rPr lang="fr-FR" dirty="0"/>
              <a:t> (4/4)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1EF0E-31FA-DAFF-5E80-9C69E4691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 dirty="0"/>
              <a:t> Vous êtes maintenant prêt à exécuter votre première véritable application </a:t>
            </a:r>
            <a:r>
              <a:rPr lang="fr-FR" sz="2000" dirty="0" err="1"/>
              <a:t>React</a:t>
            </a:r>
            <a:r>
              <a:rPr lang="fr-FR" sz="2000" dirty="0"/>
              <a:t> !</a:t>
            </a:r>
            <a:endParaRPr lang="fr-FR" sz="2000" b="1" i="1" dirty="0"/>
          </a:p>
          <a:p>
            <a:r>
              <a:rPr lang="fr-FR" sz="2000" b="1" i="1" dirty="0"/>
              <a:t>cd </a:t>
            </a:r>
            <a:r>
              <a:rPr lang="fr-FR" sz="2000" b="1" i="1" dirty="0" err="1"/>
              <a:t>my</a:t>
            </a:r>
            <a:r>
              <a:rPr lang="fr-FR" sz="2000" b="1" i="1" dirty="0"/>
              <a:t>-</a:t>
            </a:r>
            <a:r>
              <a:rPr lang="fr-FR" sz="2000" b="1" i="1" dirty="0" err="1"/>
              <a:t>react</a:t>
            </a:r>
            <a:r>
              <a:rPr lang="fr-FR" sz="2000" b="1" i="1" dirty="0"/>
              <a:t>-app</a:t>
            </a:r>
          </a:p>
          <a:p>
            <a:r>
              <a:rPr lang="fr-FR" sz="2000" b="1" i="1" dirty="0" err="1"/>
              <a:t>npm</a:t>
            </a:r>
            <a:r>
              <a:rPr lang="fr-FR" sz="2000" b="1" i="1" dirty="0"/>
              <a:t> run dev</a:t>
            </a:r>
          </a:p>
          <a:p>
            <a:endParaRPr lang="fr-FR" sz="2000" b="1" i="1" dirty="0"/>
          </a:p>
          <a:p>
            <a:r>
              <a:rPr lang="fr-FR" sz="2000" dirty="0"/>
              <a:t>Ouvrez votre navigateur et tapez </a:t>
            </a:r>
            <a:r>
              <a:rPr lang="fr-FR" sz="2000" b="1" dirty="0"/>
              <a:t>http://localhost:5173</a:t>
            </a:r>
            <a:endParaRPr lang="fr-FR" sz="2000" b="1" i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D2420D2-0859-55F3-4FA4-7F9B2869FD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43" r="14557" b="3"/>
          <a:stretch>
            <a:fillRect/>
          </a:stretch>
        </p:blipFill>
        <p:spPr>
          <a:xfrm>
            <a:off x="7306922" y="2184914"/>
            <a:ext cx="3613394" cy="3755915"/>
          </a:xfrm>
          <a:prstGeom prst="rect">
            <a:avLst/>
          </a:prstGeo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372AC-6DB6-4D0A-9BFF-7E0A8AEF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C56DE8E-1269-4302-9583-48ED04DA2F14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11A89E-D116-409D-68BF-65B16A4C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E48EA6-91A4-2886-0834-F02D5B85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10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233697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4325514-8112-6CFE-5348-6147FBF6E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/>
              <a:t>Introduction à Docker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81EEF2-6B95-A4B1-FC19-49759490A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1600"/>
              <a:t>Docker : outil de virtualisation légère pour exécuter des applications isolées.</a:t>
            </a:r>
          </a:p>
          <a:p>
            <a:r>
              <a:rPr lang="fr-FR" sz="1600"/>
              <a:t>Image : modèle ou "photo" d’un environnement logiciel prêt à l’emploi.</a:t>
            </a:r>
          </a:p>
          <a:p>
            <a:r>
              <a:rPr lang="fr-FR" sz="1600"/>
              <a:t>Conteneur : instance en exécution d’une image.</a:t>
            </a:r>
          </a:p>
          <a:p>
            <a:r>
              <a:rPr lang="fr-FR" sz="1600"/>
              <a:t>Volume : dossier partagé entre conteneur et machine locale.</a:t>
            </a:r>
          </a:p>
          <a:p>
            <a:r>
              <a:rPr lang="fr-FR" sz="1600"/>
              <a:t>Avantages pour ReactJS :</a:t>
            </a:r>
          </a:p>
          <a:p>
            <a:pPr lvl="1"/>
            <a:r>
              <a:rPr lang="fr-FR" sz="1600"/>
              <a:t>Même environnement pour tous (Windows, Linux, macOS).</a:t>
            </a:r>
          </a:p>
          <a:p>
            <a:pPr lvl="1"/>
            <a:r>
              <a:rPr lang="fr-FR" sz="1600"/>
              <a:t>Pas de conflits de version Node.js.</a:t>
            </a:r>
          </a:p>
          <a:p>
            <a:pPr lvl="1"/>
            <a:r>
              <a:rPr lang="fr-FR" sz="1600"/>
              <a:t>Facile à reconstruire ou supprimer.</a:t>
            </a:r>
          </a:p>
          <a:p>
            <a:pPr lvl="1"/>
            <a:r>
              <a:rPr lang="fr-FR" sz="1600"/>
              <a:t>Projet portable sur toute machine avec Docker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3E2AB7-BE93-835E-B354-5789048D9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185" y="2184914"/>
            <a:ext cx="4444868" cy="3755915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48F0C5-7B93-EA07-BDC0-32419177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B5DFA-BC4A-40DB-88B3-BCDE9351A077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03346C-3E0F-1CF2-9A3C-654FDBF0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715A3A-008E-31C3-E616-1DC8D6CDF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11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692019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3828B2-1FD8-8149-91AB-59A9690FD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Étapes pour installer la première app </a:t>
            </a:r>
            <a:r>
              <a:rPr lang="fr-FR" dirty="0" err="1"/>
              <a:t>React</a:t>
            </a:r>
            <a:r>
              <a:rPr lang="fr-FR" dirty="0"/>
              <a:t> dans Docker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1700AC-D4F6-E9DC-8E59-1673B9499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Installer </a:t>
            </a:r>
            <a:r>
              <a:rPr lang="fr-FR" b="1" dirty="0"/>
              <a:t>VS Code </a:t>
            </a:r>
            <a:r>
              <a:rPr lang="fr-FR" dirty="0"/>
              <a:t>et </a:t>
            </a:r>
            <a:r>
              <a:rPr lang="fr-FR" b="1" dirty="0"/>
              <a:t>Docker Desktop</a:t>
            </a:r>
            <a:r>
              <a:rPr lang="fr-FR" dirty="0"/>
              <a:t>.</a:t>
            </a:r>
          </a:p>
          <a:p>
            <a:r>
              <a:rPr lang="fr-FR" dirty="0"/>
              <a:t>Activer WSL2 (</a:t>
            </a:r>
            <a:r>
              <a:rPr lang="en-US" dirty="0"/>
              <a:t>Windows Subsystem for Linux 2)</a:t>
            </a:r>
            <a:br>
              <a:rPr lang="en-US" dirty="0"/>
            </a:br>
            <a:r>
              <a:rPr lang="fr-FR" dirty="0"/>
              <a:t> sur Windows si nécessaire.</a:t>
            </a:r>
          </a:p>
          <a:p>
            <a:r>
              <a:rPr lang="fr-FR" dirty="0"/>
              <a:t>Créer la structure projet :</a:t>
            </a:r>
          </a:p>
          <a:p>
            <a:pPr marL="457200" lvl="1" indent="0">
              <a:buNone/>
            </a:pPr>
            <a:r>
              <a:rPr lang="en-US" i="1" dirty="0"/>
              <a:t>C:\ReactProjects\FirstApp\app</a:t>
            </a:r>
          </a:p>
          <a:p>
            <a:pPr marL="457200" lvl="1" indent="0">
              <a:buNone/>
            </a:pPr>
            <a:r>
              <a:rPr lang="en-US" i="1" dirty="0" err="1"/>
              <a:t>Dockerfile</a:t>
            </a:r>
            <a:endParaRPr lang="en-US" i="1" dirty="0"/>
          </a:p>
          <a:p>
            <a:pPr marL="457200" lvl="1" indent="0">
              <a:buNone/>
            </a:pPr>
            <a:r>
              <a:rPr lang="en-US" i="1" dirty="0"/>
              <a:t>docker-</a:t>
            </a:r>
            <a:r>
              <a:rPr lang="en-US" i="1" dirty="0" err="1"/>
              <a:t>compose.yml</a:t>
            </a:r>
            <a:endParaRPr lang="fr-FR" i="1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6AE030-B19C-8695-6B47-FF76670F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5DFA-BC4A-40DB-88B3-BCDE9351A07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A146D5-16E7-2871-9736-6ECF91D9D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/>
              <a:t>React</a:t>
            </a:r>
            <a:r>
              <a:rPr lang="fr-FR" dirty="0"/>
              <a:t>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521404-1FA1-CCC5-C48B-17E5E76A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436FB75-0317-EB9E-C39B-2CC370B60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944" y="1420269"/>
            <a:ext cx="2964280" cy="188791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DD7AAF2-CD63-629D-0C59-43D920C90EA2}"/>
              </a:ext>
            </a:extLst>
          </p:cNvPr>
          <p:cNvSpPr txBox="1"/>
          <p:nvPr/>
        </p:nvSpPr>
        <p:spPr>
          <a:xfrm>
            <a:off x="5205663" y="4466163"/>
            <a:ext cx="272997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b="1" dirty="0" err="1"/>
              <a:t>Dockerfile</a:t>
            </a:r>
            <a:r>
              <a:rPr lang="fr-FR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FROM node:22-alpine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WORKDIR /</a:t>
            </a:r>
            <a:r>
              <a:rPr lang="fr-FR" dirty="0" err="1"/>
              <a:t>usr</a:t>
            </a:r>
            <a:r>
              <a:rPr lang="fr-FR" dirty="0"/>
              <a:t>/src/app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EXPOSE 5173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F0201D2-2D38-7929-ACD1-DEFBAE6CE2C2}"/>
              </a:ext>
            </a:extLst>
          </p:cNvPr>
          <p:cNvSpPr txBox="1"/>
          <p:nvPr/>
        </p:nvSpPr>
        <p:spPr>
          <a:xfrm>
            <a:off x="8269758" y="4466162"/>
            <a:ext cx="3531466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docker-</a:t>
            </a:r>
            <a:r>
              <a:rPr lang="fr-FR" b="1" dirty="0" err="1"/>
              <a:t>compose.yml</a:t>
            </a:r>
            <a:r>
              <a:rPr lang="fr-FR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Définir service </a:t>
            </a:r>
            <a:r>
              <a:rPr lang="fr-FR" dirty="0" err="1"/>
              <a:t>reactapp</a:t>
            </a:r>
            <a:r>
              <a:rPr lang="fr-FR" dirty="0"/>
              <a:t> avec </a:t>
            </a:r>
            <a:r>
              <a:rPr lang="fr-FR" dirty="0" err="1"/>
              <a:t>build</a:t>
            </a:r>
            <a:r>
              <a:rPr lang="fr-FR" dirty="0"/>
              <a:t>, ports, volumes, </a:t>
            </a:r>
            <a:r>
              <a:rPr lang="fr-FR" dirty="0" err="1"/>
              <a:t>working_dir</a:t>
            </a:r>
            <a:r>
              <a:rPr lang="fr-FR" dirty="0"/>
              <a:t> et </a:t>
            </a:r>
            <a:r>
              <a:rPr lang="fr-FR" dirty="0" err="1"/>
              <a:t>environment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3504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7D265EF-E55E-D454-ABA9-D39F69C4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Lancer l’application </a:t>
            </a:r>
            <a:r>
              <a:rPr lang="fr-FR" dirty="0" err="1"/>
              <a:t>React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A3E074-33A0-1DCA-49D3-FCF1762D6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1900"/>
              <a:t>Construire et démarrer le conteneur :</a:t>
            </a:r>
          </a:p>
          <a:p>
            <a:pPr marL="0" indent="0">
              <a:buNone/>
            </a:pPr>
            <a:r>
              <a:rPr lang="fr-FR" sz="1900" b="1"/>
              <a:t>docker-compose up -d –build</a:t>
            </a:r>
          </a:p>
          <a:p>
            <a:r>
              <a:rPr lang="fr-FR" sz="1900"/>
              <a:t>Entrer dans le conteneur :</a:t>
            </a:r>
          </a:p>
          <a:p>
            <a:pPr marL="0" indent="0">
              <a:buNone/>
            </a:pPr>
            <a:r>
              <a:rPr lang="fr-FR" sz="1900" b="1"/>
              <a:t>docker exec -it FirstApp_container sh</a:t>
            </a:r>
          </a:p>
          <a:p>
            <a:r>
              <a:rPr lang="fr-FR" sz="1900"/>
              <a:t>Créer l’app React avec Vite :</a:t>
            </a:r>
          </a:p>
          <a:p>
            <a:pPr marL="0" indent="0">
              <a:buNone/>
            </a:pPr>
            <a:r>
              <a:rPr lang="fr-FR" sz="1900" b="1"/>
              <a:t>npm create vite@latest . -- --template react</a:t>
            </a:r>
          </a:p>
          <a:p>
            <a:r>
              <a:rPr lang="fr-FR" sz="1900"/>
              <a:t>Lancer le serveur dev :</a:t>
            </a:r>
          </a:p>
          <a:p>
            <a:pPr marL="0" indent="0">
              <a:buNone/>
            </a:pPr>
            <a:r>
              <a:rPr lang="fr-FR" sz="1900" b="1"/>
              <a:t>npm run dev -- --host</a:t>
            </a:r>
          </a:p>
          <a:p>
            <a:r>
              <a:rPr lang="fr-FR" sz="1900"/>
              <a:t>Accéder à l’application : </a:t>
            </a:r>
          </a:p>
          <a:p>
            <a:pPr marL="0" indent="0">
              <a:buNone/>
            </a:pPr>
            <a:r>
              <a:rPr lang="fr-FR" sz="1900" b="1"/>
              <a:t>http://localhost:5173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CE28250-3CEE-6693-0AA3-2DC2753AC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285139"/>
            <a:ext cx="4788505" cy="3555464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474F08-9EDD-5606-87FF-D16D57D9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B5DFA-BC4A-40DB-88B3-BCDE9351A077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2261B4-2719-A404-844C-4A03147CC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596E5E-D14C-9972-BCEC-27B4A22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13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2602415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5502-3893-A8D1-E4A1-92F651B53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6A2AA30-B2BB-A211-E625-07860B430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FB9D61D8-0960-7EA6-4AF6-771478A53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dirty="0"/>
              <a:t>Dans </a:t>
            </a:r>
            <a:r>
              <a:rPr lang="fr-FR" dirty="0" err="1"/>
              <a:t>FirstApp</a:t>
            </a:r>
            <a:endParaRPr lang="fr-FR" dirty="0"/>
          </a:p>
          <a:p>
            <a:r>
              <a:rPr lang="fr-FR" b="1" dirty="0"/>
              <a:t>Atelier 01 Installation de l'environnement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12FD473-33E7-0C79-5978-D964935AAE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A8B20DBF-815D-45E4-DB4F-E5BCA6CDA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3585E-0B77-4466-B5A0-2F016F47032F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9B10993-8CA2-7E36-D95A-B19F69A3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A579846-F9AA-9E47-E1B9-6B472E5F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896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1DCA3D-DBD4-B463-A92B-4740C2F56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Qu'est-ce que JSX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829D06-A76E-ED30-799F-9616191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 dirty="0"/>
              <a:t>JSX = JavaScript XML</a:t>
            </a:r>
          </a:p>
          <a:p>
            <a:r>
              <a:rPr lang="fr-FR" sz="2000" dirty="0"/>
              <a:t>Permet d’écrire du HTML directement dans </a:t>
            </a:r>
            <a:r>
              <a:rPr lang="fr-FR" sz="2000" dirty="0" err="1"/>
              <a:t>React</a:t>
            </a:r>
            <a:r>
              <a:rPr lang="fr-FR" sz="2000" dirty="0"/>
              <a:t>.</a:t>
            </a:r>
          </a:p>
          <a:p>
            <a:r>
              <a:rPr lang="fr-FR" sz="2000" dirty="0"/>
              <a:t>Facilite l’ajout et la gestion du HTML dans le code </a:t>
            </a:r>
            <a:r>
              <a:rPr lang="fr-FR" sz="2000" dirty="0" err="1"/>
              <a:t>React</a:t>
            </a:r>
            <a:r>
              <a:rPr lang="fr-FR" sz="2000" dirty="0"/>
              <a:t>.</a:t>
            </a:r>
          </a:p>
          <a:p>
            <a:r>
              <a:rPr lang="fr-FR" sz="2000" dirty="0"/>
              <a:t>Évite d’utiliser </a:t>
            </a:r>
            <a:r>
              <a:rPr lang="fr-FR" sz="2000" dirty="0" err="1"/>
              <a:t>createElement</a:t>
            </a:r>
            <a:r>
              <a:rPr lang="fr-FR" sz="2000" dirty="0"/>
              <a:t>() ou </a:t>
            </a:r>
            <a:r>
              <a:rPr lang="fr-FR" sz="2000" dirty="0" err="1"/>
              <a:t>appendChild</a:t>
            </a:r>
            <a:r>
              <a:rPr lang="fr-FR" sz="2000" dirty="0"/>
              <a:t>().</a:t>
            </a:r>
          </a:p>
          <a:p>
            <a:r>
              <a:rPr lang="fr-FR" sz="2000" dirty="0"/>
              <a:t>Convertit automatiquement les balises HTML en éléments </a:t>
            </a:r>
            <a:r>
              <a:rPr lang="fr-FR" sz="2000" dirty="0" err="1"/>
              <a:t>React</a:t>
            </a:r>
            <a:r>
              <a:rPr lang="fr-FR" sz="2000" dirty="0"/>
              <a:t>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02CF04-D9D9-C4A5-0170-FE7A280E1F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3" t="20234" r="13185" b="32398"/>
          <a:stretch>
            <a:fillRect/>
          </a:stretch>
        </p:blipFill>
        <p:spPr>
          <a:xfrm>
            <a:off x="6289533" y="2776264"/>
            <a:ext cx="5708934" cy="1879958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0C5860-FF85-98D8-8BF8-6433B553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5F0BA3C-CF21-41B8-B490-3A7E1C48F3C3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BDFE5C-48BA-DFAE-47AF-8339B03AE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B7D4B7-A040-D88A-1A75-6C06A445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15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3690858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7FDBEA-7B33-3A03-11B3-A8146BA5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Sans JSX (JavaScript pur)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30DF7C-FD47-D0F5-2183-2450BC59267C}"/>
              </a:ext>
            </a:extLst>
          </p:cNvPr>
          <p:cNvSpPr txBox="1"/>
          <p:nvPr/>
        </p:nvSpPr>
        <p:spPr>
          <a:xfrm>
            <a:off x="540774" y="1441132"/>
            <a:ext cx="5830529" cy="5016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600" dirty="0"/>
              <a:t>&lt;!DOCTYPE html&gt;</a:t>
            </a:r>
          </a:p>
          <a:p>
            <a:r>
              <a:rPr lang="fr-FR" sz="1600" dirty="0"/>
              <a:t>&lt;html&gt;</a:t>
            </a:r>
          </a:p>
          <a:p>
            <a:r>
              <a:rPr lang="fr-FR" sz="1600" dirty="0"/>
              <a:t>  &lt;body&gt;</a:t>
            </a:r>
          </a:p>
          <a:p>
            <a:r>
              <a:rPr lang="fr-FR" sz="1600" dirty="0"/>
              <a:t>    </a:t>
            </a:r>
            <a:r>
              <a:rPr lang="fr-FR" sz="1600" b="1" dirty="0">
                <a:solidFill>
                  <a:srgbClr val="FF0000"/>
                </a:solidFill>
              </a:rPr>
              <a:t>&lt;div id="root"&gt;&lt;/div&gt;</a:t>
            </a:r>
          </a:p>
          <a:p>
            <a:r>
              <a:rPr lang="fr-FR" sz="1600" dirty="0"/>
              <a:t>    &lt;script&gt;</a:t>
            </a:r>
          </a:p>
          <a:p>
            <a:r>
              <a:rPr lang="fr-FR" sz="1600" dirty="0"/>
              <a:t>      // créer un élément &lt;h1&gt;</a:t>
            </a:r>
          </a:p>
          <a:p>
            <a:r>
              <a:rPr lang="fr-FR" sz="1600" dirty="0"/>
              <a:t>      </a:t>
            </a:r>
            <a:r>
              <a:rPr lang="fr-FR" sz="1600" dirty="0" err="1"/>
              <a:t>const</a:t>
            </a:r>
            <a:r>
              <a:rPr lang="fr-FR" sz="1600" dirty="0"/>
              <a:t> </a:t>
            </a:r>
            <a:r>
              <a:rPr lang="fr-FR" sz="1600" dirty="0" err="1"/>
              <a:t>title</a:t>
            </a:r>
            <a:r>
              <a:rPr lang="fr-FR" sz="1600" dirty="0"/>
              <a:t> = </a:t>
            </a:r>
            <a:r>
              <a:rPr lang="fr-FR" sz="1600" dirty="0" err="1"/>
              <a:t>document.</a:t>
            </a:r>
            <a:r>
              <a:rPr lang="fr-FR" sz="1600" b="1" dirty="0" err="1"/>
              <a:t>createElement</a:t>
            </a:r>
            <a:r>
              <a:rPr lang="fr-FR" sz="1600" dirty="0"/>
              <a:t>("</a:t>
            </a:r>
            <a:r>
              <a:rPr lang="fr-FR" sz="1600" b="1" dirty="0"/>
              <a:t>h1</a:t>
            </a:r>
            <a:r>
              <a:rPr lang="fr-FR" sz="1600" dirty="0"/>
              <a:t>");</a:t>
            </a:r>
          </a:p>
          <a:p>
            <a:r>
              <a:rPr lang="fr-FR" sz="1600" dirty="0"/>
              <a:t>      </a:t>
            </a:r>
            <a:r>
              <a:rPr lang="fr-FR" sz="1600" dirty="0" err="1"/>
              <a:t>title.textContent</a:t>
            </a:r>
            <a:r>
              <a:rPr lang="fr-FR" sz="1600" dirty="0"/>
              <a:t> = "</a:t>
            </a:r>
            <a:r>
              <a:rPr lang="fr-FR" sz="1600" b="1" dirty="0"/>
              <a:t>Bonjour à tous</a:t>
            </a:r>
            <a:r>
              <a:rPr lang="fr-FR" sz="1600" dirty="0"/>
              <a:t>";</a:t>
            </a:r>
          </a:p>
          <a:p>
            <a:endParaRPr lang="fr-FR" sz="1600" dirty="0"/>
          </a:p>
          <a:p>
            <a:r>
              <a:rPr lang="fr-FR" sz="1600" dirty="0"/>
              <a:t>      // créer un paragraphe</a:t>
            </a:r>
          </a:p>
          <a:p>
            <a:r>
              <a:rPr lang="fr-FR" sz="1600" dirty="0"/>
              <a:t>      </a:t>
            </a:r>
            <a:r>
              <a:rPr lang="fr-FR" sz="1600" dirty="0" err="1"/>
              <a:t>const</a:t>
            </a:r>
            <a:r>
              <a:rPr lang="fr-FR" sz="1600" dirty="0"/>
              <a:t> </a:t>
            </a:r>
            <a:r>
              <a:rPr lang="fr-FR" sz="1600" dirty="0" err="1"/>
              <a:t>paragraph</a:t>
            </a:r>
            <a:r>
              <a:rPr lang="fr-FR" sz="1600" dirty="0"/>
              <a:t> = </a:t>
            </a:r>
            <a:r>
              <a:rPr lang="fr-FR" sz="1600" dirty="0" err="1"/>
              <a:t>document.</a:t>
            </a:r>
            <a:r>
              <a:rPr lang="fr-FR" sz="1600" b="1" dirty="0" err="1"/>
              <a:t>createElement</a:t>
            </a:r>
            <a:r>
              <a:rPr lang="fr-FR" sz="1600" dirty="0"/>
              <a:t>("p");</a:t>
            </a:r>
          </a:p>
          <a:p>
            <a:r>
              <a:rPr lang="fr-FR" sz="1600" dirty="0"/>
              <a:t>      </a:t>
            </a:r>
            <a:r>
              <a:rPr lang="fr-FR" sz="1600" dirty="0" err="1"/>
              <a:t>paragraph.textContent</a:t>
            </a:r>
            <a:r>
              <a:rPr lang="fr-FR" sz="1600" dirty="0"/>
              <a:t> = "</a:t>
            </a:r>
            <a:r>
              <a:rPr lang="fr-FR" sz="1600" b="1" dirty="0"/>
              <a:t>Ceci est un exemple sans JSX</a:t>
            </a:r>
            <a:r>
              <a:rPr lang="fr-FR" sz="1600" dirty="0"/>
              <a:t>.";</a:t>
            </a:r>
          </a:p>
          <a:p>
            <a:endParaRPr lang="fr-FR" sz="1600" dirty="0"/>
          </a:p>
          <a:p>
            <a:r>
              <a:rPr lang="fr-FR" sz="1600" dirty="0"/>
              <a:t>      // ajouter les éléments dans le div root</a:t>
            </a:r>
          </a:p>
          <a:p>
            <a:r>
              <a:rPr lang="fr-FR" sz="1600" dirty="0"/>
              <a:t>      </a:t>
            </a:r>
            <a:r>
              <a:rPr lang="fr-FR" sz="1600" dirty="0" err="1"/>
              <a:t>const</a:t>
            </a:r>
            <a:r>
              <a:rPr lang="fr-FR" sz="1600" dirty="0"/>
              <a:t> root = </a:t>
            </a:r>
            <a:r>
              <a:rPr lang="fr-FR" sz="1600" dirty="0" err="1"/>
              <a:t>document.</a:t>
            </a:r>
            <a:r>
              <a:rPr lang="fr-FR" sz="1600" b="1" dirty="0" err="1"/>
              <a:t>getElementById</a:t>
            </a:r>
            <a:r>
              <a:rPr lang="fr-FR" sz="1600" dirty="0"/>
              <a:t>("</a:t>
            </a:r>
            <a:r>
              <a:rPr lang="fr-FR" sz="1600" b="1" dirty="0">
                <a:solidFill>
                  <a:srgbClr val="FF0000"/>
                </a:solidFill>
              </a:rPr>
              <a:t>root</a:t>
            </a:r>
            <a:r>
              <a:rPr lang="fr-FR" sz="1600" dirty="0"/>
              <a:t>");</a:t>
            </a:r>
          </a:p>
          <a:p>
            <a:r>
              <a:rPr lang="fr-FR" sz="1600" dirty="0"/>
              <a:t>      </a:t>
            </a:r>
            <a:r>
              <a:rPr lang="fr-FR" sz="1600" dirty="0" err="1">
                <a:solidFill>
                  <a:srgbClr val="FF0000"/>
                </a:solidFill>
              </a:rPr>
              <a:t>root</a:t>
            </a:r>
            <a:r>
              <a:rPr lang="fr-FR" sz="1600" dirty="0" err="1"/>
              <a:t>.</a:t>
            </a:r>
            <a:r>
              <a:rPr lang="fr-FR" sz="1600" b="1" dirty="0" err="1"/>
              <a:t>appendChild</a:t>
            </a:r>
            <a:r>
              <a:rPr lang="fr-FR" sz="1600" dirty="0"/>
              <a:t>(</a:t>
            </a:r>
            <a:r>
              <a:rPr lang="fr-FR" sz="1600" dirty="0" err="1"/>
              <a:t>title</a:t>
            </a:r>
            <a:r>
              <a:rPr lang="fr-FR" sz="1600" dirty="0"/>
              <a:t>);</a:t>
            </a:r>
          </a:p>
          <a:p>
            <a:r>
              <a:rPr lang="fr-FR" sz="1600" dirty="0"/>
              <a:t>      </a:t>
            </a:r>
            <a:r>
              <a:rPr lang="fr-FR" sz="1600" dirty="0" err="1">
                <a:solidFill>
                  <a:srgbClr val="FF0000"/>
                </a:solidFill>
              </a:rPr>
              <a:t>root</a:t>
            </a:r>
            <a:r>
              <a:rPr lang="fr-FR" sz="1600" dirty="0" err="1"/>
              <a:t>.</a:t>
            </a:r>
            <a:r>
              <a:rPr lang="fr-FR" sz="1600" b="1" dirty="0" err="1"/>
              <a:t>appendChild</a:t>
            </a:r>
            <a:r>
              <a:rPr lang="fr-FR" sz="1600" dirty="0"/>
              <a:t>(</a:t>
            </a:r>
            <a:r>
              <a:rPr lang="fr-FR" sz="1600" dirty="0" err="1"/>
              <a:t>paragraph</a:t>
            </a:r>
            <a:r>
              <a:rPr lang="fr-FR" sz="1600" dirty="0"/>
              <a:t>);</a:t>
            </a:r>
          </a:p>
          <a:p>
            <a:r>
              <a:rPr lang="fr-FR" sz="1600" dirty="0"/>
              <a:t>    &lt;/script&gt;</a:t>
            </a:r>
          </a:p>
          <a:p>
            <a:r>
              <a:rPr lang="fr-FR" sz="1600" dirty="0"/>
              <a:t>  &lt;/body&gt;</a:t>
            </a:r>
          </a:p>
          <a:p>
            <a:r>
              <a:rPr lang="fr-FR" sz="1600" dirty="0"/>
              <a:t>&lt;/html&gt;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D21189C-A52B-3791-DD3A-26023C6E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3EF1-1461-4B6B-AA37-4816B5DBFCE0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8BC27C-747E-7C6E-4C77-B8F8D8129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0323B2-EFE3-D18A-4CB5-C3304253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9856C4A-8B53-B5C4-09ED-38A5519978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22" t="42807" r="5555" b="5834"/>
          <a:stretch>
            <a:fillRect/>
          </a:stretch>
        </p:blipFill>
        <p:spPr>
          <a:xfrm>
            <a:off x="7984958" y="2893914"/>
            <a:ext cx="3040626" cy="225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4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1F4F-553F-8B32-9986-163E10DC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591763-F4EA-D383-70A0-A9E163D8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Avec </a:t>
            </a:r>
            <a:r>
              <a:rPr lang="fr-FR" dirty="0" err="1"/>
              <a:t>React</a:t>
            </a:r>
            <a:r>
              <a:rPr lang="fr-FR" dirty="0"/>
              <a:t> mais </a:t>
            </a:r>
            <a:r>
              <a:rPr lang="fr-FR" b="1" dirty="0"/>
              <a:t>sans JSX </a:t>
            </a:r>
            <a:r>
              <a:rPr lang="fr-FR" dirty="0"/>
              <a:t>(</a:t>
            </a:r>
            <a:r>
              <a:rPr lang="fr-FR" dirty="0" err="1"/>
              <a:t>createElement</a:t>
            </a:r>
            <a:r>
              <a:rPr lang="fr-FR" dirty="0"/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17CCB0C-E8E9-C715-C90C-2BB276873F74}"/>
              </a:ext>
            </a:extLst>
          </p:cNvPr>
          <p:cNvSpPr txBox="1"/>
          <p:nvPr/>
        </p:nvSpPr>
        <p:spPr>
          <a:xfrm>
            <a:off x="1300648" y="1876940"/>
            <a:ext cx="9960910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import </a:t>
            </a:r>
            <a:r>
              <a:rPr lang="fr-FR" sz="2000" b="1" dirty="0" err="1"/>
              <a:t>React</a:t>
            </a:r>
            <a:r>
              <a:rPr lang="fr-FR" sz="2000" b="1" dirty="0"/>
              <a:t> </a:t>
            </a:r>
            <a:r>
              <a:rPr lang="fr-FR" sz="2000" b="1" dirty="0" err="1"/>
              <a:t>from</a:t>
            </a:r>
            <a:r>
              <a:rPr lang="fr-FR" sz="2000" b="1" dirty="0"/>
              <a:t> "</a:t>
            </a:r>
            <a:r>
              <a:rPr lang="fr-FR" sz="2000" b="1" dirty="0" err="1"/>
              <a:t>react</a:t>
            </a:r>
            <a:r>
              <a:rPr lang="fr-FR" sz="2000" b="1" dirty="0"/>
              <a:t>";</a:t>
            </a:r>
          </a:p>
          <a:p>
            <a:r>
              <a:rPr lang="fr-FR" sz="2000" b="1" dirty="0"/>
              <a:t>import </a:t>
            </a:r>
            <a:r>
              <a:rPr lang="fr-FR" sz="2000" b="1" dirty="0" err="1"/>
              <a:t>ReactDOM</a:t>
            </a:r>
            <a:r>
              <a:rPr lang="fr-FR" sz="2000" b="1" dirty="0"/>
              <a:t> </a:t>
            </a:r>
            <a:r>
              <a:rPr lang="fr-FR" sz="2000" b="1" dirty="0" err="1"/>
              <a:t>from</a:t>
            </a:r>
            <a:r>
              <a:rPr lang="fr-FR" sz="2000" b="1" dirty="0"/>
              <a:t> "</a:t>
            </a:r>
            <a:r>
              <a:rPr lang="fr-FR" sz="2000" b="1" dirty="0" err="1"/>
              <a:t>react</a:t>
            </a:r>
            <a:r>
              <a:rPr lang="fr-FR" sz="2000" b="1" dirty="0"/>
              <a:t>-dom/client";</a:t>
            </a:r>
          </a:p>
          <a:p>
            <a:endParaRPr lang="fr-FR" sz="2000" dirty="0"/>
          </a:p>
          <a:p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element</a:t>
            </a:r>
            <a:r>
              <a:rPr lang="fr-FR" sz="2000" dirty="0"/>
              <a:t> = </a:t>
            </a:r>
            <a:r>
              <a:rPr lang="fr-FR" sz="2000" dirty="0" err="1"/>
              <a:t>React.createElement</a:t>
            </a:r>
            <a:r>
              <a:rPr lang="fr-FR" sz="2000" dirty="0"/>
              <a:t>(</a:t>
            </a:r>
          </a:p>
          <a:p>
            <a:r>
              <a:rPr lang="fr-FR" sz="2000" dirty="0"/>
              <a:t>  "</a:t>
            </a:r>
            <a:r>
              <a:rPr lang="fr-FR" sz="2000" b="1" dirty="0"/>
              <a:t>div</a:t>
            </a:r>
            <a:r>
              <a:rPr lang="fr-FR" sz="2000" dirty="0"/>
              <a:t>",</a:t>
            </a:r>
          </a:p>
          <a:p>
            <a:r>
              <a:rPr lang="fr-FR" sz="2000" dirty="0"/>
              <a:t>  </a:t>
            </a:r>
            <a:r>
              <a:rPr lang="fr-FR" sz="2000" dirty="0" err="1"/>
              <a:t>null</a:t>
            </a:r>
            <a:r>
              <a:rPr lang="fr-FR" sz="2000" dirty="0"/>
              <a:t>,</a:t>
            </a:r>
          </a:p>
          <a:p>
            <a:r>
              <a:rPr lang="fr-FR" sz="2000" dirty="0"/>
              <a:t>  </a:t>
            </a:r>
            <a:r>
              <a:rPr lang="fr-FR" sz="2000" dirty="0" err="1"/>
              <a:t>React.createElement</a:t>
            </a:r>
            <a:r>
              <a:rPr lang="fr-FR" sz="2000" dirty="0"/>
              <a:t>("</a:t>
            </a:r>
            <a:r>
              <a:rPr lang="fr-FR" sz="2000" b="1" dirty="0"/>
              <a:t>h1</a:t>
            </a:r>
            <a:r>
              <a:rPr lang="fr-FR" sz="2000" dirty="0"/>
              <a:t>", </a:t>
            </a:r>
            <a:r>
              <a:rPr lang="fr-FR" sz="2000" dirty="0" err="1"/>
              <a:t>null</a:t>
            </a:r>
            <a:r>
              <a:rPr lang="fr-FR" sz="2000" dirty="0"/>
              <a:t>, "</a:t>
            </a:r>
            <a:r>
              <a:rPr lang="fr-FR" sz="2000" b="1" dirty="0"/>
              <a:t>Bonjour</a:t>
            </a:r>
            <a:r>
              <a:rPr lang="fr-FR" sz="2000" dirty="0"/>
              <a:t> </a:t>
            </a:r>
            <a:r>
              <a:rPr lang="fr-FR" sz="2000" b="1" dirty="0"/>
              <a:t>à</a:t>
            </a:r>
            <a:r>
              <a:rPr lang="fr-FR" sz="2000" dirty="0"/>
              <a:t> </a:t>
            </a:r>
            <a:r>
              <a:rPr lang="fr-FR" sz="2000" b="1" dirty="0"/>
              <a:t>tous</a:t>
            </a:r>
            <a:r>
              <a:rPr lang="fr-FR" sz="2000" dirty="0"/>
              <a:t>"),</a:t>
            </a:r>
          </a:p>
          <a:p>
            <a:r>
              <a:rPr lang="fr-FR" sz="2000" dirty="0"/>
              <a:t>  </a:t>
            </a:r>
            <a:r>
              <a:rPr lang="fr-FR" sz="2000" dirty="0" err="1"/>
              <a:t>React.createElement</a:t>
            </a:r>
            <a:r>
              <a:rPr lang="fr-FR" sz="2000" dirty="0"/>
              <a:t>("</a:t>
            </a:r>
            <a:r>
              <a:rPr lang="fr-FR" sz="2000" b="1" dirty="0"/>
              <a:t>p</a:t>
            </a:r>
            <a:r>
              <a:rPr lang="fr-FR" sz="2000" dirty="0"/>
              <a:t>", </a:t>
            </a:r>
            <a:r>
              <a:rPr lang="fr-FR" sz="2000" dirty="0" err="1"/>
              <a:t>null</a:t>
            </a:r>
            <a:r>
              <a:rPr lang="fr-FR" sz="2000" dirty="0"/>
              <a:t>, "</a:t>
            </a:r>
            <a:r>
              <a:rPr lang="fr-FR" sz="2000" b="1" dirty="0"/>
              <a:t>Ceci est un exemple avec </a:t>
            </a:r>
            <a:r>
              <a:rPr lang="fr-FR" sz="2000" b="1" dirty="0" err="1"/>
              <a:t>createElement</a:t>
            </a:r>
            <a:r>
              <a:rPr lang="fr-FR" sz="2000" dirty="0"/>
              <a:t>.")</a:t>
            </a:r>
          </a:p>
          <a:p>
            <a:r>
              <a:rPr lang="fr-FR" sz="2000" dirty="0"/>
              <a:t>);</a:t>
            </a:r>
          </a:p>
          <a:p>
            <a:endParaRPr lang="fr-FR" sz="2000" dirty="0"/>
          </a:p>
          <a:p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b="1" dirty="0"/>
              <a:t>root</a:t>
            </a:r>
            <a:r>
              <a:rPr lang="fr-FR" sz="2000" dirty="0"/>
              <a:t> = </a:t>
            </a:r>
            <a:r>
              <a:rPr lang="fr-FR" sz="2000" dirty="0" err="1"/>
              <a:t>ReactDOM.createRoot</a:t>
            </a:r>
            <a:r>
              <a:rPr lang="fr-FR" sz="2000" dirty="0"/>
              <a:t>(</a:t>
            </a:r>
            <a:r>
              <a:rPr lang="fr-FR" sz="2000" dirty="0" err="1"/>
              <a:t>document.getElementById</a:t>
            </a:r>
            <a:r>
              <a:rPr lang="fr-FR" sz="2000" dirty="0"/>
              <a:t>("</a:t>
            </a:r>
            <a:r>
              <a:rPr lang="fr-FR" sz="2000" b="1" dirty="0"/>
              <a:t>root</a:t>
            </a:r>
            <a:r>
              <a:rPr lang="fr-FR" sz="2000" dirty="0"/>
              <a:t>"));</a:t>
            </a:r>
          </a:p>
          <a:p>
            <a:r>
              <a:rPr lang="fr-FR" sz="2000" dirty="0" err="1"/>
              <a:t>root.render</a:t>
            </a:r>
            <a:r>
              <a:rPr lang="fr-FR" sz="2000" dirty="0"/>
              <a:t>(</a:t>
            </a:r>
            <a:r>
              <a:rPr lang="fr-FR" sz="2000" b="1" dirty="0" err="1">
                <a:solidFill>
                  <a:srgbClr val="FF0000"/>
                </a:solidFill>
              </a:rPr>
              <a:t>element</a:t>
            </a:r>
            <a:r>
              <a:rPr lang="fr-FR" sz="2000" dirty="0"/>
              <a:t>);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0AE076-51CD-23D2-8D60-29FA09A8F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F6E27-D8D8-4D90-812B-6DDE2ED2B11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89B170-157A-9E7D-16D5-80808E40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7EB58D-BFF6-884D-0EED-4185F95A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0354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C6599-DEDD-692E-7FF0-CAD3D7E17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B109B0-A5C2-2A91-A33B-38C4B7FA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Avec JSX (la manière standard en </a:t>
            </a:r>
            <a:r>
              <a:rPr lang="fr-FR" dirty="0" err="1"/>
              <a:t>React</a:t>
            </a:r>
            <a:r>
              <a:rPr lang="fr-FR" dirty="0"/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A15801-43E1-AD52-CC82-8025E1D45746}"/>
              </a:ext>
            </a:extLst>
          </p:cNvPr>
          <p:cNvSpPr txBox="1"/>
          <p:nvPr/>
        </p:nvSpPr>
        <p:spPr>
          <a:xfrm>
            <a:off x="838200" y="2007470"/>
            <a:ext cx="9472863" cy="3785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import React from "react";</a:t>
            </a:r>
          </a:p>
          <a:p>
            <a:r>
              <a:rPr lang="en-US" sz="2000" dirty="0"/>
              <a:t>import </a:t>
            </a:r>
            <a:r>
              <a:rPr lang="en-US" sz="2000" dirty="0" err="1"/>
              <a:t>ReactDOM</a:t>
            </a:r>
            <a:r>
              <a:rPr lang="en-US" sz="2000" dirty="0"/>
              <a:t> from "react-</a:t>
            </a:r>
            <a:r>
              <a:rPr lang="en-US" sz="2000" dirty="0" err="1"/>
              <a:t>dom</a:t>
            </a:r>
            <a:r>
              <a:rPr lang="en-US" sz="2000" dirty="0"/>
              <a:t>/client";</a:t>
            </a:r>
          </a:p>
          <a:p>
            <a:endParaRPr lang="en-US" sz="2000" dirty="0"/>
          </a:p>
          <a:p>
            <a:r>
              <a:rPr lang="en-US" sz="2000" dirty="0"/>
              <a:t>const </a:t>
            </a:r>
            <a:r>
              <a:rPr lang="en-US" sz="2000" b="1" dirty="0">
                <a:solidFill>
                  <a:srgbClr val="FF0000"/>
                </a:solidFill>
              </a:rPr>
              <a:t>element</a:t>
            </a:r>
            <a:r>
              <a:rPr lang="en-US" sz="2000" dirty="0"/>
              <a:t> = (</a:t>
            </a:r>
          </a:p>
          <a:p>
            <a:r>
              <a:rPr lang="en-US" sz="2000" b="1" dirty="0"/>
              <a:t>  &lt;div&gt;</a:t>
            </a:r>
          </a:p>
          <a:p>
            <a:r>
              <a:rPr lang="en-US" sz="2000" b="1" dirty="0"/>
              <a:t>    &lt;h1&gt;Bonjour à </a:t>
            </a:r>
            <a:r>
              <a:rPr lang="en-US" sz="2000" b="1" dirty="0" err="1"/>
              <a:t>tous</a:t>
            </a:r>
            <a:r>
              <a:rPr lang="en-US" sz="2000" b="1" dirty="0"/>
              <a:t>&lt;/h1&gt;</a:t>
            </a:r>
          </a:p>
          <a:p>
            <a:r>
              <a:rPr lang="en-US" sz="2000" b="1" dirty="0"/>
              <a:t>    &lt;p&gt;Ceci est un </a:t>
            </a:r>
            <a:r>
              <a:rPr lang="en-US" sz="2000" b="1" dirty="0" err="1"/>
              <a:t>exemple</a:t>
            </a:r>
            <a:r>
              <a:rPr lang="en-US" sz="2000" b="1" dirty="0"/>
              <a:t> avec JSX.&lt;/p&gt;</a:t>
            </a:r>
          </a:p>
          <a:p>
            <a:r>
              <a:rPr lang="en-US" sz="2000" b="1" dirty="0"/>
              <a:t>  &lt;/div&gt;</a:t>
            </a:r>
          </a:p>
          <a:p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const root = </a:t>
            </a:r>
            <a:r>
              <a:rPr lang="en-US" sz="2000" dirty="0" err="1"/>
              <a:t>ReactDOM.createRoot</a:t>
            </a:r>
            <a:r>
              <a:rPr lang="en-US" sz="2000" dirty="0"/>
              <a:t>(</a:t>
            </a:r>
            <a:r>
              <a:rPr lang="en-US" sz="2000" dirty="0" err="1"/>
              <a:t>document.getElementById</a:t>
            </a:r>
            <a:r>
              <a:rPr lang="en-US" sz="2000" dirty="0"/>
              <a:t>("</a:t>
            </a:r>
            <a:r>
              <a:rPr lang="en-US" sz="2000" b="1" dirty="0"/>
              <a:t>root</a:t>
            </a:r>
            <a:r>
              <a:rPr lang="en-US" sz="2000" dirty="0"/>
              <a:t>"));</a:t>
            </a:r>
          </a:p>
          <a:p>
            <a:r>
              <a:rPr lang="en-US" sz="2000" dirty="0" err="1"/>
              <a:t>root.render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FF0000"/>
                </a:solidFill>
              </a:rPr>
              <a:t>element</a:t>
            </a:r>
            <a:r>
              <a:rPr lang="en-US" sz="2000" dirty="0"/>
              <a:t>);</a:t>
            </a:r>
            <a:endParaRPr lang="fr-FR" sz="200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2A73FFF-F811-6BA6-21B1-90CD7771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893C-1C92-4A18-BE6A-AC8903420EF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446921-024A-C716-D163-4EA9807B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D37180-3D08-F577-028B-D78B2D70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FEF3A26-0439-991A-5EBD-465461670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61" t="10459" r="15906" b="9109"/>
          <a:stretch>
            <a:fillRect/>
          </a:stretch>
        </p:blipFill>
        <p:spPr>
          <a:xfrm>
            <a:off x="6364705" y="2233863"/>
            <a:ext cx="5305926" cy="23902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7714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8DAEAF-1711-31D6-6B5D-48E4FAEF5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Manipulez des données dans JSX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5A21B0-5986-C5D5-ED27-30705E603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054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/>
              <a:t>Insérer des expressions JavaScript dans JSX</a:t>
            </a:r>
          </a:p>
          <a:p>
            <a:r>
              <a:rPr lang="fr-FR" sz="2400" dirty="0"/>
              <a:t>Les accolades </a:t>
            </a:r>
            <a:r>
              <a:rPr lang="fr-FR" sz="2400" b="1" dirty="0"/>
              <a:t>{ } </a:t>
            </a:r>
            <a:r>
              <a:rPr lang="fr-FR" sz="2400" dirty="0"/>
              <a:t>permettent d’écrire des expressions JS directement dans le JSX.</a:t>
            </a:r>
          </a:p>
          <a:p>
            <a:r>
              <a:rPr lang="fr-FR" sz="2400" dirty="0"/>
              <a:t>Exemples :</a:t>
            </a:r>
          </a:p>
          <a:p>
            <a:pPr marL="0" indent="0">
              <a:buNone/>
            </a:pPr>
            <a:r>
              <a:rPr lang="fr-FR" sz="2400" dirty="0"/>
              <a:t>&lt;div&gt;La grande réponse : </a:t>
            </a:r>
            <a:r>
              <a:rPr lang="fr-FR" sz="2400" dirty="0">
                <a:solidFill>
                  <a:srgbClr val="FF0000"/>
                </a:solidFill>
              </a:rPr>
              <a:t>{ 6 * 7 }  </a:t>
            </a:r>
            <a:r>
              <a:rPr lang="fr-FR" sz="2400" dirty="0"/>
              <a:t>&lt;/div&gt;      // Maths</a:t>
            </a:r>
          </a:p>
          <a:p>
            <a:pPr marL="0" indent="0">
              <a:buNone/>
            </a:pPr>
            <a:r>
              <a:rPr lang="fr-FR" sz="2400" dirty="0"/>
              <a:t>&lt;div&gt; </a:t>
            </a:r>
            <a:r>
              <a:rPr lang="fr-FR" sz="2400" dirty="0">
                <a:solidFill>
                  <a:srgbClr val="FF0000"/>
                </a:solidFill>
              </a:rPr>
              <a:t>{ </a:t>
            </a:r>
            <a:r>
              <a:rPr lang="fr-FR" sz="2400" dirty="0" err="1">
                <a:solidFill>
                  <a:srgbClr val="FF0000"/>
                </a:solidFill>
              </a:rPr>
              <a:t>alexa.toUpperCase</a:t>
            </a:r>
            <a:r>
              <a:rPr lang="fr-FR" sz="2400" dirty="0">
                <a:solidFill>
                  <a:srgbClr val="FF0000"/>
                </a:solidFill>
              </a:rPr>
              <a:t>() }  </a:t>
            </a:r>
            <a:r>
              <a:rPr lang="fr-FR" sz="2400" dirty="0"/>
              <a:t>&lt;/div&gt;          // Chaînes</a:t>
            </a:r>
          </a:p>
          <a:p>
            <a:pPr marL="0" indent="0">
              <a:buNone/>
            </a:pPr>
            <a:r>
              <a:rPr lang="fr-FR" sz="2400" dirty="0"/>
              <a:t>&lt;div&gt; { </a:t>
            </a:r>
            <a:r>
              <a:rPr lang="fr-FR" sz="2400" dirty="0">
                <a:solidFill>
                  <a:srgbClr val="00B050"/>
                </a:solidFill>
              </a:rPr>
              <a:t>2 &gt; 0 </a:t>
            </a:r>
            <a:r>
              <a:rPr lang="fr-FR" sz="2400" dirty="0"/>
              <a:t>? </a:t>
            </a:r>
            <a:r>
              <a:rPr lang="fr-FR" sz="2400" dirty="0">
                <a:solidFill>
                  <a:srgbClr val="0070C0"/>
                </a:solidFill>
              </a:rPr>
              <a:t>'Deux est plus grand que zéro' </a:t>
            </a:r>
            <a:r>
              <a:rPr lang="fr-FR" sz="2400" dirty="0"/>
              <a:t>: </a:t>
            </a:r>
            <a:r>
              <a:rPr lang="fr-FR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'Ceci n'apparaitra jamais’ </a:t>
            </a:r>
            <a:r>
              <a:rPr lang="fr-FR" sz="2400" dirty="0"/>
              <a:t>}  &lt;/div&gt;  </a:t>
            </a:r>
            <a:br>
              <a:rPr lang="fr-FR" sz="2400" dirty="0"/>
            </a:br>
            <a:r>
              <a:rPr lang="fr-FR" sz="2400" dirty="0"/>
              <a:t>// Ternaire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573259-B1C6-1617-B2EE-3211D602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C5B14A-9BAA-4B5F-A501-A95D455E9606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DA92CA-F304-56FA-D6CF-D4D4C9AC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2ED52B-01B7-888A-96A6-F6A1060D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mtClean="0"/>
              <a:pPr>
                <a:spcAft>
                  <a:spcPts val="600"/>
                </a:spcAft>
              </a:pPr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117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DE84-22A6-5090-6C51-D3F27D879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9CC53E-5C84-81BE-224F-B710A115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Manipulez des données dans JSX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7FED31-EC16-64CD-6373-B7C8312B3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sz="2400" b="1" dirty="0"/>
              <a:t>On peut afficher des strings, nombres ou variables directement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 err="1">
                <a:solidFill>
                  <a:srgbClr val="FF0000"/>
                </a:solidFill>
              </a:rPr>
              <a:t>const</a:t>
            </a:r>
            <a:r>
              <a:rPr lang="fr-FR" dirty="0"/>
              <a:t> </a:t>
            </a:r>
            <a:r>
              <a:rPr lang="fr-FR" b="1" dirty="0" err="1"/>
              <a:t>myTitle</a:t>
            </a:r>
            <a:r>
              <a:rPr lang="fr-FR" dirty="0"/>
              <a:t> = "Bonjour </a:t>
            </a:r>
            <a:r>
              <a:rPr lang="fr-FR" dirty="0" err="1"/>
              <a:t>React</a:t>
            </a:r>
            <a:r>
              <a:rPr lang="fr-FR" dirty="0"/>
              <a:t>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/>
              <a:t>&lt;div&gt;{ </a:t>
            </a:r>
            <a:r>
              <a:rPr lang="fr-FR" b="1" dirty="0" err="1"/>
              <a:t>myTitle</a:t>
            </a:r>
            <a:r>
              <a:rPr lang="fr-FR" dirty="0"/>
              <a:t> }&lt;/div&gt;   // string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/>
              <a:t>&lt;div&gt; </a:t>
            </a:r>
            <a:r>
              <a:rPr lang="fr-FR" b="1" dirty="0"/>
              <a:t>{ 42 } </a:t>
            </a:r>
            <a:r>
              <a:rPr lang="fr-FR" dirty="0"/>
              <a:t>&lt;/div&gt;         // nombre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b="1" dirty="0"/>
              <a:t>Exemple avec variable dans un composant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 err="1"/>
              <a:t>function</a:t>
            </a:r>
            <a:r>
              <a:rPr lang="fr-FR" dirty="0"/>
              <a:t> Description()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b="1" dirty="0" err="1"/>
              <a:t>text</a:t>
            </a:r>
            <a:r>
              <a:rPr lang="fr-FR" dirty="0"/>
              <a:t> = "Ici achetez toutes les plantes dont vous avez toujours rêvé« 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/>
              <a:t>  return &lt;p&gt;{ </a:t>
            </a:r>
            <a:r>
              <a:rPr lang="fr-FR" b="1" dirty="0" err="1"/>
              <a:t>text</a:t>
            </a:r>
            <a:r>
              <a:rPr lang="fr-FR" dirty="0"/>
              <a:t> }&lt;/p&gt;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/>
              <a:t>}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756459-F82E-8D0D-73C7-EE643774B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C8B8E-EAE4-48EC-90BE-45C8542FED40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F4DA51-E149-04B8-F897-15F731BB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AF2B70-6D06-1A4E-11C0-83258A22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2264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44B8-223E-07D8-14B3-F5DC429D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E184CA-BF37-ACFC-ECFE-6C80DA80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Manipulez des données dans JSX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0C4007-BBAC-3851-4A38-B5EF3FFA0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sz="2000" b="1" dirty="0"/>
              <a:t>On peut appliquer des fonctions JS et combiner des chaînes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400" b="1" i="1" dirty="0" err="1"/>
              <a:t>function</a:t>
            </a:r>
            <a:r>
              <a:rPr lang="fr-FR" sz="2400" b="1" i="1" dirty="0"/>
              <a:t> Description() </a:t>
            </a:r>
            <a:r>
              <a:rPr lang="fr-FR" sz="2400" i="1" dirty="0"/>
              <a:t>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400" i="1" dirty="0"/>
              <a:t>  </a:t>
            </a:r>
            <a:r>
              <a:rPr lang="fr-FR" sz="2400" i="1" dirty="0" err="1"/>
              <a:t>const</a:t>
            </a:r>
            <a:r>
              <a:rPr lang="fr-FR" sz="2400" i="1" dirty="0"/>
              <a:t> </a:t>
            </a:r>
            <a:r>
              <a:rPr lang="fr-FR" sz="2400" b="1" i="1" dirty="0" err="1">
                <a:solidFill>
                  <a:srgbClr val="0070C0"/>
                </a:solidFill>
              </a:rPr>
              <a:t>text</a:t>
            </a:r>
            <a:r>
              <a:rPr lang="fr-FR" sz="2400" i="1" dirty="0"/>
              <a:t> = "Ici achetez toutes les plantes dont vous avez toujours rêvées"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400" i="1" dirty="0"/>
              <a:t>  </a:t>
            </a:r>
            <a:r>
              <a:rPr lang="fr-FR" sz="2400" i="1" dirty="0" err="1"/>
              <a:t>const</a:t>
            </a:r>
            <a:r>
              <a:rPr lang="fr-FR" sz="2400" i="1" dirty="0"/>
              <a:t> </a:t>
            </a:r>
            <a:r>
              <a:rPr lang="fr-FR" sz="2400" b="1" i="1" dirty="0">
                <a:solidFill>
                  <a:srgbClr val="00B050"/>
                </a:solidFill>
              </a:rPr>
              <a:t>emojis</a:t>
            </a:r>
            <a:r>
              <a:rPr lang="fr-FR" sz="2400" i="1" dirty="0"/>
              <a:t> = "🤑🤑🤑"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400" i="1" dirty="0"/>
              <a:t>  return &lt;p&gt;{ </a:t>
            </a:r>
            <a:r>
              <a:rPr lang="fr-FR" sz="2400" b="1" i="1" dirty="0" err="1">
                <a:solidFill>
                  <a:srgbClr val="0070C0"/>
                </a:solidFill>
              </a:rPr>
              <a:t>text</a:t>
            </a:r>
            <a:r>
              <a:rPr lang="fr-FR" sz="2400" i="1" dirty="0" err="1"/>
              <a:t>.slice</a:t>
            </a:r>
            <a:r>
              <a:rPr lang="fr-FR" sz="2400" i="1" dirty="0"/>
              <a:t>(0, 11) </a:t>
            </a:r>
            <a:r>
              <a:rPr lang="fr-FR" sz="2400" b="1" i="1" dirty="0">
                <a:solidFill>
                  <a:srgbClr val="FF0000"/>
                </a:solidFill>
              </a:rPr>
              <a:t>+</a:t>
            </a:r>
            <a:r>
              <a:rPr lang="fr-FR" sz="2400" i="1" dirty="0"/>
              <a:t> </a:t>
            </a:r>
            <a:r>
              <a:rPr lang="fr-FR" sz="2400" b="1" i="1" dirty="0">
                <a:solidFill>
                  <a:srgbClr val="00B050"/>
                </a:solidFill>
              </a:rPr>
              <a:t>emojis</a:t>
            </a:r>
            <a:r>
              <a:rPr lang="fr-FR" sz="2400" i="1" dirty="0"/>
              <a:t> }&lt;/p&gt;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400" i="1" dirty="0"/>
              <a:t>}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D8F57D-A011-BC49-59EE-1F492ADE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E84E4-7AFF-488C-AA4F-F6D6FAFEF13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0D37E4-9F17-D834-652A-E2FE812A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021915-EAC3-ACBF-3D62-457BCCB9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062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E7ED16-5824-4D23-F91A-07E2E7D30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 err="1"/>
              <a:t>React</a:t>
            </a:r>
            <a:r>
              <a:rPr lang="fr-FR" dirty="0"/>
              <a:t> Components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0C5C60-9476-F838-4510-E18334E4C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 dirty="0"/>
              <a:t>Les composants sont des </a:t>
            </a:r>
            <a:r>
              <a:rPr lang="fr-FR" sz="2000" b="1" dirty="0"/>
              <a:t>morceaux</a:t>
            </a:r>
            <a:r>
              <a:rPr lang="fr-FR" sz="2000" dirty="0"/>
              <a:t> de code </a:t>
            </a:r>
            <a:r>
              <a:rPr lang="fr-FR" sz="2000" b="1" dirty="0"/>
              <a:t>indépendants</a:t>
            </a:r>
            <a:r>
              <a:rPr lang="fr-FR" sz="2000" dirty="0"/>
              <a:t> et </a:t>
            </a:r>
            <a:r>
              <a:rPr lang="fr-FR" sz="2000" b="1" dirty="0"/>
              <a:t>réutilisables</a:t>
            </a:r>
            <a:r>
              <a:rPr lang="fr-FR" sz="2000" dirty="0"/>
              <a:t>. </a:t>
            </a:r>
          </a:p>
          <a:p>
            <a:r>
              <a:rPr lang="fr-FR" sz="2000" dirty="0"/>
              <a:t>Elles ont le même objectif que les </a:t>
            </a:r>
            <a:r>
              <a:rPr lang="fr-FR" sz="2000" b="1" dirty="0"/>
              <a:t>fonctions</a:t>
            </a:r>
            <a:r>
              <a:rPr lang="fr-FR" sz="2000" dirty="0"/>
              <a:t> </a:t>
            </a:r>
            <a:r>
              <a:rPr lang="fr-FR" sz="2000" b="1" dirty="0"/>
              <a:t>JavaScript</a:t>
            </a:r>
            <a:r>
              <a:rPr lang="fr-FR" sz="2000" dirty="0"/>
              <a:t>, mais fonctionnent de manière isolée et renvoient du HTML.</a:t>
            </a:r>
          </a:p>
          <a:p>
            <a:r>
              <a:rPr lang="fr-FR" sz="2000" dirty="0"/>
              <a:t> Deux types:</a:t>
            </a:r>
          </a:p>
          <a:p>
            <a:pPr lvl="1"/>
            <a:r>
              <a:rPr lang="fr-FR" sz="2000" dirty="0"/>
              <a:t>Composants de classe </a:t>
            </a:r>
          </a:p>
          <a:p>
            <a:pPr lvl="1"/>
            <a:r>
              <a:rPr lang="fr-FR" sz="2000" dirty="0"/>
              <a:t>Composants de fonction. </a:t>
            </a:r>
          </a:p>
          <a:p>
            <a:r>
              <a:rPr lang="fr-FR" sz="2000" dirty="0"/>
              <a:t>Dans cette formation, nous nous concentrerons sur les composants de fonction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744CC5B-7D50-7D5D-1E03-DF35777FF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195355"/>
            <a:ext cx="4788505" cy="3735033"/>
          </a:xfrm>
          <a:prstGeom prst="rect">
            <a:avLst/>
          </a:prstGeo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D6A24C-B840-B08B-AF47-B9DA806AC5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0BE7B68-B2D9-4E9E-8E9B-2F0791AEF772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B891CC-FDAA-5241-5E6B-7340D2D7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CA92C2-91FD-5382-B3B5-42C53A8B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22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1686932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80415-0604-ABCD-B23C-94F1D103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Exemple: Composant de </a:t>
            </a:r>
            <a:r>
              <a:rPr lang="fr-FR" b="1" dirty="0"/>
              <a:t>classe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F4EC01-DF2B-0E0B-0E94-A28674097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4560" cy="4351338"/>
          </a:xfrm>
        </p:spPr>
        <p:txBody>
          <a:bodyPr/>
          <a:lstStyle/>
          <a:p>
            <a:r>
              <a:rPr lang="fr-FR" dirty="0"/>
              <a:t>Le nom du composant doit :</a:t>
            </a:r>
          </a:p>
          <a:p>
            <a:pPr lvl="1"/>
            <a:r>
              <a:rPr lang="fr-FR" dirty="0"/>
              <a:t>commencer par une </a:t>
            </a:r>
            <a:r>
              <a:rPr lang="fr-FR" b="1" dirty="0"/>
              <a:t>lettre majuscule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Hérité de </a:t>
            </a:r>
            <a:r>
              <a:rPr lang="fr-FR" b="1" dirty="0" err="1"/>
              <a:t>React.Component</a:t>
            </a:r>
            <a:r>
              <a:rPr lang="fr-FR" b="1" dirty="0"/>
              <a:t> 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Le composant nécessite une méthode </a:t>
            </a:r>
            <a:r>
              <a:rPr lang="fr-FR" b="1" dirty="0" err="1"/>
              <a:t>render</a:t>
            </a:r>
            <a:r>
              <a:rPr lang="fr-FR" dirty="0"/>
              <a:t>(), </a:t>
            </a:r>
          </a:p>
          <a:p>
            <a:pPr lvl="1"/>
            <a:r>
              <a:rPr lang="fr-FR" dirty="0"/>
              <a:t>cette méthode renvoie HTML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D898A7-CC54-D03A-EF7A-3CCE2F903654}"/>
              </a:ext>
            </a:extLst>
          </p:cNvPr>
          <p:cNvSpPr txBox="1"/>
          <p:nvPr/>
        </p:nvSpPr>
        <p:spPr>
          <a:xfrm>
            <a:off x="7009745" y="3037642"/>
            <a:ext cx="5029855" cy="34778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dirty="0"/>
              <a:t>import </a:t>
            </a:r>
            <a:r>
              <a:rPr lang="fr-FR" sz="2000" dirty="0" err="1"/>
              <a:t>React</a:t>
            </a:r>
            <a:r>
              <a:rPr lang="fr-FR" sz="2000" dirty="0"/>
              <a:t>, { Component } </a:t>
            </a:r>
            <a:r>
              <a:rPr lang="fr-FR" sz="2000" dirty="0" err="1"/>
              <a:t>from</a:t>
            </a:r>
            <a:r>
              <a:rPr lang="fr-FR" sz="2000" dirty="0"/>
              <a:t> "</a:t>
            </a:r>
            <a:r>
              <a:rPr lang="fr-FR" sz="2000" dirty="0" err="1"/>
              <a:t>react</a:t>
            </a:r>
            <a:r>
              <a:rPr lang="fr-FR" sz="2000" dirty="0"/>
              <a:t>";</a:t>
            </a:r>
          </a:p>
          <a:p>
            <a:endParaRPr lang="fr-FR" sz="2000" dirty="0"/>
          </a:p>
          <a:p>
            <a:r>
              <a:rPr lang="fr-FR" sz="2000" b="1" dirty="0"/>
              <a:t>class</a:t>
            </a:r>
            <a:r>
              <a:rPr lang="fr-FR" sz="2000" dirty="0"/>
              <a:t> </a:t>
            </a:r>
            <a:r>
              <a:rPr lang="fr-FR" sz="2000" b="1" dirty="0">
                <a:solidFill>
                  <a:srgbClr val="FF0000"/>
                </a:solidFill>
              </a:rPr>
              <a:t>Car</a:t>
            </a:r>
            <a:r>
              <a:rPr lang="fr-FR" sz="2000" dirty="0"/>
              <a:t> </a:t>
            </a:r>
            <a:r>
              <a:rPr lang="fr-FR" sz="2000" b="1" dirty="0" err="1"/>
              <a:t>extends</a:t>
            </a:r>
            <a:r>
              <a:rPr lang="fr-FR" sz="2000" dirty="0"/>
              <a:t> </a:t>
            </a:r>
            <a:r>
              <a:rPr lang="fr-FR" sz="2000" b="1" dirty="0">
                <a:solidFill>
                  <a:srgbClr val="00B050"/>
                </a:solidFill>
              </a:rPr>
              <a:t>Component</a:t>
            </a:r>
            <a:r>
              <a:rPr lang="fr-FR" sz="2000" dirty="0"/>
              <a:t> {</a:t>
            </a:r>
          </a:p>
          <a:p>
            <a:r>
              <a:rPr lang="fr-FR" sz="2000" dirty="0"/>
              <a:t>  </a:t>
            </a:r>
            <a:r>
              <a:rPr lang="fr-FR" sz="2000" b="1" dirty="0" err="1"/>
              <a:t>render</a:t>
            </a:r>
            <a:r>
              <a:rPr lang="fr-FR" sz="2000" dirty="0"/>
              <a:t>() {</a:t>
            </a:r>
          </a:p>
          <a:p>
            <a:r>
              <a:rPr lang="fr-FR" sz="2000" dirty="0"/>
              <a:t>    </a:t>
            </a:r>
            <a:r>
              <a:rPr lang="fr-FR" sz="2000" b="1" dirty="0">
                <a:solidFill>
                  <a:srgbClr val="00B0F0"/>
                </a:solidFill>
              </a:rPr>
              <a:t>return</a:t>
            </a:r>
            <a:r>
              <a:rPr lang="fr-FR" sz="2000" dirty="0"/>
              <a:t> (</a:t>
            </a:r>
          </a:p>
          <a:p>
            <a:r>
              <a:rPr lang="fr-FR" sz="2000" dirty="0"/>
              <a:t>      &lt;h2&gt;Hello, je suis votre bagnole 🚗&lt;/h2&gt;</a:t>
            </a:r>
          </a:p>
          <a:p>
            <a:r>
              <a:rPr lang="fr-FR" sz="2000" dirty="0"/>
              <a:t>    );</a:t>
            </a:r>
          </a:p>
          <a:p>
            <a:r>
              <a:rPr lang="fr-FR" sz="2000" dirty="0"/>
              <a:t>  }</a:t>
            </a:r>
          </a:p>
          <a:p>
            <a:r>
              <a:rPr lang="fr-FR" sz="2000" dirty="0"/>
              <a:t>}</a:t>
            </a:r>
          </a:p>
          <a:p>
            <a:endParaRPr lang="fr-FR" sz="2000" dirty="0"/>
          </a:p>
          <a:p>
            <a:r>
              <a:rPr lang="fr-FR" sz="2000" dirty="0"/>
              <a:t>export default Car;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04689C-D0A7-B47B-570D-BC924B90D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B1-A9E1-43B9-B8CD-79A98DC50E2D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DD38BE-CC15-F49C-B881-57E253E5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DCF4C4-F987-D4E5-BCA7-5884A145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1428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A2D3F-337B-91F1-1308-91E5F0D8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D677DC-BF86-D8F4-5DD6-8F2EFDBF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Exemple: Composant de </a:t>
            </a:r>
            <a:r>
              <a:rPr lang="fr-FR" b="1" dirty="0"/>
              <a:t>fonction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9ED2EA-BACC-DE55-49D8-62C859363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4560" cy="4351338"/>
          </a:xfrm>
        </p:spPr>
        <p:txBody>
          <a:bodyPr/>
          <a:lstStyle/>
          <a:p>
            <a:r>
              <a:rPr lang="fr-FR" dirty="0"/>
              <a:t>Un composant </a:t>
            </a:r>
            <a:r>
              <a:rPr lang="fr-FR" dirty="0" err="1"/>
              <a:t>Function</a:t>
            </a:r>
            <a:r>
              <a:rPr lang="fr-FR" dirty="0"/>
              <a:t> renvoie du HTML comme un composant Class.</a:t>
            </a:r>
          </a:p>
          <a:p>
            <a:r>
              <a:rPr lang="fr-FR" dirty="0"/>
              <a:t>Il utilise moins de code et est plus simple à écrire.</a:t>
            </a:r>
          </a:p>
          <a:p>
            <a:r>
              <a:rPr lang="fr-FR" dirty="0"/>
              <a:t>Plus facile à comprendre et maintenir.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C0722B0-E580-5361-950E-BBFF6FC04CFC}"/>
              </a:ext>
            </a:extLst>
          </p:cNvPr>
          <p:cNvSpPr txBox="1"/>
          <p:nvPr/>
        </p:nvSpPr>
        <p:spPr>
          <a:xfrm>
            <a:off x="7009745" y="3037642"/>
            <a:ext cx="5029855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dirty="0"/>
              <a:t>import </a:t>
            </a:r>
            <a:r>
              <a:rPr lang="fr-FR" sz="2000" dirty="0" err="1"/>
              <a:t>React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"</a:t>
            </a:r>
            <a:r>
              <a:rPr lang="fr-FR" sz="2000" dirty="0" err="1"/>
              <a:t>react</a:t>
            </a:r>
            <a:r>
              <a:rPr lang="fr-FR" sz="2000" dirty="0"/>
              <a:t>";</a:t>
            </a:r>
          </a:p>
          <a:p>
            <a:endParaRPr lang="fr-FR" sz="2000" dirty="0"/>
          </a:p>
          <a:p>
            <a:r>
              <a:rPr lang="fr-FR" sz="2000" dirty="0" err="1"/>
              <a:t>function</a:t>
            </a:r>
            <a:r>
              <a:rPr lang="fr-FR" sz="2000" dirty="0"/>
              <a:t> </a:t>
            </a:r>
            <a:r>
              <a:rPr lang="fr-FR" sz="2000" b="1" dirty="0"/>
              <a:t>Car</a:t>
            </a:r>
            <a:r>
              <a:rPr lang="fr-FR" sz="2000" dirty="0"/>
              <a:t>() {</a:t>
            </a:r>
          </a:p>
          <a:p>
            <a:r>
              <a:rPr lang="fr-FR" sz="2000" dirty="0"/>
              <a:t>  </a:t>
            </a:r>
            <a:r>
              <a:rPr lang="fr-FR" sz="2000" b="1" dirty="0"/>
              <a:t>return</a:t>
            </a:r>
            <a:r>
              <a:rPr lang="fr-FR" sz="2000" dirty="0"/>
              <a:t> (</a:t>
            </a:r>
          </a:p>
          <a:p>
            <a:r>
              <a:rPr lang="fr-FR" sz="2000" dirty="0"/>
              <a:t>    &lt;h2&gt;Hello, je suis votre bagnole 🚗&lt;/h2&gt;</a:t>
            </a:r>
          </a:p>
          <a:p>
            <a:r>
              <a:rPr lang="fr-FR" sz="2000" dirty="0"/>
              <a:t>  );</a:t>
            </a:r>
          </a:p>
          <a:p>
            <a:r>
              <a:rPr lang="fr-FR" sz="2000" dirty="0"/>
              <a:t>}</a:t>
            </a:r>
          </a:p>
          <a:p>
            <a:endParaRPr lang="fr-FR" sz="2000" dirty="0"/>
          </a:p>
          <a:p>
            <a:r>
              <a:rPr lang="fr-FR" sz="2000" b="1" dirty="0"/>
              <a:t>export default Car;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207385-6A2B-3A7B-20CC-977BF63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39F2-9BA8-4054-A81C-A91F16334634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8BFC1F-139F-2C6C-7CA1-4D01EDE6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D86472-3964-A486-FD1B-C38DB510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937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3B8555-C82F-60C8-2533-83082410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Rendu d'un composant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B60198-C6E9-50C3-E3CF-801FB3380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28960" cy="2045335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Un composant appelé Car, qui renvoie un élément </a:t>
            </a:r>
            <a:r>
              <a:rPr lang="fr-FR" b="1" dirty="0"/>
              <a:t>&lt;h2&gt;.</a:t>
            </a:r>
          </a:p>
          <a:p>
            <a:r>
              <a:rPr lang="fr-FR" dirty="0"/>
              <a:t> Pour utiliser ce composant dans votre application, utilise une syntaxe  similaire à celle du HTML normal : </a:t>
            </a:r>
            <a:r>
              <a:rPr lang="fr-FR" b="1" dirty="0"/>
              <a:t>&lt;Car /&gt;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9A28585-0AB6-E100-6625-A254D751ABF9}"/>
              </a:ext>
            </a:extLst>
          </p:cNvPr>
          <p:cNvSpPr txBox="1"/>
          <p:nvPr/>
        </p:nvSpPr>
        <p:spPr>
          <a:xfrm>
            <a:off x="502920" y="3317501"/>
            <a:ext cx="758952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// app/src/</a:t>
            </a:r>
            <a:r>
              <a:rPr lang="fr-FR" b="1" dirty="0" err="1"/>
              <a:t>main.jsx</a:t>
            </a:r>
            <a:endParaRPr lang="fr-FR" b="1" dirty="0"/>
          </a:p>
          <a:p>
            <a:r>
              <a:rPr lang="fr-FR" dirty="0"/>
              <a:t>import { </a:t>
            </a:r>
            <a:r>
              <a:rPr lang="fr-FR" dirty="0" err="1"/>
              <a:t>StrictMode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'</a:t>
            </a:r>
            <a:r>
              <a:rPr lang="fr-FR" dirty="0" err="1"/>
              <a:t>react</a:t>
            </a:r>
            <a:r>
              <a:rPr lang="fr-FR" dirty="0"/>
              <a:t>'</a:t>
            </a:r>
          </a:p>
          <a:p>
            <a:r>
              <a:rPr lang="fr-FR" dirty="0"/>
              <a:t>import { </a:t>
            </a:r>
            <a:r>
              <a:rPr lang="fr-FR" dirty="0" err="1"/>
              <a:t>createRoot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'</a:t>
            </a:r>
            <a:r>
              <a:rPr lang="fr-FR" dirty="0" err="1"/>
              <a:t>react</a:t>
            </a:r>
            <a:r>
              <a:rPr lang="fr-FR" dirty="0"/>
              <a:t>-dom/client'</a:t>
            </a:r>
          </a:p>
          <a:p>
            <a:r>
              <a:rPr lang="fr-FR" b="1" dirty="0"/>
              <a:t>import Car </a:t>
            </a:r>
            <a:r>
              <a:rPr lang="fr-FR" b="1" dirty="0" err="1"/>
              <a:t>from</a:t>
            </a:r>
            <a:r>
              <a:rPr lang="fr-FR" b="1" dirty="0"/>
              <a:t> './</a:t>
            </a:r>
            <a:r>
              <a:rPr lang="fr-FR" b="1" dirty="0" err="1"/>
              <a:t>Car.jsx</a:t>
            </a:r>
            <a:r>
              <a:rPr lang="fr-FR" b="1" dirty="0"/>
              <a:t>'</a:t>
            </a:r>
          </a:p>
          <a:p>
            <a:endParaRPr lang="fr-FR" dirty="0"/>
          </a:p>
          <a:p>
            <a:r>
              <a:rPr lang="fr-FR" dirty="0" err="1"/>
              <a:t>createRoot</a:t>
            </a:r>
            <a:r>
              <a:rPr lang="fr-FR" dirty="0"/>
              <a:t>(</a:t>
            </a:r>
            <a:r>
              <a:rPr lang="fr-FR" dirty="0" err="1"/>
              <a:t>document.getElementById</a:t>
            </a:r>
            <a:r>
              <a:rPr lang="fr-FR" dirty="0"/>
              <a:t>('root')).</a:t>
            </a:r>
            <a:r>
              <a:rPr lang="fr-FR" dirty="0" err="1"/>
              <a:t>render</a:t>
            </a:r>
            <a:r>
              <a:rPr lang="fr-FR" dirty="0"/>
              <a:t>(</a:t>
            </a:r>
          </a:p>
          <a:p>
            <a:r>
              <a:rPr lang="fr-FR" dirty="0"/>
              <a:t>  &lt;</a:t>
            </a:r>
            <a:r>
              <a:rPr lang="fr-FR" dirty="0" err="1"/>
              <a:t>StrictMode</a:t>
            </a:r>
            <a:r>
              <a:rPr lang="fr-FR" dirty="0"/>
              <a:t>&gt;</a:t>
            </a:r>
          </a:p>
          <a:p>
            <a:r>
              <a:rPr lang="fr-FR" b="1" dirty="0"/>
              <a:t>    &lt;Car /&gt;</a:t>
            </a:r>
          </a:p>
          <a:p>
            <a:r>
              <a:rPr lang="fr-FR" dirty="0"/>
              <a:t>  &lt;/</a:t>
            </a:r>
            <a:r>
              <a:rPr lang="fr-FR" dirty="0" err="1"/>
              <a:t>StrictMode</a:t>
            </a:r>
            <a:r>
              <a:rPr lang="fr-FR" dirty="0"/>
              <a:t>&gt;,</a:t>
            </a:r>
          </a:p>
          <a:p>
            <a:r>
              <a:rPr lang="fr-FR" dirty="0"/>
              <a:t>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6A2F947-457B-9845-F1F1-544CAF32FBD5}"/>
              </a:ext>
            </a:extLst>
          </p:cNvPr>
          <p:cNvSpPr txBox="1"/>
          <p:nvPr/>
        </p:nvSpPr>
        <p:spPr>
          <a:xfrm>
            <a:off x="8610600" y="3317501"/>
            <a:ext cx="2743200" cy="9848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{/* Fichier index.html */}</a:t>
            </a:r>
            <a:endParaRPr lang="fr-FR" sz="2000" b="1" dirty="0">
              <a:solidFill>
                <a:schemeClr val="tx1"/>
              </a:solidFill>
            </a:endParaRPr>
          </a:p>
          <a:p>
            <a:endParaRPr lang="fr-FR" sz="2000" dirty="0"/>
          </a:p>
          <a:p>
            <a:r>
              <a:rPr lang="fr-FR" sz="2000" dirty="0"/>
              <a:t>&lt;div id="root"&gt;&lt;/div&gt;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A7DF65-895F-6286-34C1-024B4989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639D-972F-4C9B-BDC7-EACA88BE99DD}" type="datetime1">
              <a:rPr lang="en-US" smtClean="0"/>
              <a:t>11/19/2025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B571A0A-CA1B-C0C0-1855-577D34F2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3C079B8-D7DD-5A03-FBF1-1D42B5DD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25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9C23425-E021-273C-9FC4-8C4E15244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17" y="4728087"/>
            <a:ext cx="2495766" cy="14517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7622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B24360-91EA-62E9-A0F1-0C7C580D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Composant dans un autre Composant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43DBEE-FB11-E448-BF69-EA8B20271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148145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fr-FR" sz="2400" dirty="0"/>
              <a:t>Nous pouvons faire référence à des composants à l'intérieur d'autres composants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13EF29-4DB1-766E-940D-81488E444262}"/>
              </a:ext>
            </a:extLst>
          </p:cNvPr>
          <p:cNvSpPr txBox="1"/>
          <p:nvPr/>
        </p:nvSpPr>
        <p:spPr>
          <a:xfrm>
            <a:off x="6248402" y="1690688"/>
            <a:ext cx="4820678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// Composant Car</a:t>
            </a:r>
          </a:p>
          <a:p>
            <a:r>
              <a:rPr lang="fr-FR" b="1" dirty="0" err="1">
                <a:solidFill>
                  <a:srgbClr val="00B050"/>
                </a:solidFill>
              </a:rPr>
              <a:t>function</a:t>
            </a:r>
            <a:r>
              <a:rPr lang="fr-FR" b="1" dirty="0">
                <a:solidFill>
                  <a:srgbClr val="00B050"/>
                </a:solidFill>
              </a:rPr>
              <a:t> Car() {</a:t>
            </a:r>
          </a:p>
          <a:p>
            <a:r>
              <a:rPr lang="fr-FR" b="1" dirty="0">
                <a:solidFill>
                  <a:srgbClr val="00B050"/>
                </a:solidFill>
              </a:rPr>
              <a:t>  return &lt;h2&gt;Voiture&lt;/h2&gt;;</a:t>
            </a:r>
          </a:p>
          <a:p>
            <a:r>
              <a:rPr lang="fr-FR" b="1" dirty="0">
                <a:solidFill>
                  <a:srgbClr val="00B050"/>
                </a:solidFill>
              </a:rPr>
              <a:t>}</a:t>
            </a:r>
          </a:p>
          <a:p>
            <a:endParaRPr lang="fr-FR" dirty="0"/>
          </a:p>
          <a:p>
            <a:r>
              <a:rPr lang="fr-FR" dirty="0"/>
              <a:t>// Composant Garage qui contient Car</a:t>
            </a:r>
          </a:p>
          <a:p>
            <a:r>
              <a:rPr lang="fr-FR" b="1" dirty="0" err="1"/>
              <a:t>function</a:t>
            </a:r>
            <a:r>
              <a:rPr lang="fr-FR" b="1" dirty="0"/>
              <a:t> Garage() {</a:t>
            </a:r>
          </a:p>
          <a:p>
            <a:r>
              <a:rPr lang="fr-FR" b="1" dirty="0"/>
              <a:t>  return (</a:t>
            </a:r>
          </a:p>
          <a:p>
            <a:r>
              <a:rPr lang="fr-FR" b="1" dirty="0"/>
              <a:t>    &lt;div&gt;</a:t>
            </a:r>
          </a:p>
          <a:p>
            <a:r>
              <a:rPr lang="fr-FR" b="1" dirty="0"/>
              <a:t>      &lt;h1&gt;Mon Garage&lt;/h1&gt;</a:t>
            </a:r>
          </a:p>
          <a:p>
            <a:r>
              <a:rPr lang="fr-FR" b="1" dirty="0">
                <a:solidFill>
                  <a:srgbClr val="00B050"/>
                </a:solidFill>
              </a:rPr>
              <a:t>      &lt;Car /&gt;</a:t>
            </a:r>
          </a:p>
          <a:p>
            <a:r>
              <a:rPr lang="fr-FR" b="1" dirty="0"/>
              <a:t>    &lt;/div&gt;</a:t>
            </a:r>
          </a:p>
          <a:p>
            <a:r>
              <a:rPr lang="fr-FR" b="1" dirty="0"/>
              <a:t>  );</a:t>
            </a:r>
          </a:p>
          <a:p>
            <a:r>
              <a:rPr lang="fr-FR" b="1" dirty="0"/>
              <a:t>}</a:t>
            </a:r>
          </a:p>
          <a:p>
            <a:endParaRPr lang="fr-FR" dirty="0"/>
          </a:p>
          <a:p>
            <a:r>
              <a:rPr lang="fr-FR" dirty="0"/>
              <a:t>export default Garage;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D2B56E-CEC0-5AA9-1921-6CC75528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A8F4-F5C3-4104-8E32-6A97F68700F0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B745EC-EEEB-F115-41E3-BC88C949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BA1200-ABE4-ACEE-660C-337025EA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655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C02F7-1FF8-E162-8E8D-98286C88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10CA51A-6736-98D0-005F-7CB3941A7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D87AA9EA-4512-27D2-5C38-B7F649417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dirty="0"/>
              <a:t>Dans </a:t>
            </a:r>
            <a:r>
              <a:rPr lang="fr-FR" dirty="0" err="1"/>
              <a:t>FirstApp</a:t>
            </a:r>
            <a:endParaRPr lang="fr-FR" dirty="0"/>
          </a:p>
          <a:p>
            <a:r>
              <a:rPr lang="fr-FR" b="1" dirty="0"/>
              <a:t>Atelier 02.01 JSX composant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3C4FF1D-BE55-0DED-7596-10B6E0C2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914292C0-8770-ECA7-10FD-3ACFAA08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3585E-0B77-4466-B5A0-2F016F47032F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3105F93-0586-31E1-539C-FE735078C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C4C3A84-23D2-762A-B128-DC241167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1406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FD6FA6-3B9C-45D4-341C-EDC7E3DFC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Component </a:t>
            </a:r>
            <a:r>
              <a:rPr lang="fr-FR" dirty="0" err="1"/>
              <a:t>Constructor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4E0D95-126A-C85D-4936-4BA3357AC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/>
              <a:t>Le constructor() s’exécute lors de la création d’un composant.</a:t>
            </a:r>
          </a:p>
          <a:p>
            <a:r>
              <a:rPr lang="fr-FR" sz="2000"/>
              <a:t>Il initialise les propriétés internes, notamment le state.</a:t>
            </a:r>
          </a:p>
          <a:p>
            <a:r>
              <a:rPr lang="fr-FR" sz="2000"/>
              <a:t>Les données internes du composant sont stockées dans state.</a:t>
            </a:r>
          </a:p>
          <a:p>
            <a:r>
              <a:rPr lang="fr-FR" sz="2000"/>
              <a:t>Il doit appeler super() pour respecter l’héritage.</a:t>
            </a:r>
          </a:p>
          <a:p>
            <a:r>
              <a:rPr lang="fr-FR" sz="2000"/>
              <a:t>super() permet d’exécuter le constructeur du parent et d’accéder aux fonctionnalités de React.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77DB52-41EA-68CD-9B9F-378371667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5525E6-1C29-47D3-0DFC-5419A026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28E3BC4-85AE-4F3C-8743-D2BD983C6210}" type="datetime1">
              <a:rPr lang="en-US" sz="1000"/>
              <a:pPr>
                <a:spcAft>
                  <a:spcPts val="600"/>
                </a:spcAft>
              </a:pPr>
              <a:t>11/19/2025</a:t>
            </a:fld>
            <a:endParaRPr lang="fr-FR" sz="10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8B42ED-7EA3-EBE2-4A1B-A579CEB30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5BFB81-C8BE-87DB-73D1-50BE7418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28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1594640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71DB0-4C85-EC05-C66F-43B52E2D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5F864-8FDD-03F3-98BD-F71B6709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Component Constructor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B5A590B-366C-9FDA-F234-DA07A8A7E374}"/>
              </a:ext>
            </a:extLst>
          </p:cNvPr>
          <p:cNvSpPr txBox="1"/>
          <p:nvPr/>
        </p:nvSpPr>
        <p:spPr>
          <a:xfrm>
            <a:off x="640080" y="1533168"/>
            <a:ext cx="5846472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import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r>
              <a:rPr lang="fr-FR" dirty="0"/>
              <a:t>class </a:t>
            </a:r>
            <a:r>
              <a:rPr lang="fr-FR" b="1" dirty="0"/>
              <a:t>Car</a:t>
            </a:r>
            <a:r>
              <a:rPr lang="fr-FR" dirty="0"/>
              <a:t> </a:t>
            </a:r>
            <a:r>
              <a:rPr lang="fr-FR" dirty="0" err="1"/>
              <a:t>extends</a:t>
            </a:r>
            <a:r>
              <a:rPr lang="fr-FR" dirty="0"/>
              <a:t> </a:t>
            </a:r>
            <a:r>
              <a:rPr lang="fr-FR" dirty="0" err="1"/>
              <a:t>React.Component</a:t>
            </a:r>
            <a:r>
              <a:rPr lang="fr-FR" dirty="0"/>
              <a:t> {</a:t>
            </a:r>
          </a:p>
          <a:p>
            <a:r>
              <a:rPr lang="fr-FR" dirty="0"/>
              <a:t>  </a:t>
            </a:r>
            <a:r>
              <a:rPr lang="fr-FR" dirty="0" err="1"/>
              <a:t>constructor</a:t>
            </a:r>
            <a:r>
              <a:rPr lang="fr-FR" dirty="0"/>
              <a:t>() {</a:t>
            </a:r>
          </a:p>
          <a:p>
            <a:r>
              <a:rPr lang="fr-FR" dirty="0"/>
              <a:t>    </a:t>
            </a:r>
            <a:r>
              <a:rPr lang="fr-FR" b="1" dirty="0"/>
              <a:t>super();</a:t>
            </a:r>
          </a:p>
          <a:p>
            <a:r>
              <a:rPr lang="fr-FR" dirty="0"/>
              <a:t>    // Définition du state</a:t>
            </a:r>
          </a:p>
          <a:p>
            <a:r>
              <a:rPr lang="fr-FR" b="1" dirty="0"/>
              <a:t>    </a:t>
            </a:r>
            <a:r>
              <a:rPr lang="fr-FR" b="1" dirty="0" err="1"/>
              <a:t>this.state</a:t>
            </a:r>
            <a:r>
              <a:rPr lang="fr-FR" b="1" dirty="0"/>
              <a:t> = {</a:t>
            </a:r>
          </a:p>
          <a:p>
            <a:r>
              <a:rPr lang="fr-FR" b="1" dirty="0"/>
              <a:t>      </a:t>
            </a:r>
            <a:r>
              <a:rPr lang="fr-FR" b="1" dirty="0" err="1"/>
              <a:t>color</a:t>
            </a:r>
            <a:r>
              <a:rPr lang="fr-FR" b="1" dirty="0"/>
              <a:t>: "Rouge"</a:t>
            </a:r>
          </a:p>
          <a:p>
            <a:r>
              <a:rPr lang="fr-FR" b="1" dirty="0"/>
              <a:t>    };</a:t>
            </a:r>
          </a:p>
          <a:p>
            <a:r>
              <a:rPr lang="fr-FR" dirty="0"/>
              <a:t>  }</a:t>
            </a:r>
          </a:p>
          <a:p>
            <a:r>
              <a:rPr lang="fr-FR" dirty="0"/>
              <a:t>  </a:t>
            </a:r>
            <a:r>
              <a:rPr lang="fr-FR" dirty="0" err="1"/>
              <a:t>render</a:t>
            </a:r>
            <a:r>
              <a:rPr lang="fr-FR" dirty="0"/>
              <a:t>() {</a:t>
            </a:r>
          </a:p>
          <a:p>
            <a:r>
              <a:rPr lang="fr-FR" dirty="0"/>
              <a:t>    return (</a:t>
            </a:r>
          </a:p>
          <a:p>
            <a:r>
              <a:rPr lang="fr-FR" dirty="0"/>
              <a:t>      &lt;p&gt;La couleur de la voiture est : {</a:t>
            </a:r>
            <a:r>
              <a:rPr lang="fr-FR" b="1" dirty="0" err="1"/>
              <a:t>this.state.color</a:t>
            </a:r>
            <a:r>
              <a:rPr lang="fr-FR" dirty="0"/>
              <a:t>}&lt;/p&gt;</a:t>
            </a:r>
          </a:p>
          <a:p>
            <a:r>
              <a:rPr lang="fr-FR" dirty="0"/>
              <a:t>    );</a:t>
            </a:r>
          </a:p>
          <a:p>
            <a:r>
              <a:rPr lang="fr-FR" dirty="0"/>
              <a:t>  }</a:t>
            </a:r>
          </a:p>
          <a:p>
            <a:r>
              <a:rPr lang="fr-FR" dirty="0"/>
              <a:t>}</a:t>
            </a:r>
          </a:p>
          <a:p>
            <a:endParaRPr lang="fr-FR" dirty="0"/>
          </a:p>
          <a:p>
            <a:r>
              <a:rPr lang="fr-FR" dirty="0"/>
              <a:t>export default Car;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16416C-AD70-6409-42F6-39A6DBEAC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162" y="3646128"/>
            <a:ext cx="4587638" cy="967824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6A6ADF2-D951-25B9-8FC4-F232028D5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3FC65-CE21-490D-B098-BB5DAF0922A0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DC79DC-4487-BE5E-CB73-138C0232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00CDFF-473C-430F-CD46-58D48867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584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0AF70-38A6-D8D5-5B8F-75D60583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rôle de super() dans le </a:t>
            </a:r>
            <a:r>
              <a:rPr lang="fr-FR" dirty="0" err="1"/>
              <a:t>constructor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657AB-9230-D5EA-23E8-B4DB9FDEE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fr-FR" dirty="0"/>
              <a:t>Dans les composants classe, on écrit :</a:t>
            </a:r>
          </a:p>
          <a:p>
            <a:pPr rtl="0">
              <a:lnSpc>
                <a:spcPct val="110000"/>
              </a:lnSpc>
              <a:buNone/>
            </a:pPr>
            <a:r>
              <a:rPr lang="fr-FR" dirty="0" err="1">
                <a:latin typeface="Courier New" panose="02070309020205020404" pitchFamily="49" charset="0"/>
              </a:rPr>
              <a:t>constructor</a:t>
            </a:r>
            <a:r>
              <a:rPr lang="fr-FR" dirty="0">
                <a:latin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</a:rPr>
              <a:t>props</a:t>
            </a:r>
            <a:r>
              <a:rPr lang="fr-FR" dirty="0">
                <a:latin typeface="Courier New" panose="02070309020205020404" pitchFamily="49" charset="0"/>
              </a:rPr>
              <a:t>) {</a:t>
            </a:r>
          </a:p>
          <a:p>
            <a:pPr rtl="0">
              <a:lnSpc>
                <a:spcPct val="110000"/>
              </a:lnSpc>
              <a:buNone/>
            </a:pPr>
            <a:r>
              <a:rPr lang="fr-FR" dirty="0">
                <a:latin typeface="Courier New" panose="02070309020205020404" pitchFamily="49" charset="0"/>
              </a:rPr>
              <a:t>  super(</a:t>
            </a:r>
            <a:r>
              <a:rPr lang="fr-FR" dirty="0" err="1">
                <a:latin typeface="Courier New" panose="02070309020205020404" pitchFamily="49" charset="0"/>
              </a:rPr>
              <a:t>props</a:t>
            </a:r>
            <a:r>
              <a:rPr lang="fr-FR" dirty="0">
                <a:latin typeface="Courier New" panose="02070309020205020404" pitchFamily="49" charset="0"/>
              </a:rPr>
              <a:t>);</a:t>
            </a:r>
          </a:p>
          <a:p>
            <a:pPr rtl="0">
              <a:lnSpc>
                <a:spcPct val="110000"/>
              </a:lnSpc>
              <a:buNone/>
            </a:pPr>
            <a:r>
              <a:rPr lang="fr-FR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  <a:buNone/>
            </a:pPr>
            <a:r>
              <a:rPr lang="fr-FR" b="1" dirty="0"/>
              <a:t>Pourquoi ?</a:t>
            </a:r>
          </a:p>
          <a:p>
            <a:pPr>
              <a:lnSpc>
                <a:spcPct val="110000"/>
              </a:lnSpc>
              <a:buNone/>
            </a:pPr>
            <a:r>
              <a:rPr lang="fr-FR" dirty="0">
                <a:latin typeface="Courier New" panose="02070309020205020404" pitchFamily="49" charset="0"/>
              </a:rPr>
              <a:t>super(</a:t>
            </a:r>
            <a:r>
              <a:rPr lang="fr-FR" dirty="0" err="1">
                <a:latin typeface="Courier New" panose="02070309020205020404" pitchFamily="49" charset="0"/>
              </a:rPr>
              <a:t>props</a:t>
            </a:r>
            <a:r>
              <a:rPr lang="fr-FR" dirty="0">
                <a:latin typeface="Courier New" panose="02070309020205020404" pitchFamily="49" charset="0"/>
              </a:rPr>
              <a:t>)</a:t>
            </a:r>
            <a:r>
              <a:rPr lang="fr-FR" dirty="0"/>
              <a:t> appelle le constructeur de </a:t>
            </a:r>
            <a:r>
              <a:rPr lang="fr-FR" dirty="0" err="1">
                <a:latin typeface="Courier New" panose="02070309020205020404" pitchFamily="49" charset="0"/>
              </a:rPr>
              <a:t>React.Component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ce qui permet à notre composant </a:t>
            </a:r>
            <a:r>
              <a:rPr lang="fr-FR" b="1" dirty="0"/>
              <a:t>d’utiliser </a:t>
            </a:r>
            <a:r>
              <a:rPr lang="fr-FR" b="1" dirty="0" err="1">
                <a:latin typeface="Courier New" panose="02070309020205020404" pitchFamily="49" charset="0"/>
              </a:rPr>
              <a:t>this.props</a:t>
            </a:r>
            <a:r>
              <a:rPr lang="fr-FR" dirty="0"/>
              <a:t> correctement.</a:t>
            </a:r>
          </a:p>
          <a:p>
            <a:pPr>
              <a:lnSpc>
                <a:spcPct val="110000"/>
              </a:lnSpc>
              <a:buNone/>
            </a:pPr>
            <a:r>
              <a:rPr lang="fr-FR" dirty="0"/>
              <a:t>Sans </a:t>
            </a:r>
            <a:r>
              <a:rPr lang="fr-FR" dirty="0">
                <a:latin typeface="Courier New" panose="02070309020205020404" pitchFamily="49" charset="0"/>
              </a:rPr>
              <a:t>super(</a:t>
            </a:r>
            <a:r>
              <a:rPr lang="fr-FR" dirty="0" err="1">
                <a:latin typeface="Courier New" panose="02070309020205020404" pitchFamily="49" charset="0"/>
              </a:rPr>
              <a:t>props</a:t>
            </a:r>
            <a:r>
              <a:rPr lang="fr-FR" dirty="0">
                <a:latin typeface="Courier New" panose="02070309020205020404" pitchFamily="49" charset="0"/>
              </a:rPr>
              <a:t>)</a:t>
            </a:r>
            <a:r>
              <a:rPr lang="fr-FR" dirty="0"/>
              <a:t>, </a:t>
            </a:r>
            <a:r>
              <a:rPr lang="fr-FR" dirty="0" err="1"/>
              <a:t>React</a:t>
            </a:r>
            <a:r>
              <a:rPr lang="fr-FR" dirty="0"/>
              <a:t> ne peut pas initialiser le composant → </a:t>
            </a:r>
            <a:r>
              <a:rPr lang="fr-FR" b="1" dirty="0"/>
              <a:t>erreur</a:t>
            </a:r>
            <a:r>
              <a:rPr lang="fr-FR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9583DB-17A9-BB9A-89D3-32AE4785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225A-111B-4013-B650-73042A658A3A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B870BF-65B9-E85B-A156-E295D578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DE3367-0DA3-31F3-2FA4-125CA60B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842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895352-E007-B053-046C-4DFEBCD8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Qu’est-ce que state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E44FF-81D2-2AF8-896B-6DF1CDFA3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b="1" dirty="0"/>
              <a:t>Définition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state représente l’état interne d’un composant.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Il permet de stocker des données qui peuvent changer dans le temps.</a:t>
            </a:r>
          </a:p>
          <a:p>
            <a:pPr>
              <a:lnSpc>
                <a:spcPct val="100000"/>
              </a:lnSpc>
            </a:pPr>
            <a:r>
              <a:rPr lang="fr-FR" b="1" dirty="0"/>
              <a:t>Caractéristiques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/>
              <a:t>Modifiable </a:t>
            </a:r>
            <a:r>
              <a:rPr lang="fr-FR" b="1" dirty="0"/>
              <a:t>à l’intérieur du composant</a:t>
            </a:r>
            <a:endParaRPr lang="fr-FR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/>
              <a:t>Le rendu </a:t>
            </a:r>
            <a:r>
              <a:rPr lang="fr-FR" b="1" dirty="0"/>
              <a:t>se met à jour automatiquement</a:t>
            </a:r>
            <a:r>
              <a:rPr lang="fr-FR" dirty="0"/>
              <a:t> lorsque </a:t>
            </a:r>
            <a:r>
              <a:rPr lang="fr-FR" dirty="0">
                <a:latin typeface="Courier New" panose="02070309020205020404" pitchFamily="49" charset="0"/>
              </a:rPr>
              <a:t>state</a:t>
            </a:r>
            <a:r>
              <a:rPr lang="fr-FR" dirty="0"/>
              <a:t> change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/>
              <a:t>Utilisé pour gérer </a:t>
            </a:r>
            <a:r>
              <a:rPr lang="fr-FR" b="1" dirty="0"/>
              <a:t>interactions, formulaires, compteurs, affichage dynamique…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9D2C24-81B0-7002-E934-9C2E415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9535-AA06-435D-B8DF-FE8B74EF205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049466-4F2C-F599-DBD1-9A4D0F50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FAF834-1812-4618-CDE0-4C509C62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811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C772-BC8B-9AFA-D63F-A710D4D9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C77FAD-82BE-8170-784C-E2347543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Qu’est-ce que state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F98DEB-D331-0E8E-0625-465B301427A1}"/>
              </a:ext>
            </a:extLst>
          </p:cNvPr>
          <p:cNvSpPr txBox="1"/>
          <p:nvPr/>
        </p:nvSpPr>
        <p:spPr>
          <a:xfrm>
            <a:off x="1127760" y="1997839"/>
            <a:ext cx="8564880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400" dirty="0"/>
              <a:t>class </a:t>
            </a:r>
            <a:r>
              <a:rPr lang="fr-FR" sz="2400" b="1" dirty="0"/>
              <a:t>Car</a:t>
            </a:r>
            <a:r>
              <a:rPr lang="fr-FR" sz="2400" dirty="0"/>
              <a:t> </a:t>
            </a:r>
            <a:r>
              <a:rPr lang="fr-FR" sz="2400" dirty="0" err="1"/>
              <a:t>extends</a:t>
            </a:r>
            <a:r>
              <a:rPr lang="fr-FR" sz="2400" dirty="0"/>
              <a:t> </a:t>
            </a:r>
            <a:r>
              <a:rPr lang="fr-FR" sz="2400" dirty="0" err="1"/>
              <a:t>React.Component</a:t>
            </a:r>
            <a:r>
              <a:rPr lang="fr-FR" sz="2400" dirty="0"/>
              <a:t> {</a:t>
            </a:r>
          </a:p>
          <a:p>
            <a:r>
              <a:rPr lang="fr-FR" sz="2400" dirty="0"/>
              <a:t>  </a:t>
            </a:r>
            <a:r>
              <a:rPr lang="fr-FR" sz="2400" dirty="0" err="1"/>
              <a:t>constructor</a:t>
            </a:r>
            <a:r>
              <a:rPr lang="fr-FR" sz="2400" dirty="0"/>
              <a:t>() {</a:t>
            </a:r>
          </a:p>
          <a:p>
            <a:r>
              <a:rPr lang="fr-FR" sz="2400" dirty="0"/>
              <a:t>    super();</a:t>
            </a:r>
          </a:p>
          <a:p>
            <a:r>
              <a:rPr lang="fr-FR" sz="2400" dirty="0"/>
              <a:t>    </a:t>
            </a:r>
            <a:r>
              <a:rPr lang="fr-FR" sz="2400" dirty="0" err="1"/>
              <a:t>this.</a:t>
            </a:r>
            <a:r>
              <a:rPr lang="fr-FR" sz="2400" b="1" dirty="0" err="1"/>
              <a:t>state</a:t>
            </a:r>
            <a:r>
              <a:rPr lang="fr-FR" sz="2400" dirty="0"/>
              <a:t> = { speed: 0 };</a:t>
            </a:r>
          </a:p>
          <a:p>
            <a:r>
              <a:rPr lang="fr-FR" sz="2400" dirty="0"/>
              <a:t>  }</a:t>
            </a:r>
          </a:p>
          <a:p>
            <a:endParaRPr lang="fr-FR" sz="2400" dirty="0"/>
          </a:p>
          <a:p>
            <a:r>
              <a:rPr lang="fr-FR" sz="2400" dirty="0"/>
              <a:t>  </a:t>
            </a:r>
            <a:r>
              <a:rPr lang="fr-FR" sz="2400" dirty="0" err="1"/>
              <a:t>render</a:t>
            </a:r>
            <a:r>
              <a:rPr lang="fr-FR" sz="2400" dirty="0"/>
              <a:t>() {</a:t>
            </a:r>
          </a:p>
          <a:p>
            <a:r>
              <a:rPr lang="fr-FR" sz="2400" dirty="0"/>
              <a:t>    return &lt;p&gt;Vitesse actuelle : {</a:t>
            </a:r>
            <a:r>
              <a:rPr lang="fr-FR" sz="2400" dirty="0" err="1"/>
              <a:t>this.</a:t>
            </a:r>
            <a:r>
              <a:rPr lang="fr-FR" sz="2400" b="1" dirty="0" err="1"/>
              <a:t>state</a:t>
            </a:r>
            <a:r>
              <a:rPr lang="fr-FR" sz="2400" dirty="0" err="1"/>
              <a:t>.speed</a:t>
            </a:r>
            <a:r>
              <a:rPr lang="fr-FR" sz="2400" dirty="0"/>
              <a:t>} km/h&lt;/p&gt;;</a:t>
            </a:r>
          </a:p>
          <a:p>
            <a:r>
              <a:rPr lang="fr-FR" sz="2400" dirty="0"/>
              <a:t>  }</a:t>
            </a:r>
          </a:p>
          <a:p>
            <a:r>
              <a:rPr lang="fr-FR" sz="2400" dirty="0"/>
              <a:t>}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4018C52-D771-490E-743A-05ADA391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97E-DC1F-4649-8E01-8299897E9D95}" type="datetime1">
              <a:rPr lang="en-US" smtClean="0"/>
              <a:t>11/19/2025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EB1AFB-B5F4-1E0E-5324-F9E9B55E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687807-582E-62EF-95F8-E84C8989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83849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CFA4F3-682B-D30A-35FC-BF55F4F69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Modification de l’état (State) dans un composant classe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38C9B1-A618-F6A2-EF89-5FE57828C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fr-FR" dirty="0"/>
              <a:t>Pour modifier une valeur dans </a:t>
            </a:r>
            <a:r>
              <a:rPr lang="fr-FR" b="1" dirty="0"/>
              <a:t>state</a:t>
            </a:r>
            <a:r>
              <a:rPr lang="fr-FR" dirty="0"/>
              <a:t>, on utilise la méthode </a:t>
            </a:r>
            <a:r>
              <a:rPr lang="fr-FR" b="1" dirty="0" err="1"/>
              <a:t>this.setState</a:t>
            </a:r>
            <a:r>
              <a:rPr lang="fr-FR" b="1" dirty="0"/>
              <a:t>().</a:t>
            </a:r>
          </a:p>
          <a:p>
            <a:pPr>
              <a:lnSpc>
                <a:spcPct val="100000"/>
              </a:lnSpc>
            </a:pPr>
            <a:r>
              <a:rPr lang="fr-FR" dirty="0"/>
              <a:t>Quand le state change :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Le composant est re-rendu automatiquement.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L’affichage se met à jour avec les nouvelles valeurs.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F7B0F6-811C-649D-3858-B309AA7B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5B3A5-6E05-4BE5-A211-4E8C0D2AD840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242666-E0C4-9745-A61C-D3D0912A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9E7635-ED79-DDE1-9497-4E300F94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262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0B6B21-5D95-AE58-394B-1EDF592E0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: changer la couleur via un bouton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A0AE3EA-9E78-0B04-61B5-4409C3F611A1}"/>
              </a:ext>
            </a:extLst>
          </p:cNvPr>
          <p:cNvSpPr txBox="1"/>
          <p:nvPr/>
        </p:nvSpPr>
        <p:spPr>
          <a:xfrm>
            <a:off x="228600" y="1965960"/>
            <a:ext cx="7713971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// Fichier : src/components/</a:t>
            </a:r>
            <a:r>
              <a:rPr lang="fr-FR" sz="2000" b="1" dirty="0" err="1"/>
              <a:t>ColorChangerClass.jsx</a:t>
            </a:r>
            <a:endParaRPr lang="fr-FR" sz="2000" b="1" dirty="0"/>
          </a:p>
          <a:p>
            <a:r>
              <a:rPr lang="fr-FR" sz="2000" dirty="0"/>
              <a:t>import </a:t>
            </a:r>
            <a:r>
              <a:rPr lang="fr-FR" sz="2000" dirty="0" err="1"/>
              <a:t>React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"</a:t>
            </a:r>
            <a:r>
              <a:rPr lang="fr-FR" sz="2000" dirty="0" err="1"/>
              <a:t>react</a:t>
            </a:r>
            <a:r>
              <a:rPr lang="fr-FR" sz="2000" dirty="0"/>
              <a:t>";</a:t>
            </a:r>
          </a:p>
          <a:p>
            <a:endParaRPr lang="fr-FR" sz="2000" dirty="0"/>
          </a:p>
          <a:p>
            <a:r>
              <a:rPr lang="fr-FR" sz="2000" dirty="0"/>
              <a:t>class </a:t>
            </a:r>
            <a:r>
              <a:rPr lang="fr-FR" sz="2000" b="1" dirty="0" err="1"/>
              <a:t>ColorChangerClass</a:t>
            </a:r>
            <a:r>
              <a:rPr lang="fr-FR" sz="2000" dirty="0"/>
              <a:t> </a:t>
            </a:r>
            <a:r>
              <a:rPr lang="fr-FR" sz="2000" dirty="0" err="1"/>
              <a:t>extends</a:t>
            </a:r>
            <a:r>
              <a:rPr lang="fr-FR" sz="2000" dirty="0"/>
              <a:t> </a:t>
            </a:r>
            <a:r>
              <a:rPr lang="fr-FR" sz="2000" dirty="0" err="1"/>
              <a:t>React.Component</a:t>
            </a:r>
            <a:r>
              <a:rPr lang="fr-FR" sz="2000" dirty="0"/>
              <a:t> {</a:t>
            </a:r>
          </a:p>
          <a:p>
            <a:r>
              <a:rPr lang="fr-FR" sz="2000" dirty="0"/>
              <a:t>  </a:t>
            </a:r>
            <a:r>
              <a:rPr lang="fr-FR" sz="2000" b="1" dirty="0" err="1"/>
              <a:t>constructor</a:t>
            </a:r>
            <a:r>
              <a:rPr lang="fr-FR" sz="2000" dirty="0"/>
              <a:t>() {</a:t>
            </a:r>
          </a:p>
          <a:p>
            <a:r>
              <a:rPr lang="fr-FR" sz="2000" dirty="0"/>
              <a:t>    </a:t>
            </a:r>
            <a:r>
              <a:rPr lang="fr-FR" sz="2000" b="1" dirty="0"/>
              <a:t>super();</a:t>
            </a:r>
          </a:p>
          <a:p>
            <a:r>
              <a:rPr lang="fr-FR" sz="2000" dirty="0"/>
              <a:t>    </a:t>
            </a:r>
            <a:r>
              <a:rPr lang="fr-FR" sz="2000" dirty="0" err="1"/>
              <a:t>this.state</a:t>
            </a:r>
            <a:r>
              <a:rPr lang="fr-FR" sz="2000" dirty="0"/>
              <a:t> = { </a:t>
            </a:r>
            <a:r>
              <a:rPr lang="fr-FR" sz="2000" b="1" dirty="0" err="1"/>
              <a:t>color</a:t>
            </a:r>
            <a:r>
              <a:rPr lang="fr-FR" sz="2000" dirty="0"/>
              <a:t>: "</a:t>
            </a:r>
            <a:r>
              <a:rPr lang="fr-FR" sz="2000" dirty="0" err="1"/>
              <a:t>blue</a:t>
            </a:r>
            <a:r>
              <a:rPr lang="fr-FR" sz="2000" dirty="0"/>
              <a:t>" };</a:t>
            </a:r>
          </a:p>
          <a:p>
            <a:r>
              <a:rPr lang="fr-FR" sz="2000" dirty="0"/>
              <a:t>    </a:t>
            </a:r>
            <a:r>
              <a:rPr lang="fr-FR" sz="2000" dirty="0" err="1"/>
              <a:t>this.changeColor</a:t>
            </a:r>
            <a:r>
              <a:rPr lang="fr-FR" sz="2000" dirty="0"/>
              <a:t> = </a:t>
            </a:r>
            <a:r>
              <a:rPr lang="fr-FR" sz="2000" dirty="0" err="1"/>
              <a:t>this.changeColor.bind</a:t>
            </a:r>
            <a:r>
              <a:rPr lang="fr-FR" sz="2000" dirty="0"/>
              <a:t>(</a:t>
            </a:r>
            <a:r>
              <a:rPr lang="fr-FR" sz="2000" dirty="0" err="1"/>
              <a:t>this</a:t>
            </a:r>
            <a:r>
              <a:rPr lang="fr-FR" sz="2000" dirty="0"/>
              <a:t>);</a:t>
            </a:r>
          </a:p>
          <a:p>
            <a:r>
              <a:rPr lang="fr-FR" sz="2000" dirty="0"/>
              <a:t>  }</a:t>
            </a:r>
          </a:p>
          <a:p>
            <a:endParaRPr lang="fr-FR" sz="2000" dirty="0"/>
          </a:p>
          <a:p>
            <a:r>
              <a:rPr lang="fr-FR" sz="2000" dirty="0"/>
              <a:t>  </a:t>
            </a:r>
            <a:r>
              <a:rPr lang="fr-FR" sz="2000" b="1" dirty="0" err="1">
                <a:solidFill>
                  <a:srgbClr val="FF0000"/>
                </a:solidFill>
              </a:rPr>
              <a:t>changeColor</a:t>
            </a:r>
            <a:r>
              <a:rPr lang="fr-FR" sz="2000" dirty="0"/>
              <a:t>() {</a:t>
            </a:r>
          </a:p>
          <a:p>
            <a:r>
              <a:rPr lang="fr-FR" sz="2000" dirty="0"/>
              <a:t>    </a:t>
            </a:r>
            <a:r>
              <a:rPr lang="fr-FR" sz="2000" dirty="0" err="1"/>
              <a:t>this.setState</a:t>
            </a:r>
            <a:r>
              <a:rPr lang="fr-FR" sz="2000" dirty="0"/>
              <a:t>({ </a:t>
            </a:r>
            <a:r>
              <a:rPr lang="fr-FR" sz="2000" dirty="0" err="1"/>
              <a:t>color</a:t>
            </a:r>
            <a:r>
              <a:rPr lang="fr-FR" sz="2000" dirty="0"/>
              <a:t>: </a:t>
            </a:r>
            <a:r>
              <a:rPr lang="fr-FR" sz="2000" dirty="0" err="1"/>
              <a:t>this.state.color</a:t>
            </a:r>
            <a:r>
              <a:rPr lang="fr-FR" sz="2000" dirty="0"/>
              <a:t> === "</a:t>
            </a:r>
            <a:r>
              <a:rPr lang="fr-FR" sz="2000" dirty="0" err="1"/>
              <a:t>blue</a:t>
            </a:r>
            <a:r>
              <a:rPr lang="fr-FR" sz="2000" dirty="0"/>
              <a:t>" ? "green" : "</a:t>
            </a:r>
            <a:r>
              <a:rPr lang="fr-FR" sz="2000" dirty="0" err="1"/>
              <a:t>blue</a:t>
            </a:r>
            <a:r>
              <a:rPr lang="fr-FR" sz="2000" dirty="0"/>
              <a:t>" });</a:t>
            </a:r>
          </a:p>
          <a:p>
            <a:r>
              <a:rPr lang="fr-FR" sz="2000" dirty="0"/>
              <a:t>  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0A6FEA-7329-CC2C-73AB-73422B2A6873}"/>
              </a:ext>
            </a:extLst>
          </p:cNvPr>
          <p:cNvSpPr txBox="1"/>
          <p:nvPr/>
        </p:nvSpPr>
        <p:spPr>
          <a:xfrm>
            <a:off x="7939365" y="2286000"/>
            <a:ext cx="42514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</a:t>
            </a:r>
            <a:r>
              <a:rPr lang="fr-FR" dirty="0" err="1"/>
              <a:t>render</a:t>
            </a:r>
            <a:r>
              <a:rPr lang="fr-FR" dirty="0"/>
              <a:t>() {</a:t>
            </a:r>
          </a:p>
          <a:p>
            <a:r>
              <a:rPr lang="fr-FR" dirty="0"/>
              <a:t>    return (</a:t>
            </a:r>
          </a:p>
          <a:p>
            <a:r>
              <a:rPr lang="fr-FR" dirty="0"/>
              <a:t>      &lt;div&gt;</a:t>
            </a:r>
          </a:p>
          <a:p>
            <a:r>
              <a:rPr lang="fr-FR" dirty="0"/>
              <a:t>        &lt;h2 style={{ </a:t>
            </a:r>
            <a:r>
              <a:rPr lang="fr-FR" dirty="0" err="1"/>
              <a:t>color</a:t>
            </a:r>
            <a:r>
              <a:rPr lang="fr-FR" dirty="0"/>
              <a:t>: </a:t>
            </a:r>
            <a:r>
              <a:rPr lang="fr-FR" dirty="0" err="1"/>
              <a:t>this.state.color</a:t>
            </a:r>
            <a:r>
              <a:rPr lang="fr-FR" dirty="0"/>
              <a:t> }}&gt;</a:t>
            </a:r>
          </a:p>
          <a:p>
            <a:r>
              <a:rPr lang="fr-FR" dirty="0"/>
              <a:t>Couleur actuelle: {</a:t>
            </a:r>
            <a:r>
              <a:rPr lang="fr-FR" dirty="0" err="1"/>
              <a:t>this.state.color</a:t>
            </a:r>
            <a:r>
              <a:rPr lang="fr-FR" dirty="0"/>
              <a:t>}&lt;/h2&gt;</a:t>
            </a:r>
          </a:p>
          <a:p>
            <a:r>
              <a:rPr lang="fr-FR" dirty="0"/>
              <a:t>       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</a:t>
            </a:r>
            <a:r>
              <a:rPr lang="fr-FR" dirty="0" err="1"/>
              <a:t>this.changeColor</a:t>
            </a:r>
            <a:r>
              <a:rPr lang="fr-FR" dirty="0"/>
              <a:t>}&gt;</a:t>
            </a:r>
          </a:p>
          <a:p>
            <a:r>
              <a:rPr lang="fr-FR" dirty="0"/>
              <a:t>Changer la couleur&lt;/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      &lt;/div&gt;</a:t>
            </a:r>
          </a:p>
          <a:p>
            <a:r>
              <a:rPr lang="fr-FR" dirty="0"/>
              <a:t>    );</a:t>
            </a:r>
          </a:p>
          <a:p>
            <a:r>
              <a:rPr lang="fr-FR" dirty="0"/>
              <a:t>  }</a:t>
            </a:r>
          </a:p>
          <a:p>
            <a:r>
              <a:rPr lang="fr-FR" dirty="0"/>
              <a:t>}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ColorChangerClass</a:t>
            </a:r>
            <a:r>
              <a:rPr lang="fr-FR" dirty="0"/>
              <a:t>;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BA4DD4C-54D6-3118-9FAB-89C168088B5C}"/>
              </a:ext>
            </a:extLst>
          </p:cNvPr>
          <p:cNvCxnSpPr/>
          <p:nvPr/>
        </p:nvCxnSpPr>
        <p:spPr>
          <a:xfrm>
            <a:off x="7772400" y="1690688"/>
            <a:ext cx="0" cy="47863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2DE728C-7F94-0AB1-18E8-EADB7043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A2B34-760F-42E2-9E84-35E1CBB8011F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80AC10-E74E-B167-5AAA-641B8E02D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5F671F2-DAA0-9F19-07DC-E2B3983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765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46D8B1-B0CF-788C-C273-4C53773A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Modification de l’état dans un composant fonctionnel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DE3863-52F9-51EE-30E9-850758BE4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3400" cy="26549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2000" dirty="0"/>
              <a:t>Dans un composant fonction, on utilise </a:t>
            </a:r>
            <a:r>
              <a:rPr lang="fr-FR" sz="2000" b="1" dirty="0" err="1"/>
              <a:t>useState</a:t>
            </a:r>
            <a:r>
              <a:rPr lang="fr-FR" sz="2000" dirty="0"/>
              <a:t> à la place de </a:t>
            </a:r>
            <a:r>
              <a:rPr lang="fr-FR" sz="2000" b="1" dirty="0" err="1"/>
              <a:t>this.state</a:t>
            </a:r>
            <a:r>
              <a:rPr lang="fr-FR" sz="2000" b="1" dirty="0"/>
              <a:t> </a:t>
            </a:r>
            <a:r>
              <a:rPr lang="fr-FR" sz="2000" dirty="0"/>
              <a:t>et </a:t>
            </a:r>
            <a:r>
              <a:rPr lang="fr-FR" sz="2000" b="1" dirty="0" err="1"/>
              <a:t>this.setState</a:t>
            </a:r>
            <a:r>
              <a:rPr lang="fr-FR" sz="2000" dirty="0"/>
              <a:t>.</a:t>
            </a:r>
          </a:p>
          <a:p>
            <a:pPr>
              <a:lnSpc>
                <a:spcPct val="100000"/>
              </a:lnSpc>
            </a:pPr>
            <a:r>
              <a:rPr lang="fr-FR" sz="2000" dirty="0"/>
              <a:t>La logique est similaire : quand l’état change, le composant est re-rendu automatiquement.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E93C152-942B-1AD6-5631-A17C54EC587E}"/>
              </a:ext>
            </a:extLst>
          </p:cNvPr>
          <p:cNvSpPr txBox="1"/>
          <p:nvPr/>
        </p:nvSpPr>
        <p:spPr>
          <a:xfrm>
            <a:off x="5288280" y="1690688"/>
            <a:ext cx="6655605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// Fichier : src/components/</a:t>
            </a:r>
            <a:r>
              <a:rPr lang="fr-FR" dirty="0" err="1"/>
              <a:t>ColorChangerFunction.jsx</a:t>
            </a:r>
            <a:endParaRPr lang="fr-FR" dirty="0"/>
          </a:p>
          <a:p>
            <a:r>
              <a:rPr lang="fr-FR" dirty="0"/>
              <a:t>import  { </a:t>
            </a:r>
            <a:r>
              <a:rPr lang="fr-FR" b="1" dirty="0" err="1"/>
              <a:t>useState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ColorChangerFunction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</a:t>
            </a:r>
            <a:r>
              <a:rPr lang="fr-FR" dirty="0" err="1">
                <a:solidFill>
                  <a:srgbClr val="FF0000"/>
                </a:solidFill>
              </a:rPr>
              <a:t>color</a:t>
            </a:r>
            <a:r>
              <a:rPr lang="fr-FR" dirty="0"/>
              <a:t>, </a:t>
            </a:r>
            <a:r>
              <a:rPr lang="fr-FR" b="1" dirty="0" err="1"/>
              <a:t>setColor</a:t>
            </a:r>
            <a:r>
              <a:rPr lang="fr-FR" dirty="0"/>
              <a:t>] = </a:t>
            </a:r>
            <a:r>
              <a:rPr lang="fr-FR" b="1" dirty="0" err="1"/>
              <a:t>useState</a:t>
            </a:r>
            <a:r>
              <a:rPr lang="fr-FR" dirty="0"/>
              <a:t>("</a:t>
            </a:r>
            <a:r>
              <a:rPr lang="fr-FR" b="1" dirty="0" err="1">
                <a:solidFill>
                  <a:srgbClr val="0070C0"/>
                </a:solidFill>
              </a:rPr>
              <a:t>blue</a:t>
            </a:r>
            <a:r>
              <a:rPr lang="fr-FR" dirty="0"/>
              <a:t>");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b="1" dirty="0" err="1"/>
              <a:t>changeColor</a:t>
            </a:r>
            <a:r>
              <a:rPr lang="fr-FR" b="1" dirty="0"/>
              <a:t> = () </a:t>
            </a:r>
            <a:r>
              <a:rPr lang="fr-FR" dirty="0"/>
              <a:t>=&gt; {</a:t>
            </a:r>
          </a:p>
          <a:p>
            <a:r>
              <a:rPr lang="fr-FR" dirty="0"/>
              <a:t>    </a:t>
            </a:r>
            <a:r>
              <a:rPr lang="fr-FR" b="1" dirty="0" err="1"/>
              <a:t>setColor</a:t>
            </a:r>
            <a:r>
              <a:rPr lang="fr-FR" dirty="0"/>
              <a:t>(</a:t>
            </a:r>
            <a:r>
              <a:rPr lang="fr-FR" dirty="0" err="1"/>
              <a:t>color</a:t>
            </a:r>
            <a:r>
              <a:rPr lang="fr-FR" dirty="0"/>
              <a:t> === "</a:t>
            </a:r>
            <a:r>
              <a:rPr lang="fr-FR" b="1" dirty="0" err="1">
                <a:solidFill>
                  <a:srgbClr val="0070C0"/>
                </a:solidFill>
              </a:rPr>
              <a:t>blue</a:t>
            </a:r>
            <a:r>
              <a:rPr lang="fr-FR" dirty="0"/>
              <a:t>" ? "</a:t>
            </a:r>
            <a:r>
              <a:rPr lang="fr-FR" b="1" dirty="0">
                <a:solidFill>
                  <a:srgbClr val="00B050"/>
                </a:solidFill>
              </a:rPr>
              <a:t>green</a:t>
            </a:r>
            <a:r>
              <a:rPr lang="fr-FR" dirty="0"/>
              <a:t>" : "</a:t>
            </a:r>
            <a:r>
              <a:rPr lang="fr-FR" b="1" dirty="0" err="1">
                <a:solidFill>
                  <a:srgbClr val="0070C0"/>
                </a:solidFill>
              </a:rPr>
              <a:t>blue</a:t>
            </a:r>
            <a:r>
              <a:rPr lang="fr-FR" dirty="0"/>
              <a:t>");</a:t>
            </a:r>
          </a:p>
          <a:p>
            <a:r>
              <a:rPr lang="fr-FR" dirty="0"/>
              <a:t>  };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&lt;h2 style={{ </a:t>
            </a:r>
            <a:r>
              <a:rPr lang="fr-FR" b="1" dirty="0" err="1"/>
              <a:t>color</a:t>
            </a:r>
            <a:r>
              <a:rPr lang="fr-FR" dirty="0"/>
              <a:t> }}&gt;Couleur actuelle: {</a:t>
            </a:r>
            <a:r>
              <a:rPr lang="fr-FR" b="1" dirty="0" err="1"/>
              <a:t>color</a:t>
            </a:r>
            <a:r>
              <a:rPr lang="fr-FR" dirty="0"/>
              <a:t>}&lt;/h2&gt;</a:t>
            </a:r>
          </a:p>
          <a:p>
            <a:r>
              <a:rPr lang="fr-FR" dirty="0"/>
              <a:t>     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</a:t>
            </a:r>
            <a:r>
              <a:rPr lang="fr-FR" b="1" dirty="0" err="1"/>
              <a:t>changeColor</a:t>
            </a:r>
            <a:r>
              <a:rPr lang="fr-FR" dirty="0"/>
              <a:t>}&gt;Changer la couleur&lt;/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C9BF9B-EB34-DA54-EE40-7A2EE1A33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94" y="4206240"/>
            <a:ext cx="3368332" cy="108213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AF58682-C35F-43A8-AED9-84E6C3EF9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594" y="5463213"/>
            <a:ext cx="3254022" cy="1028789"/>
          </a:xfrm>
          <a:prstGeom prst="rect">
            <a:avLst/>
          </a:prstGeo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781182-E7B9-49FC-27EB-49CDF26C0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F45D5-1562-484C-9112-7EEB87141099}" type="datetime1">
              <a:rPr lang="en-US" smtClean="0"/>
              <a:t>11/19/2025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38AA9C1-8C1C-A0B8-94D4-4964D8084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C030275-A717-9325-E378-40FB0079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237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5BAF65-56D3-5270-129B-4F21DAFF5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Qu’est-ce que </a:t>
            </a:r>
            <a:r>
              <a:rPr lang="fr-FR" dirty="0" err="1"/>
              <a:t>props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3BF586-DFFB-5ACD-80D6-F3D86B0D4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9224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fr-FR" b="1" dirty="0"/>
              <a:t>Définition</a:t>
            </a:r>
          </a:p>
          <a:p>
            <a:pPr>
              <a:lnSpc>
                <a:spcPct val="110000"/>
              </a:lnSpc>
            </a:pPr>
            <a:r>
              <a:rPr lang="fr-FR" dirty="0" err="1"/>
              <a:t>props</a:t>
            </a:r>
            <a:r>
              <a:rPr lang="fr-FR" dirty="0"/>
              <a:t> = </a:t>
            </a:r>
            <a:r>
              <a:rPr lang="fr-FR" b="1" dirty="0"/>
              <a:t>valeurs passées au composant depuis l’extérieur</a:t>
            </a:r>
            <a:r>
              <a:rPr lang="fr-FR" dirty="0"/>
              <a:t> (comme des paramètres de fonction).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b="1" dirty="0"/>
              <a:t>Caractéristiques</a:t>
            </a:r>
          </a:p>
          <a:p>
            <a:pPr>
              <a:lnSpc>
                <a:spcPct val="110000"/>
              </a:lnSpc>
            </a:pPr>
            <a:r>
              <a:rPr lang="fr-FR" b="1" dirty="0"/>
              <a:t>Immuables</a:t>
            </a:r>
            <a:r>
              <a:rPr lang="fr-FR" dirty="0"/>
              <a:t> (on ne doit jamais les modifier)</a:t>
            </a:r>
          </a:p>
          <a:p>
            <a:pPr>
              <a:lnSpc>
                <a:spcPct val="110000"/>
              </a:lnSpc>
            </a:pPr>
            <a:r>
              <a:rPr lang="fr-FR" dirty="0"/>
              <a:t>Permettent de </a:t>
            </a:r>
            <a:r>
              <a:rPr lang="fr-FR" b="1" dirty="0"/>
              <a:t>réutiliser</a:t>
            </a:r>
            <a:r>
              <a:rPr lang="fr-FR" dirty="0"/>
              <a:t> un composant avec des données différentes</a:t>
            </a:r>
          </a:p>
          <a:p>
            <a:pPr>
              <a:lnSpc>
                <a:spcPct val="110000"/>
              </a:lnSpc>
            </a:pPr>
            <a:r>
              <a:rPr lang="fr-FR" dirty="0"/>
              <a:t>Servent à </a:t>
            </a:r>
            <a:r>
              <a:rPr lang="fr-FR" b="1" dirty="0"/>
              <a:t>transmettre des informations</a:t>
            </a:r>
            <a:r>
              <a:rPr lang="fr-FR" dirty="0"/>
              <a:t> d’un composant parent → enfant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FCB21A8-27AB-8781-02BA-6A5E7D6F8B9A}"/>
              </a:ext>
            </a:extLst>
          </p:cNvPr>
          <p:cNvSpPr txBox="1"/>
          <p:nvPr/>
        </p:nvSpPr>
        <p:spPr>
          <a:xfrm>
            <a:off x="7330440" y="3747631"/>
            <a:ext cx="425196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Car(</a:t>
            </a:r>
            <a:r>
              <a:rPr lang="fr-FR" b="1" dirty="0" err="1"/>
              <a:t>props</a:t>
            </a:r>
            <a:r>
              <a:rPr lang="fr-FR" dirty="0"/>
              <a:t>) {</a:t>
            </a:r>
          </a:p>
          <a:p>
            <a:r>
              <a:rPr lang="fr-FR" dirty="0"/>
              <a:t>  return &lt;p&gt;Modèle : {</a:t>
            </a:r>
            <a:r>
              <a:rPr lang="fr-FR" b="1" dirty="0" err="1"/>
              <a:t>props</a:t>
            </a:r>
            <a:r>
              <a:rPr lang="fr-FR" dirty="0" err="1"/>
              <a:t>.</a:t>
            </a:r>
            <a:r>
              <a:rPr lang="fr-FR" b="1" dirty="0" err="1"/>
              <a:t>model</a:t>
            </a:r>
            <a:r>
              <a:rPr lang="fr-FR" dirty="0"/>
              <a:t>}&lt;/p&gt;;</a:t>
            </a:r>
          </a:p>
          <a:p>
            <a:r>
              <a:rPr lang="fr-FR" dirty="0"/>
              <a:t>}</a:t>
            </a:r>
          </a:p>
          <a:p>
            <a:endParaRPr lang="fr-FR" dirty="0"/>
          </a:p>
          <a:p>
            <a:r>
              <a:rPr lang="fr-FR" dirty="0"/>
              <a:t>// Utilisation</a:t>
            </a:r>
          </a:p>
          <a:p>
            <a:r>
              <a:rPr lang="fr-FR" dirty="0"/>
              <a:t>&lt;Car </a:t>
            </a:r>
            <a:r>
              <a:rPr lang="fr-FR" b="1" dirty="0"/>
              <a:t>model</a:t>
            </a:r>
            <a:r>
              <a:rPr lang="fr-FR" dirty="0"/>
              <a:t>="BMW" /&gt;</a:t>
            </a:r>
          </a:p>
          <a:p>
            <a:r>
              <a:rPr lang="fr-FR" dirty="0"/>
              <a:t>&lt;Car </a:t>
            </a:r>
            <a:r>
              <a:rPr lang="fr-FR" b="1" dirty="0"/>
              <a:t>model</a:t>
            </a:r>
            <a:r>
              <a:rPr lang="fr-FR" dirty="0"/>
              <a:t>="Toyota" /&gt;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9DE513-F5D2-A3AF-F9B0-6CEFB4F8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7DC51-FAE6-429A-9074-0B12875FACDB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30782D-A9F6-E741-36B4-5DFFEA21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A3479D-BCC4-9074-8494-3DA966F6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1240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DBC60B-1E41-0C46-2CBE-62867AC3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Différence entre </a:t>
            </a: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props</a:t>
            </a: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et </a:t>
            </a: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state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7088B32-6E23-2305-FA47-F3FD2CF6A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467879"/>
              </p:ext>
            </p:extLst>
          </p:nvPr>
        </p:nvGraphicFramePr>
        <p:xfrm>
          <a:off x="606751" y="2633472"/>
          <a:ext cx="10975451" cy="35863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01153">
                  <a:extLst>
                    <a:ext uri="{9D8B030D-6E8A-4147-A177-3AD203B41FA5}">
                      <a16:colId xmlns:a16="http://schemas.microsoft.com/office/drawing/2014/main" val="3054052310"/>
                    </a:ext>
                  </a:extLst>
                </a:gridCol>
                <a:gridCol w="3960498">
                  <a:extLst>
                    <a:ext uri="{9D8B030D-6E8A-4147-A177-3AD203B41FA5}">
                      <a16:colId xmlns:a16="http://schemas.microsoft.com/office/drawing/2014/main" val="3447561045"/>
                    </a:ext>
                  </a:extLst>
                </a:gridCol>
                <a:gridCol w="4213800">
                  <a:extLst>
                    <a:ext uri="{9D8B030D-6E8A-4147-A177-3AD203B41FA5}">
                      <a16:colId xmlns:a16="http://schemas.microsoft.com/office/drawing/2014/main" val="1286899057"/>
                    </a:ext>
                  </a:extLst>
                </a:gridCol>
              </a:tblGrid>
              <a:tr h="690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>
                          <a:solidFill>
                            <a:schemeClr val="tx1"/>
                          </a:solidFill>
                        </a:rPr>
                        <a:t>Caractéristique</a:t>
                      </a:r>
                    </a:p>
                  </a:txBody>
                  <a:tcPr marL="156278" marR="156278" marT="78139" marB="156278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b="1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props</a:t>
                      </a:r>
                      <a:endParaRPr lang="fr-FR" sz="27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278" marR="156278" marT="78139" marB="15627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b="1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state</a:t>
                      </a:r>
                      <a:endParaRPr lang="fr-FR" sz="27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156278" marR="156278" marT="78139" marB="15627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431316"/>
                  </a:ext>
                </a:extLst>
              </a:tr>
              <a:tr h="1102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>
                          <a:solidFill>
                            <a:schemeClr val="tx1"/>
                          </a:solidFill>
                        </a:rPr>
                        <a:t>Modifiable ?</a:t>
                      </a:r>
                    </a:p>
                  </a:txBody>
                  <a:tcPr marL="156278" marR="156278" marT="78139" marB="156278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 dirty="0">
                          <a:solidFill>
                            <a:schemeClr val="tx1"/>
                          </a:solidFill>
                        </a:rPr>
                        <a:t>❌ Non (lecture seule)</a:t>
                      </a:r>
                    </a:p>
                  </a:txBody>
                  <a:tcPr marL="156278" marR="156278" marT="78139" marB="15627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>
                          <a:solidFill>
                            <a:schemeClr val="tx1"/>
                          </a:solidFill>
                        </a:rPr>
                        <a:t>✅ Oui (interne au composant)</a:t>
                      </a:r>
                    </a:p>
                  </a:txBody>
                  <a:tcPr marL="156278" marR="156278" marT="78139" marB="15627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67842"/>
                  </a:ext>
                </a:extLst>
              </a:tr>
              <a:tr h="690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>
                          <a:solidFill>
                            <a:schemeClr val="tx1"/>
                          </a:solidFill>
                        </a:rPr>
                        <a:t>Vient d’où ?</a:t>
                      </a:r>
                    </a:p>
                  </a:txBody>
                  <a:tcPr marL="156278" marR="156278" marT="78139" marB="156278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>
                          <a:solidFill>
                            <a:schemeClr val="tx1"/>
                          </a:solidFill>
                        </a:rPr>
                        <a:t>Du composant parent</a:t>
                      </a:r>
                    </a:p>
                  </a:txBody>
                  <a:tcPr marL="156278" marR="156278" marT="78139" marB="15627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>
                          <a:solidFill>
                            <a:schemeClr val="tx1"/>
                          </a:solidFill>
                        </a:rPr>
                        <a:t>Du composant lui-même</a:t>
                      </a:r>
                    </a:p>
                  </a:txBody>
                  <a:tcPr marL="156278" marR="156278" marT="78139" marB="15627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641407"/>
                  </a:ext>
                </a:extLst>
              </a:tr>
              <a:tr h="1102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>
                          <a:solidFill>
                            <a:schemeClr val="tx1"/>
                          </a:solidFill>
                        </a:rPr>
                        <a:t>Sert à quoi ?</a:t>
                      </a:r>
                    </a:p>
                  </a:txBody>
                  <a:tcPr marL="156278" marR="156278" marT="78139" marB="156278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>
                          <a:solidFill>
                            <a:schemeClr val="tx1"/>
                          </a:solidFill>
                        </a:rPr>
                        <a:t>Recevoir des données</a:t>
                      </a:r>
                    </a:p>
                  </a:txBody>
                  <a:tcPr marL="156278" marR="156278" marT="78139" marB="15627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700" cap="none" spc="0" dirty="0">
                          <a:solidFill>
                            <a:schemeClr val="tx1"/>
                          </a:solidFill>
                        </a:rPr>
                        <a:t>Gérer des données qui évoluent</a:t>
                      </a:r>
                    </a:p>
                  </a:txBody>
                  <a:tcPr marL="156278" marR="156278" marT="78139" marB="15627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72406"/>
                  </a:ext>
                </a:extLst>
              </a:tr>
            </a:tbl>
          </a:graphicData>
        </a:graphic>
      </p:graphicFrame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C5190F-6EBE-2090-E2D0-765C102C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B0E2-4BF1-45B5-85DC-228B89C5353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5A5E06-B3E0-746D-6C55-0957CF86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3DD178-4F75-F542-D243-B5AE25AD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631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A3AD687-DE23-8CA9-9756-29DB5EB7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Hook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7F9168-ED10-221B-3D15-C0328500E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8362"/>
            <a:ext cx="5793155" cy="391777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fr-FR" sz="2000" dirty="0"/>
              <a:t>Un </a:t>
            </a:r>
            <a:r>
              <a:rPr lang="fr-FR" sz="2000" b="1" dirty="0"/>
              <a:t>Hook</a:t>
            </a:r>
            <a:r>
              <a:rPr lang="fr-FR" sz="2000" dirty="0"/>
              <a:t> permet d’ajouter des fonctionnalités (state, effets, contexte…) à un composant fonctionnel de manière simple et réutilisable. </a:t>
            </a:r>
          </a:p>
          <a:p>
            <a:pPr>
              <a:lnSpc>
                <a:spcPct val="110000"/>
              </a:lnSpc>
            </a:pPr>
            <a:r>
              <a:rPr lang="fr-FR" sz="2000" dirty="0"/>
              <a:t>Les </a:t>
            </a:r>
            <a:r>
              <a:rPr lang="fr-FR" sz="2000" b="1" dirty="0" err="1"/>
              <a:t>Hooks</a:t>
            </a:r>
            <a:r>
              <a:rPr lang="fr-FR" sz="2000" dirty="0"/>
              <a:t> sont sortis officiellement avec </a:t>
            </a:r>
            <a:r>
              <a:rPr lang="fr-FR" sz="2000" b="1" dirty="0" err="1"/>
              <a:t>React</a:t>
            </a:r>
            <a:r>
              <a:rPr lang="fr-FR" sz="2000" b="1" dirty="0"/>
              <a:t> 16.8</a:t>
            </a:r>
            <a:r>
              <a:rPr lang="fr-FR" sz="2000" dirty="0"/>
              <a:t>, publié en </a:t>
            </a:r>
            <a:r>
              <a:rPr lang="fr-FR" sz="2000" b="1" dirty="0"/>
              <a:t>février 2019</a:t>
            </a:r>
          </a:p>
          <a:p>
            <a:pPr>
              <a:lnSpc>
                <a:spcPct val="110000"/>
              </a:lnSpc>
            </a:pPr>
            <a:r>
              <a:rPr lang="fr-FR" sz="2000" b="1" dirty="0" err="1"/>
              <a:t>useEffect</a:t>
            </a:r>
            <a:r>
              <a:rPr lang="fr-FR" sz="2000" dirty="0"/>
              <a:t> est un Hook qui permet d’exécuter du code secondaire (</a:t>
            </a:r>
            <a:r>
              <a:rPr lang="fr-FR" sz="2000" dirty="0" err="1"/>
              <a:t>side</a:t>
            </a:r>
            <a:r>
              <a:rPr lang="fr-FR" sz="2000" dirty="0"/>
              <a:t> </a:t>
            </a:r>
            <a:r>
              <a:rPr lang="fr-FR" sz="2000" dirty="0" err="1"/>
              <a:t>effects</a:t>
            </a:r>
            <a:r>
              <a:rPr lang="fr-FR" sz="2000" dirty="0"/>
              <a:t>) dans un composant fonction</a:t>
            </a:r>
          </a:p>
          <a:p>
            <a:pPr>
              <a:lnSpc>
                <a:spcPct val="110000"/>
              </a:lnSpc>
            </a:pPr>
            <a:r>
              <a:rPr lang="fr-FR" sz="2000" dirty="0"/>
              <a:t>Les </a:t>
            </a:r>
            <a:r>
              <a:rPr lang="fr-FR" sz="2000" dirty="0" err="1"/>
              <a:t>side</a:t>
            </a:r>
            <a:r>
              <a:rPr lang="fr-FR" sz="2000" dirty="0"/>
              <a:t> </a:t>
            </a:r>
            <a:r>
              <a:rPr lang="fr-FR" sz="2000" dirty="0" err="1"/>
              <a:t>effects</a:t>
            </a:r>
            <a:r>
              <a:rPr lang="fr-FR" sz="2000" dirty="0"/>
              <a:t> peuvent être :</a:t>
            </a:r>
          </a:p>
          <a:p>
            <a:pPr lvl="1">
              <a:lnSpc>
                <a:spcPct val="110000"/>
              </a:lnSpc>
            </a:pPr>
            <a:r>
              <a:rPr lang="fr-FR" sz="2000" dirty="0"/>
              <a:t>Requêtes API (</a:t>
            </a:r>
            <a:r>
              <a:rPr lang="fr-FR" sz="2000" dirty="0" err="1"/>
              <a:t>fetch</a:t>
            </a:r>
            <a:r>
              <a:rPr lang="fr-FR" sz="2000" dirty="0"/>
              <a:t>)</a:t>
            </a:r>
          </a:p>
          <a:p>
            <a:pPr lvl="1">
              <a:lnSpc>
                <a:spcPct val="110000"/>
              </a:lnSpc>
            </a:pPr>
            <a:r>
              <a:rPr lang="fr-FR" sz="2000" dirty="0"/>
              <a:t>Modification du DOM (titre de la page, scroll…)</a:t>
            </a:r>
          </a:p>
          <a:p>
            <a:pPr lvl="1">
              <a:lnSpc>
                <a:spcPct val="110000"/>
              </a:lnSpc>
            </a:pPr>
            <a:r>
              <a:rPr lang="fr-FR" sz="2000" dirty="0" err="1"/>
              <a:t>Timers</a:t>
            </a:r>
            <a:r>
              <a:rPr lang="fr-FR" sz="2000" dirty="0"/>
              <a:t> (</a:t>
            </a:r>
            <a:r>
              <a:rPr lang="fr-FR" sz="2000" dirty="0" err="1"/>
              <a:t>setInterval</a:t>
            </a:r>
            <a:r>
              <a:rPr lang="fr-FR" sz="2000" dirty="0"/>
              <a:t>, </a:t>
            </a:r>
            <a:r>
              <a:rPr lang="fr-FR" sz="2000" dirty="0" err="1"/>
              <a:t>setTimeout</a:t>
            </a:r>
            <a:r>
              <a:rPr lang="fr-FR" sz="2000" dirty="0"/>
              <a:t>)</a:t>
            </a:r>
          </a:p>
          <a:p>
            <a:pPr lvl="1">
              <a:lnSpc>
                <a:spcPct val="110000"/>
              </a:lnSpc>
            </a:pPr>
            <a:r>
              <a:rPr lang="fr-FR" sz="2000" dirty="0"/>
              <a:t>Écoute d’événements (</a:t>
            </a:r>
            <a:r>
              <a:rPr lang="fr-FR" sz="2000" dirty="0" err="1"/>
              <a:t>window</a:t>
            </a:r>
            <a:r>
              <a:rPr lang="fr-FR" sz="2000" dirty="0"/>
              <a:t> </a:t>
            </a:r>
            <a:r>
              <a:rPr lang="fr-FR" sz="2000" dirty="0" err="1"/>
              <a:t>resize</a:t>
            </a:r>
            <a:r>
              <a:rPr lang="fr-FR" sz="2000" dirty="0"/>
              <a:t>, key </a:t>
            </a:r>
            <a:r>
              <a:rPr lang="fr-FR" sz="2000" dirty="0" err="1"/>
              <a:t>press</a:t>
            </a:r>
            <a:r>
              <a:rPr lang="fr-FR" sz="2000" dirty="0"/>
              <a:t>…)</a:t>
            </a:r>
          </a:p>
          <a:p>
            <a:pPr>
              <a:lnSpc>
                <a:spcPct val="110000"/>
              </a:lnSpc>
            </a:pPr>
            <a:r>
              <a:rPr lang="fr-FR" sz="2000" dirty="0"/>
              <a:t>Il remplace en partie les méthodes de cycle de vie des composants classes comme </a:t>
            </a:r>
            <a:r>
              <a:rPr lang="fr-FR" sz="2000" dirty="0" err="1"/>
              <a:t>componentDidMount</a:t>
            </a:r>
            <a:r>
              <a:rPr lang="fr-FR" sz="2000" dirty="0"/>
              <a:t>, </a:t>
            </a:r>
            <a:r>
              <a:rPr lang="fr-FR" sz="2000" dirty="0" err="1"/>
              <a:t>componentDidUpdate</a:t>
            </a:r>
            <a:r>
              <a:rPr lang="fr-FR" sz="2000" dirty="0"/>
              <a:t>, et </a:t>
            </a:r>
            <a:r>
              <a:rPr lang="fr-FR" sz="2000" dirty="0" err="1"/>
              <a:t>componentWillUnmount</a:t>
            </a:r>
            <a:r>
              <a:rPr lang="fr-FR" sz="2000" dirty="0"/>
              <a:t>.</a:t>
            </a:r>
          </a:p>
        </p:txBody>
      </p:sp>
      <p:pic>
        <p:nvPicPr>
          <p:cNvPr id="4" name="Image 3" descr="Une image contenant Police, texte, Graphique, logo&#10;&#10;Le contenu généré par l’IA peut être incorrect.">
            <a:extLst>
              <a:ext uri="{FF2B5EF4-FFF2-40B4-BE49-F238E27FC236}">
                <a16:creationId xmlns:a16="http://schemas.microsoft.com/office/drawing/2014/main" id="{0B3D44EF-FE87-9395-7C75-ACDC51BF8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805889"/>
            <a:ext cx="4788505" cy="2513964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31B3F9-7227-AB4E-B328-1B055FA8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514C-0D92-4C26-A25D-4674864CFE1B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37A4DF-DCE8-982B-6E64-35CCF2F6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AEB123-D7D8-E713-4FF2-B6800CAD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0829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E4248A-2277-370E-1D3D-705344293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useState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9C1BBD-2A58-71A6-31C6-6DDA9133E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 [state, </a:t>
            </a:r>
            <a:r>
              <a:rPr lang="en-US" dirty="0" err="1"/>
              <a:t>setState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</a:t>
            </a:r>
            <a:r>
              <a:rPr lang="en-US" dirty="0" err="1"/>
              <a:t>valeurInitiale</a:t>
            </a:r>
            <a:r>
              <a:rPr lang="en-US" dirty="0"/>
              <a:t>);</a:t>
            </a:r>
          </a:p>
          <a:p>
            <a:pPr lvl="1"/>
            <a:r>
              <a:rPr lang="fr-FR" dirty="0"/>
              <a:t>state → la valeur actuelle</a:t>
            </a:r>
          </a:p>
          <a:p>
            <a:pPr lvl="1"/>
            <a:r>
              <a:rPr lang="fr-FR" dirty="0" err="1"/>
              <a:t>setState</a:t>
            </a:r>
            <a:r>
              <a:rPr lang="fr-FR" dirty="0"/>
              <a:t> → fonction pour modifier cette valeur</a:t>
            </a:r>
          </a:p>
          <a:p>
            <a:pPr lvl="1"/>
            <a:r>
              <a:rPr lang="fr-FR" dirty="0" err="1"/>
              <a:t>valeurInitiale</a:t>
            </a:r>
            <a:r>
              <a:rPr lang="fr-FR" dirty="0"/>
              <a:t> → la valeur par défaut (nombre, texte, booléen, objet…)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B57477-9307-BEC4-A95F-77F89A1B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5DFA-BC4A-40DB-88B3-BCDE9351A07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848F14-FAFC-10F0-11B8-060545F2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DA5E1E-15B6-AC8B-1A7B-F17DC429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9734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CCF99A-651E-39BD-9200-43EA38C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useEffect</a:t>
            </a:r>
            <a:r>
              <a:rPr lang="fr-FR" dirty="0"/>
              <a:t> : Syntaxe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297255-5BAF-0EED-7827-FC8FF6ACD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useEffect</a:t>
            </a:r>
            <a:r>
              <a:rPr lang="fr-FR" dirty="0"/>
              <a:t>(() =&gt; {</a:t>
            </a:r>
          </a:p>
          <a:p>
            <a:pPr marL="0" indent="0">
              <a:buNone/>
            </a:pPr>
            <a:r>
              <a:rPr lang="fr-FR" dirty="0"/>
              <a:t>  // code à exécuter</a:t>
            </a:r>
          </a:p>
          <a:p>
            <a:pPr marL="0" indent="0">
              <a:buNone/>
            </a:pPr>
            <a:r>
              <a:rPr lang="fr-FR" dirty="0"/>
              <a:t>});</a:t>
            </a:r>
          </a:p>
          <a:p>
            <a:r>
              <a:rPr lang="fr-FR" dirty="0"/>
              <a:t>Par défaut, ce code s’exécute après chaque rendu du composant.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561679-D185-596D-369D-05355911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9959-7D76-4CA4-9E20-685087FE109C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F855F4-9BD6-B760-CF34-3EF7EDA9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23D2B3-E163-18D5-14C8-37EAD666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36162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6C40A-2226-6281-A11E-A98656302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5F6CB-FD4D-7AEC-74F0-C1585004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useEffect</a:t>
            </a:r>
            <a:r>
              <a:rPr lang="fr-FR" dirty="0"/>
              <a:t> : Avec tableau de dépendances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2F3995-049C-4D80-231D-66D70691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588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err="1"/>
              <a:t>useEffect</a:t>
            </a:r>
            <a:r>
              <a:rPr lang="fr-FR" sz="2400" dirty="0"/>
              <a:t>(() =&gt; {</a:t>
            </a:r>
          </a:p>
          <a:p>
            <a:pPr marL="0" indent="0">
              <a:buNone/>
            </a:pPr>
            <a:r>
              <a:rPr lang="fr-FR" sz="2400" dirty="0"/>
              <a:t>  </a:t>
            </a:r>
            <a:r>
              <a:rPr lang="fr-FR" sz="1800" dirty="0"/>
              <a:t>// code exécuté uniquement quand `variable` change</a:t>
            </a:r>
          </a:p>
          <a:p>
            <a:pPr marL="0" indent="0">
              <a:buNone/>
            </a:pPr>
            <a:r>
              <a:rPr lang="fr-FR" sz="2400" dirty="0"/>
              <a:t>}, [</a:t>
            </a:r>
            <a:r>
              <a:rPr lang="fr-FR" sz="2400" b="1" dirty="0"/>
              <a:t>variable</a:t>
            </a:r>
            <a:r>
              <a:rPr lang="fr-FR" sz="2400" dirty="0"/>
              <a:t>]);</a:t>
            </a:r>
          </a:p>
          <a:p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F935D6-CDC1-B914-2013-16DC3CC24D77}"/>
              </a:ext>
            </a:extLst>
          </p:cNvPr>
          <p:cNvSpPr txBox="1"/>
          <p:nvPr/>
        </p:nvSpPr>
        <p:spPr>
          <a:xfrm>
            <a:off x="5654040" y="1825625"/>
            <a:ext cx="6416040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/>
              <a:t>import { </a:t>
            </a:r>
            <a:r>
              <a:rPr lang="fr-FR" b="1" dirty="0" err="1"/>
              <a:t>useState</a:t>
            </a:r>
            <a:r>
              <a:rPr lang="fr-FR" dirty="0"/>
              <a:t>, </a:t>
            </a:r>
            <a:r>
              <a:rPr lang="fr-FR" b="1" dirty="0" err="1"/>
              <a:t>useEffect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/>
              <a:t>export default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CounterTitle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[count, </a:t>
            </a:r>
            <a:r>
              <a:rPr lang="fr-FR" dirty="0" err="1"/>
              <a:t>setCount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(0);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b="1" dirty="0" err="1"/>
              <a:t>useEffect</a:t>
            </a:r>
            <a:r>
              <a:rPr lang="fr-FR" b="1" dirty="0"/>
              <a:t>(() =&gt; {</a:t>
            </a:r>
          </a:p>
          <a:p>
            <a:r>
              <a:rPr lang="fr-FR" b="1" dirty="0"/>
              <a:t>    </a:t>
            </a:r>
            <a:r>
              <a:rPr lang="fr-FR" b="1" dirty="0" err="1"/>
              <a:t>document.title</a:t>
            </a:r>
            <a:r>
              <a:rPr lang="fr-FR" b="1" dirty="0"/>
              <a:t> = `Compteur : ${count}`;</a:t>
            </a:r>
          </a:p>
          <a:p>
            <a:r>
              <a:rPr lang="fr-FR" b="1" dirty="0"/>
              <a:t>  }, [count]); </a:t>
            </a:r>
            <a:r>
              <a:rPr lang="fr-FR" sz="1600" b="1" dirty="0"/>
              <a:t>// l'effet s'exécute uniquement quand "count" change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&lt;p&gt;Compteur : {count}&lt;/p&gt;</a:t>
            </a:r>
          </a:p>
          <a:p>
            <a:r>
              <a:rPr lang="fr-FR" dirty="0"/>
              <a:t>     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={() =&gt; </a:t>
            </a:r>
            <a:r>
              <a:rPr lang="fr-FR" dirty="0" err="1"/>
              <a:t>setCount</a:t>
            </a:r>
            <a:r>
              <a:rPr lang="fr-FR" dirty="0"/>
              <a:t>(count + 1)}&gt;+1&lt;/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9229620-4E4F-5701-987A-5C867C01E6FC}"/>
              </a:ext>
            </a:extLst>
          </p:cNvPr>
          <p:cNvSpPr txBox="1"/>
          <p:nvPr/>
        </p:nvSpPr>
        <p:spPr>
          <a:xfrm>
            <a:off x="137160" y="4738549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Explications :</a:t>
            </a: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Le </a:t>
            </a:r>
            <a:r>
              <a:rPr lang="fr-FR" sz="2000" dirty="0" err="1">
                <a:latin typeface="Courier New" panose="02070309020205020404" pitchFamily="49" charset="0"/>
              </a:rPr>
              <a:t>useEffect</a:t>
            </a:r>
            <a:r>
              <a:rPr lang="fr-FR" sz="2000" dirty="0"/>
              <a:t> dépend de </a:t>
            </a:r>
            <a:r>
              <a:rPr lang="fr-FR" sz="2000" dirty="0">
                <a:latin typeface="Courier New" panose="02070309020205020404" pitchFamily="49" charset="0"/>
              </a:rPr>
              <a:t>count</a:t>
            </a:r>
            <a:r>
              <a:rPr lang="fr-F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Chaque fois que </a:t>
            </a:r>
            <a:r>
              <a:rPr lang="fr-FR" sz="2000" dirty="0">
                <a:latin typeface="Courier New" panose="02070309020205020404" pitchFamily="49" charset="0"/>
              </a:rPr>
              <a:t>count</a:t>
            </a:r>
            <a:r>
              <a:rPr lang="fr-FR" sz="2000" dirty="0"/>
              <a:t> change → le titre de la page est mis à jour.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Si </a:t>
            </a:r>
            <a:r>
              <a:rPr lang="fr-FR" sz="2000" dirty="0">
                <a:latin typeface="Courier New" panose="02070309020205020404" pitchFamily="49" charset="0"/>
              </a:rPr>
              <a:t>count</a:t>
            </a:r>
            <a:r>
              <a:rPr lang="fr-FR" sz="2000" dirty="0"/>
              <a:t> ne change pas, le code dans l’effet ne se réexécute pas.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387FCF-9CC6-EDBD-5F92-0E229D46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5BEE-D880-4483-97CB-8EA0CACDF526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5C5CAF-62AB-9391-43F9-D266B280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9C092DC-4AC2-3A24-3CE2-2B6C9F21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4552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BC8-7B86-2FF7-A617-A675B659D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616D52-B4C1-709B-CB1E-AADCC0C2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useEffect</a:t>
            </a:r>
            <a:r>
              <a:rPr lang="fr-FR" dirty="0"/>
              <a:t> : Nettoyage (</a:t>
            </a:r>
            <a:r>
              <a:rPr lang="fr-FR" dirty="0" err="1"/>
              <a:t>Cleanup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3DAA55-2620-4DA5-83FB-BDF9F599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8040" cy="263969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/>
              <a:t>Certains effets doivent être nettoyés pour éviter des problèmes comme des fuites de mémoire, des </a:t>
            </a:r>
            <a:r>
              <a:rPr lang="fr-FR" dirty="0" err="1"/>
              <a:t>timers</a:t>
            </a:r>
            <a:r>
              <a:rPr lang="fr-FR" dirty="0"/>
              <a:t> qui continuent de tourner ou des écouteurs d’événements persistants.</a:t>
            </a:r>
          </a:p>
          <a:p>
            <a:pPr>
              <a:lnSpc>
                <a:spcPct val="100000"/>
              </a:lnSpc>
            </a:pPr>
            <a:r>
              <a:rPr lang="fr-FR" dirty="0"/>
              <a:t>Pour cela, </a:t>
            </a:r>
            <a:r>
              <a:rPr lang="fr-FR" dirty="0" err="1"/>
              <a:t>useEffect</a:t>
            </a:r>
            <a:r>
              <a:rPr lang="fr-FR" dirty="0"/>
              <a:t> peut retourner une fonction qui s’exécute lors du démontage du composant ou avant le prochain effet.</a:t>
            </a:r>
          </a:p>
          <a:p>
            <a:pPr>
              <a:lnSpc>
                <a:spcPct val="100000"/>
              </a:lnSpc>
            </a:pPr>
            <a:endParaRPr lang="fr-FR" sz="24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7E20F4-02D9-6925-D72A-610953D8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1CB2E-3DF4-49A2-ACE8-D6C6B33310A0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B1359B-18C7-042D-7B28-E2ED90D8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B7E578-8D35-3E7B-5D13-D1F971DF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4162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D12D-92E6-B2EB-7F07-7C0BF0D1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FB251D-3631-DDF9-8316-FB478C8D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useEffect</a:t>
            </a:r>
            <a:r>
              <a:rPr lang="fr-FR" dirty="0"/>
              <a:t> : Nettoyage (</a:t>
            </a:r>
            <a:r>
              <a:rPr lang="fr-FR" dirty="0" err="1"/>
              <a:t>Cleanup</a:t>
            </a:r>
            <a:r>
              <a:rPr lang="fr-FR" dirty="0"/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49145FE-921B-F86F-1C18-A33977957B3E}"/>
              </a:ext>
            </a:extLst>
          </p:cNvPr>
          <p:cNvSpPr txBox="1"/>
          <p:nvPr/>
        </p:nvSpPr>
        <p:spPr>
          <a:xfrm>
            <a:off x="304800" y="1569720"/>
            <a:ext cx="6659880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import { </a:t>
            </a:r>
            <a:r>
              <a:rPr lang="fr-FR" dirty="0" err="1"/>
              <a:t>useState</a:t>
            </a:r>
            <a:r>
              <a:rPr lang="fr-FR" dirty="0"/>
              <a:t>, </a:t>
            </a:r>
            <a:r>
              <a:rPr lang="fr-FR" dirty="0" err="1"/>
              <a:t>useEffect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r>
              <a:rPr lang="fr-FR" dirty="0"/>
              <a:t>export default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Timer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[seconds, </a:t>
            </a:r>
            <a:r>
              <a:rPr lang="fr-FR" dirty="0" err="1"/>
              <a:t>setSeconds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(0);</a:t>
            </a:r>
          </a:p>
          <a:p>
            <a:r>
              <a:rPr lang="fr-FR" dirty="0"/>
              <a:t>  </a:t>
            </a:r>
            <a:r>
              <a:rPr lang="fr-FR" dirty="0" err="1"/>
              <a:t>useEffect</a:t>
            </a:r>
            <a:r>
              <a:rPr lang="fr-FR" dirty="0"/>
              <a:t>(() =&gt; {</a:t>
            </a:r>
          </a:p>
          <a:p>
            <a:r>
              <a:rPr lang="fr-FR" dirty="0"/>
              <a:t>  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interval</a:t>
            </a:r>
            <a:r>
              <a:rPr lang="fr-FR" dirty="0"/>
              <a:t> = </a:t>
            </a:r>
            <a:r>
              <a:rPr lang="fr-FR" dirty="0" err="1"/>
              <a:t>setInterval</a:t>
            </a:r>
            <a:r>
              <a:rPr lang="fr-FR" dirty="0"/>
              <a:t>(() =&gt; {</a:t>
            </a:r>
          </a:p>
          <a:p>
            <a:r>
              <a:rPr lang="fr-FR" dirty="0"/>
              <a:t>      </a:t>
            </a:r>
            <a:r>
              <a:rPr lang="fr-FR" dirty="0" err="1"/>
              <a:t>setSeconds</a:t>
            </a:r>
            <a:r>
              <a:rPr lang="fr-FR" dirty="0"/>
              <a:t>(</a:t>
            </a:r>
            <a:r>
              <a:rPr lang="fr-FR" dirty="0" err="1"/>
              <a:t>prev</a:t>
            </a:r>
            <a:r>
              <a:rPr lang="fr-FR" dirty="0"/>
              <a:t> =&gt; </a:t>
            </a:r>
            <a:r>
              <a:rPr lang="fr-FR" dirty="0" err="1"/>
              <a:t>prev</a:t>
            </a:r>
            <a:r>
              <a:rPr lang="fr-FR" dirty="0"/>
              <a:t> + 1);</a:t>
            </a:r>
          </a:p>
          <a:p>
            <a:r>
              <a:rPr lang="fr-FR" dirty="0"/>
              <a:t>    }, 1000);</a:t>
            </a:r>
          </a:p>
          <a:p>
            <a:r>
              <a:rPr lang="fr-FR" dirty="0"/>
              <a:t>    // Fonction de nettoyage : arrêt du </a:t>
            </a:r>
            <a:r>
              <a:rPr lang="fr-FR" dirty="0" err="1"/>
              <a:t>timer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    // si le composant est démonté</a:t>
            </a:r>
          </a:p>
          <a:p>
            <a:r>
              <a:rPr lang="fr-FR" b="1" dirty="0"/>
              <a:t>    return () =&gt; </a:t>
            </a:r>
            <a:r>
              <a:rPr lang="fr-FR" b="1" dirty="0" err="1"/>
              <a:t>clearInterval</a:t>
            </a:r>
            <a:r>
              <a:rPr lang="fr-FR" b="1" dirty="0"/>
              <a:t>(</a:t>
            </a:r>
            <a:r>
              <a:rPr lang="fr-FR" b="1" dirty="0" err="1"/>
              <a:t>interval</a:t>
            </a:r>
            <a:r>
              <a:rPr lang="fr-FR" b="1" dirty="0"/>
              <a:t>);</a:t>
            </a:r>
          </a:p>
          <a:p>
            <a:r>
              <a:rPr lang="fr-FR" dirty="0"/>
              <a:t>  }, []); // [] → s'exécute une seule fois au montage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&lt;p&gt;Temps écoulé : {seconds} secondes&lt;/p&gt;</a:t>
            </a:r>
          </a:p>
          <a:p>
            <a:r>
              <a:rPr lang="fr-FR" dirty="0"/>
              <a:t>     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={() =&gt; </a:t>
            </a:r>
            <a:r>
              <a:rPr lang="fr-FR" dirty="0" err="1"/>
              <a:t>setSeconds</a:t>
            </a:r>
            <a:r>
              <a:rPr lang="fr-FR" dirty="0"/>
              <a:t>(0)}&gt;Réinitialiser&lt;/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524F7D-FD74-C7F4-6548-F6ED1FE07432}"/>
              </a:ext>
            </a:extLst>
          </p:cNvPr>
          <p:cNvSpPr txBox="1"/>
          <p:nvPr/>
        </p:nvSpPr>
        <p:spPr>
          <a:xfrm>
            <a:off x="5669280" y="1873150"/>
            <a:ext cx="6339840" cy="26776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400" b="1" dirty="0"/>
              <a:t>Explications</a:t>
            </a:r>
            <a:r>
              <a:rPr lang="fr-FR" sz="2400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setInterval</a:t>
            </a:r>
            <a:r>
              <a:rPr lang="fr-FR" sz="2400" dirty="0"/>
              <a:t> démarre le compteur.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return () =&gt; </a:t>
            </a:r>
            <a:r>
              <a:rPr lang="fr-FR" sz="2400" dirty="0" err="1"/>
              <a:t>clearInterval</a:t>
            </a:r>
            <a:r>
              <a:rPr lang="fr-FR" sz="2400" dirty="0"/>
              <a:t>(</a:t>
            </a:r>
            <a:r>
              <a:rPr lang="fr-FR" sz="2400" dirty="0" err="1"/>
              <a:t>interval</a:t>
            </a:r>
            <a:r>
              <a:rPr lang="fr-FR" sz="2400" dirty="0"/>
              <a:t>) → nettoie le </a:t>
            </a:r>
            <a:r>
              <a:rPr lang="fr-FR" sz="2400" dirty="0" err="1"/>
              <a:t>timer</a:t>
            </a:r>
            <a:r>
              <a:rPr lang="fr-FR" sz="2400" dirty="0"/>
              <a:t> si le composant est retiré du DOM.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Tableau vide [] → l’effet s’exécute une seule fois au montage (comme </a:t>
            </a:r>
            <a:r>
              <a:rPr lang="fr-FR" sz="2400" dirty="0" err="1"/>
              <a:t>componentDidMount</a:t>
            </a:r>
            <a:r>
              <a:rPr lang="fr-FR" sz="2400" dirty="0"/>
              <a:t>).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E1085B8-1783-A135-00B3-C24C6D34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9ED6-21FB-4C97-9E8A-FE63F8DD102A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667C6D-4A54-92E2-8033-AB207405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B60BB3-A793-6657-6DB7-D107874D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0894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CD0A9-BD25-058D-96F4-804DFF28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24DCCB1-944B-CD13-3A51-D4D0EA5A9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119EDA4-F686-9C53-EC6E-568E6F79E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dirty="0"/>
              <a:t>Dans </a:t>
            </a:r>
            <a:r>
              <a:rPr lang="fr-FR" dirty="0" err="1"/>
              <a:t>FirstApp</a:t>
            </a:r>
            <a:endParaRPr lang="fr-FR" dirty="0"/>
          </a:p>
          <a:p>
            <a:r>
              <a:rPr lang="fr-FR" b="1" dirty="0"/>
              <a:t>Atelier 02.02 Propos, State, super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50A7C13-29B8-1B89-75CC-27E2BB09C0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F0C61F53-D95C-F9FF-57BB-8317E473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A2874-995A-407F-9DBB-BCC7787D06AB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D02EB08-F4F9-1FD7-CF78-F38C9243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4BBDEDD9-D9DD-06DA-AF7C-2699AF9A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192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FDED0B6-8543-FCC6-20B0-3406868C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 err="1"/>
              <a:t>React</a:t>
            </a:r>
            <a:r>
              <a:rPr lang="fr-FR" dirty="0"/>
              <a:t> Events - Définition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5B1A0B-E95A-B119-663C-D75D84C87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/>
              <a:t>Un événement est une action réalisée par l'utilisateur ou le navigateur (ex : clic, saisie clavier, survol).</a:t>
            </a:r>
          </a:p>
          <a:p>
            <a:r>
              <a:rPr lang="fr-FR" sz="2000"/>
              <a:t>React permet de réagir à ces événements pour rendre l’interface interactive.</a:t>
            </a:r>
          </a:p>
          <a:p>
            <a:r>
              <a:rPr lang="fr-FR" sz="2000"/>
              <a:t>Exemple d’événements courants :</a:t>
            </a:r>
          </a:p>
          <a:p>
            <a:pPr lvl="1"/>
            <a:r>
              <a:rPr lang="fr-FR" sz="2000"/>
              <a:t>click, change, submit, mouseover, keydown, etc.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C2F0E0-D25E-316C-AE0B-C85219E83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865745"/>
            <a:ext cx="4788505" cy="2394252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E4BD01-1F55-4CA6-4C19-F13FAF8C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67E80-5FFB-4FD2-8C69-24E0C3779656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9ADB61-59E1-52BC-A286-7628753D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3FD492-3CE6-2A25-8223-BDFD4F80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0470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858B17-64A7-22BD-313E-0DD26852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React Events - </a:t>
            </a:r>
            <a:r>
              <a:rPr lang="en-US" sz="5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Différence</a:t>
            </a:r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avec HTML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7F45987-781B-F2DA-8FE7-66381DE6F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589220"/>
              </p:ext>
            </p:extLst>
          </p:nvPr>
        </p:nvGraphicFramePr>
        <p:xfrm>
          <a:off x="320040" y="2726434"/>
          <a:ext cx="11548873" cy="340043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5551804">
                  <a:extLst>
                    <a:ext uri="{9D8B030D-6E8A-4147-A177-3AD203B41FA5}">
                      <a16:colId xmlns:a16="http://schemas.microsoft.com/office/drawing/2014/main" val="4053533087"/>
                    </a:ext>
                  </a:extLst>
                </a:gridCol>
                <a:gridCol w="5997069">
                  <a:extLst>
                    <a:ext uri="{9D8B030D-6E8A-4147-A177-3AD203B41FA5}">
                      <a16:colId xmlns:a16="http://schemas.microsoft.com/office/drawing/2014/main" val="2755631658"/>
                    </a:ext>
                  </a:extLst>
                </a:gridCol>
              </a:tblGrid>
              <a:tr h="68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 cap="none" spc="0" dirty="0">
                          <a:solidFill>
                            <a:schemeClr val="tx1"/>
                          </a:solidFill>
                        </a:rPr>
                        <a:t>HTML classique</a:t>
                      </a:r>
                    </a:p>
                  </a:txBody>
                  <a:tcPr marL="187312" marR="228428" marT="144086" marB="1440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 cap="none" spc="0" dirty="0" err="1">
                          <a:solidFill>
                            <a:schemeClr val="tx1"/>
                          </a:solidFill>
                        </a:rPr>
                        <a:t>React</a:t>
                      </a:r>
                      <a:endParaRPr lang="fr-FR" sz="22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7312" marR="228428" marT="144086" marB="1440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75726"/>
                  </a:ext>
                </a:extLst>
              </a:tr>
              <a:tr h="68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cap="none" spc="0" dirty="0">
                          <a:solidFill>
                            <a:schemeClr val="tx1"/>
                          </a:solidFill>
                        </a:rPr>
                        <a:t>Syntaxe en </a:t>
                      </a:r>
                      <a:r>
                        <a:rPr lang="fr-FR" sz="2200" b="1" cap="none" spc="0" dirty="0">
                          <a:solidFill>
                            <a:schemeClr val="tx1"/>
                          </a:solidFill>
                        </a:rPr>
                        <a:t>minuscule</a:t>
                      </a:r>
                      <a:r>
                        <a:rPr lang="fr-FR" sz="2200" cap="none" spc="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fr-FR" sz="22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onclick</a:t>
                      </a:r>
                      <a:endParaRPr lang="fr-FR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7312" marR="228428" marT="144086" marB="1440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cap="none" spc="0" dirty="0">
                          <a:solidFill>
                            <a:schemeClr val="tx1"/>
                          </a:solidFill>
                        </a:rPr>
                        <a:t>Syntaxe en </a:t>
                      </a:r>
                      <a:r>
                        <a:rPr lang="fr-FR" sz="2200" b="1" cap="none" spc="0" dirty="0" err="1">
                          <a:solidFill>
                            <a:schemeClr val="tx1"/>
                          </a:solidFill>
                        </a:rPr>
                        <a:t>camelCase</a:t>
                      </a:r>
                      <a:r>
                        <a:rPr lang="fr-FR" sz="2200" cap="none" spc="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fr-FR" sz="22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on</a:t>
                      </a:r>
                      <a:r>
                        <a:rPr lang="fr-FR" sz="2200" b="1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</a:t>
                      </a:r>
                      <a:r>
                        <a:rPr lang="fr-FR" sz="22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lick</a:t>
                      </a:r>
                      <a:endParaRPr lang="fr-FR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7312" marR="228428" marT="144086" marB="1440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8407"/>
                  </a:ext>
                </a:extLst>
              </a:tr>
              <a:tr h="1018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</a:rPr>
                        <a:t>Le handler est écrit </a:t>
                      </a:r>
                      <a:r>
                        <a:rPr lang="fr-FR" sz="2200" b="1" cap="none" spc="0">
                          <a:solidFill>
                            <a:schemeClr val="tx1"/>
                          </a:solidFill>
                        </a:rPr>
                        <a:t>entre guillemets</a:t>
                      </a:r>
                      <a:r>
                        <a:rPr lang="fr-FR" sz="2200" cap="none" spc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fr-FR" sz="22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"action()"</a:t>
                      </a:r>
                      <a:endParaRPr lang="fr-FR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87312" marR="228428" marT="144086" marB="1440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cap="none" spc="0" dirty="0">
                          <a:solidFill>
                            <a:schemeClr val="tx1"/>
                          </a:solidFill>
                        </a:rPr>
                        <a:t>Le handler est écrit </a:t>
                      </a:r>
                      <a:r>
                        <a:rPr lang="fr-FR" sz="2200" b="1" cap="none" spc="0" dirty="0">
                          <a:solidFill>
                            <a:schemeClr val="tx1"/>
                          </a:solidFill>
                        </a:rPr>
                        <a:t>entre accolades</a:t>
                      </a:r>
                      <a:r>
                        <a:rPr lang="fr-FR" sz="2200" cap="none" spc="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fr-FR" sz="22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{action}</a:t>
                      </a:r>
                      <a:endParaRPr lang="fr-FR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7312" marR="228428" marT="144086" marB="1440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070814"/>
                  </a:ext>
                </a:extLst>
              </a:tr>
              <a:tr h="1018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</a:rPr>
                        <a:t>Peut appeler du code inline</a:t>
                      </a:r>
                    </a:p>
                  </a:txBody>
                  <a:tcPr marL="187312" marR="228428" marT="144086" marB="1440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cap="none" spc="0" dirty="0">
                          <a:solidFill>
                            <a:schemeClr val="tx1"/>
                          </a:solidFill>
                        </a:rPr>
                        <a:t>Usage recommandé : appeler une </a:t>
                      </a:r>
                      <a:r>
                        <a:rPr lang="fr-FR" sz="2200" b="1" cap="none" spc="0" dirty="0">
                          <a:solidFill>
                            <a:schemeClr val="tx1"/>
                          </a:solidFill>
                        </a:rPr>
                        <a:t>fonction JavaScript</a:t>
                      </a:r>
                      <a:endParaRPr lang="fr-FR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7312" marR="228428" marT="144086" marB="14408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176790"/>
                  </a:ext>
                </a:extLst>
              </a:tr>
            </a:tbl>
          </a:graphicData>
        </a:graphic>
      </p:graphicFrame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B77B72-0922-A9C0-B852-118E4D03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5062-5DBE-4D2B-BAF4-1E1DD1979426}" type="datetime1">
              <a:rPr lang="en-US" smtClean="0"/>
              <a:t>11/19/2025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9AD5A0-0460-D2E9-5D64-EC4D6811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3C61D5-B69E-0BFD-4A55-CDDC9707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0899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F8EFD-66B7-0BE2-EBE3-D636A1C7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React</a:t>
            </a:r>
            <a:r>
              <a:rPr lang="fr-FR" dirty="0"/>
              <a:t> Events - Exemple simple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D75827-1D84-EB52-5C29-5CF8AA1BA530}"/>
              </a:ext>
            </a:extLst>
          </p:cNvPr>
          <p:cNvSpPr txBox="1"/>
          <p:nvPr/>
        </p:nvSpPr>
        <p:spPr>
          <a:xfrm>
            <a:off x="1022522" y="1889204"/>
            <a:ext cx="75036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function</a:t>
            </a:r>
            <a:r>
              <a:rPr lang="fr-FR" sz="2400" dirty="0"/>
              <a:t> Button() {</a:t>
            </a:r>
          </a:p>
          <a:p>
            <a:r>
              <a:rPr lang="fr-FR" sz="2400" dirty="0"/>
              <a:t>  </a:t>
            </a:r>
            <a:r>
              <a:rPr lang="fr-FR" sz="2400" dirty="0" err="1"/>
              <a:t>function</a:t>
            </a:r>
            <a:r>
              <a:rPr lang="fr-FR" sz="2400" dirty="0"/>
              <a:t> shoot() {</a:t>
            </a:r>
          </a:p>
          <a:p>
            <a:r>
              <a:rPr lang="fr-FR" sz="2400" dirty="0"/>
              <a:t>    </a:t>
            </a:r>
            <a:r>
              <a:rPr lang="fr-FR" sz="2400" dirty="0" err="1"/>
              <a:t>alert</a:t>
            </a:r>
            <a:r>
              <a:rPr lang="fr-FR" sz="2400" dirty="0"/>
              <a:t>("Bouton cliqué !");</a:t>
            </a:r>
          </a:p>
          <a:p>
            <a:r>
              <a:rPr lang="fr-FR" sz="2400" dirty="0"/>
              <a:t>  }</a:t>
            </a:r>
          </a:p>
          <a:p>
            <a:endParaRPr lang="fr-FR" sz="2400" dirty="0"/>
          </a:p>
          <a:p>
            <a:r>
              <a:rPr lang="fr-FR" sz="2400" dirty="0"/>
              <a:t>  return (</a:t>
            </a:r>
          </a:p>
          <a:p>
            <a:r>
              <a:rPr lang="fr-FR" sz="2400" dirty="0"/>
              <a:t>    &lt;</a:t>
            </a:r>
            <a:r>
              <a:rPr lang="fr-FR" sz="2400" dirty="0" err="1"/>
              <a:t>button</a:t>
            </a:r>
            <a:r>
              <a:rPr lang="fr-FR" sz="2400" dirty="0"/>
              <a:t> </a:t>
            </a:r>
            <a:r>
              <a:rPr lang="fr-FR" sz="2400" dirty="0" err="1"/>
              <a:t>onClick</a:t>
            </a:r>
            <a:r>
              <a:rPr lang="fr-FR" sz="2400" dirty="0"/>
              <a:t>={shoot}&gt;Clique moi&lt;/</a:t>
            </a:r>
            <a:r>
              <a:rPr lang="fr-FR" sz="2400" dirty="0" err="1"/>
              <a:t>button</a:t>
            </a:r>
            <a:r>
              <a:rPr lang="fr-FR" sz="2400" dirty="0"/>
              <a:t>&gt;</a:t>
            </a:r>
          </a:p>
          <a:p>
            <a:r>
              <a:rPr lang="fr-FR" sz="2400" dirty="0"/>
              <a:t>  );</a:t>
            </a:r>
          </a:p>
          <a:p>
            <a:r>
              <a:rPr lang="fr-FR" sz="2400" dirty="0"/>
              <a:t>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5489F6D-6821-D64B-4A2A-1BD99A23778D}"/>
              </a:ext>
            </a:extLst>
          </p:cNvPr>
          <p:cNvSpPr txBox="1"/>
          <p:nvPr/>
        </p:nvSpPr>
        <p:spPr>
          <a:xfrm>
            <a:off x="838199" y="5663684"/>
            <a:ext cx="107771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✅ Ici, shoot est passé comme référence → pas de parenthèses !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EF6A1A32-0E9F-5AC3-1257-C4C76E55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DCE8-327C-4EA6-875F-5A6B22D70AB3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DF464CC-C5BC-BB82-5EBD-125A9D30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CBA85943-E375-6EC2-39B2-19A35611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0824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2949A-E996-19F3-0CDC-68732653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3A2BA9-4877-414C-AC1D-2566D430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React</a:t>
            </a:r>
            <a:r>
              <a:rPr lang="fr-FR" dirty="0"/>
              <a:t> Events - Passage de paramètre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BFCDFD-541B-C516-844D-E8E4294811A6}"/>
              </a:ext>
            </a:extLst>
          </p:cNvPr>
          <p:cNvSpPr txBox="1"/>
          <p:nvPr/>
        </p:nvSpPr>
        <p:spPr>
          <a:xfrm>
            <a:off x="1022522" y="1889204"/>
            <a:ext cx="75036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function</a:t>
            </a:r>
            <a:r>
              <a:rPr lang="fr-FR" sz="2400" dirty="0"/>
              <a:t> Button() {</a:t>
            </a:r>
          </a:p>
          <a:p>
            <a:r>
              <a:rPr lang="fr-FR" sz="2400" dirty="0"/>
              <a:t>  </a:t>
            </a:r>
            <a:r>
              <a:rPr lang="fr-FR" sz="2400" b="1" dirty="0" err="1"/>
              <a:t>function</a:t>
            </a:r>
            <a:r>
              <a:rPr lang="fr-FR" sz="2400" b="1" dirty="0"/>
              <a:t> shoot(</a:t>
            </a:r>
            <a:r>
              <a:rPr lang="fr-FR" sz="2400" b="1" dirty="0" err="1"/>
              <a:t>name</a:t>
            </a:r>
            <a:r>
              <a:rPr lang="fr-FR" sz="2400" b="1" dirty="0"/>
              <a:t>) {</a:t>
            </a:r>
          </a:p>
          <a:p>
            <a:r>
              <a:rPr lang="fr-FR" sz="2400" b="1" dirty="0"/>
              <a:t>    </a:t>
            </a:r>
            <a:r>
              <a:rPr lang="fr-FR" sz="2400" b="1" dirty="0" err="1"/>
              <a:t>alert</a:t>
            </a:r>
            <a:r>
              <a:rPr lang="fr-FR" sz="2400" b="1" dirty="0"/>
              <a:t>(</a:t>
            </a:r>
            <a:r>
              <a:rPr lang="fr-FR" sz="2400" b="1" dirty="0" err="1"/>
              <a:t>name</a:t>
            </a:r>
            <a:r>
              <a:rPr lang="fr-FR" sz="2400" b="1" dirty="0"/>
              <a:t> + " a cliqué !");</a:t>
            </a:r>
          </a:p>
          <a:p>
            <a:r>
              <a:rPr lang="fr-FR" sz="2400" b="1" dirty="0"/>
              <a:t>  }</a:t>
            </a:r>
          </a:p>
          <a:p>
            <a:endParaRPr lang="fr-FR" sz="2400" dirty="0"/>
          </a:p>
          <a:p>
            <a:r>
              <a:rPr lang="fr-FR" sz="2400" dirty="0"/>
              <a:t>  return (</a:t>
            </a:r>
          </a:p>
          <a:p>
            <a:r>
              <a:rPr lang="fr-FR" sz="2400" dirty="0"/>
              <a:t>    &lt;</a:t>
            </a:r>
            <a:r>
              <a:rPr lang="fr-FR" sz="2400" dirty="0" err="1"/>
              <a:t>button</a:t>
            </a:r>
            <a:r>
              <a:rPr lang="fr-FR" sz="2400" dirty="0"/>
              <a:t> </a:t>
            </a:r>
            <a:r>
              <a:rPr lang="fr-FR" sz="2400" dirty="0" err="1"/>
              <a:t>onClick</a:t>
            </a:r>
            <a:r>
              <a:rPr lang="fr-FR" sz="2400" dirty="0"/>
              <a:t>={</a:t>
            </a:r>
            <a:r>
              <a:rPr lang="fr-FR" sz="2400" b="1" dirty="0"/>
              <a:t>()</a:t>
            </a:r>
            <a:r>
              <a:rPr lang="fr-FR" sz="2400" dirty="0"/>
              <a:t> =&gt; </a:t>
            </a:r>
            <a:r>
              <a:rPr lang="fr-FR" sz="2400" b="1" dirty="0"/>
              <a:t>shoot</a:t>
            </a:r>
            <a:r>
              <a:rPr lang="fr-FR" sz="2400" dirty="0"/>
              <a:t>("Kamel")}&gt;</a:t>
            </a:r>
          </a:p>
          <a:p>
            <a:r>
              <a:rPr lang="fr-FR" sz="2400" dirty="0"/>
              <a:t>      Clique</a:t>
            </a:r>
          </a:p>
          <a:p>
            <a:r>
              <a:rPr lang="fr-FR" sz="2400" dirty="0"/>
              <a:t>    &lt;/</a:t>
            </a:r>
            <a:r>
              <a:rPr lang="fr-FR" sz="2400" dirty="0" err="1"/>
              <a:t>button</a:t>
            </a:r>
            <a:r>
              <a:rPr lang="fr-FR" sz="2400" dirty="0"/>
              <a:t>&gt;</a:t>
            </a:r>
          </a:p>
          <a:p>
            <a:r>
              <a:rPr lang="fr-FR" sz="2400" dirty="0"/>
              <a:t>  );</a:t>
            </a:r>
          </a:p>
          <a:p>
            <a:r>
              <a:rPr lang="fr-FR" sz="2400" dirty="0"/>
              <a:t>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6AC5734-760F-4349-AB1B-1BE2EB66C9F6}"/>
              </a:ext>
            </a:extLst>
          </p:cNvPr>
          <p:cNvSpPr txBox="1"/>
          <p:nvPr/>
        </p:nvSpPr>
        <p:spPr>
          <a:xfrm>
            <a:off x="576649" y="6044188"/>
            <a:ext cx="1147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✅ Ici, On utilise une </a:t>
            </a:r>
            <a:r>
              <a:rPr lang="fr-FR" sz="2800" b="1" dirty="0"/>
              <a:t>fonction fléchée</a:t>
            </a:r>
            <a:r>
              <a:rPr lang="fr-FR" sz="2800" dirty="0"/>
              <a:t> pour transmettre des arguments !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0B6EC0-3A93-7C3F-3311-DBC684D9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0D28B-144C-491E-856A-5FA67994BAB1}" type="datetime1">
              <a:rPr lang="en-US" smtClean="0"/>
              <a:t>11/19/2025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10C88AD-3EBE-F4E9-6805-72845EBA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BBDE8C-23F9-F25F-7E18-6A3899F1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5446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5FD9A-D882-5886-1A34-99F2F8B0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319D7-ED6E-5212-FDB2-043D5A20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React</a:t>
            </a:r>
            <a:r>
              <a:rPr lang="fr-FR" dirty="0"/>
              <a:t> Events - Gestion des Inputs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864CE2-7EBF-18F2-1B81-D68CDC3941E6}"/>
              </a:ext>
            </a:extLst>
          </p:cNvPr>
          <p:cNvSpPr txBox="1"/>
          <p:nvPr/>
        </p:nvSpPr>
        <p:spPr>
          <a:xfrm>
            <a:off x="1022522" y="1889204"/>
            <a:ext cx="75036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function</a:t>
            </a:r>
            <a:r>
              <a:rPr lang="fr-FR" sz="2400" dirty="0"/>
              <a:t> </a:t>
            </a:r>
            <a:r>
              <a:rPr lang="fr-FR" sz="2400" dirty="0" err="1"/>
              <a:t>InputDemo</a:t>
            </a:r>
            <a:r>
              <a:rPr lang="fr-FR" sz="2400" dirty="0"/>
              <a:t>() {</a:t>
            </a:r>
          </a:p>
          <a:p>
            <a:r>
              <a:rPr lang="fr-FR" sz="2400" dirty="0"/>
              <a:t>  </a:t>
            </a:r>
            <a:r>
              <a:rPr lang="fr-FR" sz="2400" dirty="0" err="1"/>
              <a:t>function</a:t>
            </a:r>
            <a:r>
              <a:rPr lang="fr-FR" sz="2400" dirty="0"/>
              <a:t> </a:t>
            </a:r>
            <a:r>
              <a:rPr lang="fr-FR" sz="2400" dirty="0" err="1"/>
              <a:t>handleChange</a:t>
            </a:r>
            <a:r>
              <a:rPr lang="fr-FR" sz="2400" dirty="0"/>
              <a:t>(</a:t>
            </a:r>
            <a:r>
              <a:rPr lang="fr-FR" sz="2400" dirty="0" err="1"/>
              <a:t>event</a:t>
            </a:r>
            <a:r>
              <a:rPr lang="fr-FR" sz="2400" dirty="0"/>
              <a:t>) {</a:t>
            </a:r>
          </a:p>
          <a:p>
            <a:r>
              <a:rPr lang="fr-FR" sz="2400" dirty="0"/>
              <a:t>    console.log("Valeur :", </a:t>
            </a:r>
            <a:r>
              <a:rPr lang="fr-FR" sz="2400" b="1" dirty="0" err="1"/>
              <a:t>event.target.value</a:t>
            </a:r>
            <a:r>
              <a:rPr lang="fr-FR" sz="2400" dirty="0"/>
              <a:t>);</a:t>
            </a:r>
          </a:p>
          <a:p>
            <a:r>
              <a:rPr lang="fr-FR" sz="2400" dirty="0"/>
              <a:t>  }</a:t>
            </a:r>
          </a:p>
          <a:p>
            <a:endParaRPr lang="fr-FR" sz="2400" dirty="0"/>
          </a:p>
          <a:p>
            <a:r>
              <a:rPr lang="fr-FR" sz="2400" dirty="0"/>
              <a:t>  return (</a:t>
            </a:r>
          </a:p>
          <a:p>
            <a:r>
              <a:rPr lang="fr-FR" sz="2400" dirty="0"/>
              <a:t>    &lt;input type="</a:t>
            </a:r>
            <a:r>
              <a:rPr lang="fr-FR" sz="2400" dirty="0" err="1"/>
              <a:t>text</a:t>
            </a:r>
            <a:r>
              <a:rPr lang="fr-FR" sz="2400" dirty="0"/>
              <a:t>" </a:t>
            </a:r>
            <a:r>
              <a:rPr lang="fr-FR" sz="2400" dirty="0" err="1"/>
              <a:t>onChange</a:t>
            </a:r>
            <a:r>
              <a:rPr lang="fr-FR" sz="2400" dirty="0"/>
              <a:t>={</a:t>
            </a:r>
            <a:r>
              <a:rPr lang="fr-FR" sz="2400" dirty="0" err="1"/>
              <a:t>handleChange</a:t>
            </a:r>
            <a:r>
              <a:rPr lang="fr-FR" sz="2400" dirty="0"/>
              <a:t>} /&gt;</a:t>
            </a:r>
          </a:p>
          <a:p>
            <a:r>
              <a:rPr lang="fr-FR" sz="2400" dirty="0"/>
              <a:t>  );</a:t>
            </a:r>
          </a:p>
          <a:p>
            <a:r>
              <a:rPr lang="fr-FR" sz="2400" dirty="0"/>
              <a:t>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2F34E51-1532-CB76-5DA9-679F661E3DB4}"/>
              </a:ext>
            </a:extLst>
          </p:cNvPr>
          <p:cNvSpPr txBox="1"/>
          <p:nvPr/>
        </p:nvSpPr>
        <p:spPr>
          <a:xfrm>
            <a:off x="600712" y="5504040"/>
            <a:ext cx="1147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✅ → </a:t>
            </a:r>
            <a:r>
              <a:rPr lang="fr-FR" sz="2800" b="1" dirty="0" err="1"/>
              <a:t>event.target.value</a:t>
            </a:r>
            <a:r>
              <a:rPr lang="fr-FR" sz="2800" b="1" dirty="0"/>
              <a:t> </a:t>
            </a:r>
            <a:r>
              <a:rPr lang="fr-FR" sz="2800" dirty="0"/>
              <a:t>permet d’accéder à la valeur saisie.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FEE91BC-C41D-FC1E-06E9-01CDB234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31FEE-148B-4067-9882-7D32ACC30AA6}" type="datetime1">
              <a:rPr lang="en-US" smtClean="0"/>
              <a:t>11/19/2025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47D5F14-05A7-ADBC-9E92-DC202A479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DAC41-EBE0-5B4B-10FB-30048A79F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3327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0A350-F9DC-6017-2A75-CB6011FA9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8ED57E3-3D0E-E3BE-4F33-5B7E277F8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91532B93-B7EF-E0FF-CBF8-207A5220F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dirty="0"/>
              <a:t>Dans </a:t>
            </a:r>
            <a:r>
              <a:rPr lang="fr-FR" dirty="0" err="1"/>
              <a:t>FirstApp</a:t>
            </a:r>
            <a:endParaRPr lang="fr-FR" dirty="0"/>
          </a:p>
          <a:p>
            <a:r>
              <a:rPr lang="fr-FR" b="1" dirty="0"/>
              <a:t>Atelier 02.03 Events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17FE325-852F-7B1C-BCE3-FB36191854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A0F1E509-74E2-50D0-213F-8CC55859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3CEA-C5EE-4BF0-984E-83A1DB434A6A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8C13F98F-1E2B-7337-1D03-0A17FF2D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3F21BC9-939D-6E89-3279-DA1FF84D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1265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3917D9-241D-2AC9-B522-BEAA0688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Rendu conditionnel : If </a:t>
            </a:r>
            <a:r>
              <a:rPr lang="fr-FR" dirty="0" err="1"/>
              <a:t>Statement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5CF4E5-7584-8897-A21B-F2E9F679E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5973" cy="4351338"/>
          </a:xfrm>
        </p:spPr>
        <p:txBody>
          <a:bodyPr/>
          <a:lstStyle/>
          <a:p>
            <a:r>
              <a:rPr lang="fr-FR" dirty="0"/>
              <a:t>Permet d’exécuter du code ou d’afficher un composant uniquement si une condition est vraie.</a:t>
            </a:r>
          </a:p>
          <a:p>
            <a:r>
              <a:rPr lang="fr-FR" dirty="0"/>
              <a:t>Utilisé dans la fonction de rendu, mais pas directement dans le JSX.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7BEC86E-19D4-3B60-7D13-5DE15B00E3F3}"/>
              </a:ext>
            </a:extLst>
          </p:cNvPr>
          <p:cNvSpPr txBox="1"/>
          <p:nvPr/>
        </p:nvSpPr>
        <p:spPr>
          <a:xfrm>
            <a:off x="6793127" y="1595578"/>
            <a:ext cx="5168214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import React from "react";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IfExample</a:t>
            </a:r>
            <a:r>
              <a:rPr lang="en-US" dirty="0"/>
              <a:t> = () =&gt; {</a:t>
            </a:r>
          </a:p>
          <a:p>
            <a:r>
              <a:rPr lang="en-US" dirty="0"/>
              <a:t>  const </a:t>
            </a:r>
            <a:r>
              <a:rPr lang="en-US" dirty="0" err="1"/>
              <a:t>isLoggedIn</a:t>
            </a:r>
            <a:r>
              <a:rPr lang="en-US" dirty="0"/>
              <a:t> = true;</a:t>
            </a:r>
          </a:p>
          <a:p>
            <a:endParaRPr lang="en-US" dirty="0"/>
          </a:p>
          <a:p>
            <a:r>
              <a:rPr lang="en-US" dirty="0"/>
              <a:t>  let message;</a:t>
            </a:r>
          </a:p>
          <a:p>
            <a:r>
              <a:rPr lang="en-US" dirty="0"/>
              <a:t>  if (</a:t>
            </a:r>
            <a:r>
              <a:rPr lang="en-US" dirty="0" err="1"/>
              <a:t>isLoggedIn</a:t>
            </a:r>
            <a:r>
              <a:rPr lang="en-US" dirty="0"/>
              <a:t>) {</a:t>
            </a:r>
          </a:p>
          <a:p>
            <a:r>
              <a:rPr lang="en-US" dirty="0"/>
              <a:t>    message = &lt;h1&gt;Bienvenue sur le site !&lt;/h1&gt;;</a:t>
            </a:r>
          </a:p>
          <a:p>
            <a:r>
              <a:rPr lang="en-US" dirty="0"/>
              <a:t>  } else {</a:t>
            </a:r>
          </a:p>
          <a:p>
            <a:r>
              <a:rPr lang="en-US" dirty="0"/>
              <a:t>    message = &lt;h1&gt;</a:t>
            </a:r>
            <a:r>
              <a:rPr lang="en-US" dirty="0" err="1"/>
              <a:t>Veuillez</a:t>
            </a:r>
            <a:r>
              <a:rPr lang="en-US" dirty="0"/>
              <a:t> vous connecter&lt;/h1&gt;;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return &lt;div&gt;{message}&lt;/div&gt;;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IfExample</a:t>
            </a:r>
            <a:r>
              <a:rPr lang="en-US" dirty="0"/>
              <a:t>;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6571081-D9F8-976F-A457-4B00BEB6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C2D3-BB2F-4C44-A347-74CA5CA7B32D}" type="datetime1">
              <a:rPr lang="en-US" smtClean="0"/>
              <a:t>11/19/2025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4C27624C-17FF-501C-B4A6-451CF769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12750B-292F-C48E-7865-4D7D39E3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1664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EFBB-D7DB-D909-7B68-B3B7B316A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4B2C4-A1A6-62CB-8F06-8E4D47B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Rendu conditionnel : &amp;&amp; Opérateur 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AA2762-7DE0-9D59-8909-F375E5F85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5973" cy="4351338"/>
          </a:xfrm>
        </p:spPr>
        <p:txBody>
          <a:bodyPr/>
          <a:lstStyle/>
          <a:p>
            <a:r>
              <a:rPr lang="fr-FR" dirty="0"/>
              <a:t>Permet de rendre un élément JSX uniquement si une condition est vraie.</a:t>
            </a:r>
          </a:p>
          <a:p>
            <a:r>
              <a:rPr lang="fr-FR" dirty="0"/>
              <a:t>Syntaxe compacte pour le rendu conditionnel dans le JSX.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735D70C-CAFF-88AC-B025-12565B0792BE}"/>
              </a:ext>
            </a:extLst>
          </p:cNvPr>
          <p:cNvSpPr txBox="1"/>
          <p:nvPr/>
        </p:nvSpPr>
        <p:spPr>
          <a:xfrm>
            <a:off x="6793127" y="1968560"/>
            <a:ext cx="516821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import React from "react";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AndExample</a:t>
            </a:r>
            <a:r>
              <a:rPr lang="en-US" dirty="0"/>
              <a:t> = () =&gt; {</a:t>
            </a:r>
          </a:p>
          <a:p>
            <a:r>
              <a:rPr lang="en-US" dirty="0"/>
              <a:t>  const </a:t>
            </a:r>
            <a:r>
              <a:rPr lang="en-US" dirty="0" err="1"/>
              <a:t>showMessage</a:t>
            </a:r>
            <a:r>
              <a:rPr lang="en-US" dirty="0"/>
              <a:t> = true;</a:t>
            </a:r>
          </a:p>
          <a:p>
            <a:endParaRPr lang="en-US" dirty="0"/>
          </a:p>
          <a:p>
            <a:r>
              <a:rPr lang="en-US" dirty="0"/>
              <a:t>  return (</a:t>
            </a:r>
          </a:p>
          <a:p>
            <a:r>
              <a:rPr lang="en-US" dirty="0"/>
              <a:t>    &lt;div&gt;</a:t>
            </a:r>
          </a:p>
          <a:p>
            <a:r>
              <a:rPr lang="en-US" dirty="0"/>
              <a:t>      &lt;h1&gt;</a:t>
            </a:r>
            <a:r>
              <a:rPr lang="en-US" dirty="0" err="1"/>
              <a:t>Liste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&lt;/h1&gt;</a:t>
            </a:r>
          </a:p>
          <a:p>
            <a:r>
              <a:rPr lang="en-US" dirty="0"/>
              <a:t>      </a:t>
            </a:r>
            <a:r>
              <a:rPr lang="en-US" b="1" dirty="0"/>
              <a:t>{</a:t>
            </a:r>
            <a:r>
              <a:rPr lang="en-US" b="1" dirty="0" err="1"/>
              <a:t>showMessage</a:t>
            </a:r>
            <a:r>
              <a:rPr lang="en-US" b="1" dirty="0"/>
              <a:t> &amp;&amp; &lt;p&gt;Vous </a:t>
            </a:r>
            <a:r>
              <a:rPr lang="en-US" b="1" dirty="0" err="1"/>
              <a:t>voyez</a:t>
            </a:r>
            <a:r>
              <a:rPr lang="en-US" b="1" dirty="0"/>
              <a:t> </a:t>
            </a:r>
            <a:r>
              <a:rPr lang="en-US" b="1" dirty="0" err="1"/>
              <a:t>ce</a:t>
            </a:r>
            <a:r>
              <a:rPr lang="en-US" b="1" dirty="0"/>
              <a:t> message car </a:t>
            </a:r>
            <a:r>
              <a:rPr lang="en-US" b="1" dirty="0" err="1"/>
              <a:t>showMessage</a:t>
            </a:r>
            <a:r>
              <a:rPr lang="en-US" b="1" dirty="0"/>
              <a:t> est </a:t>
            </a:r>
            <a:r>
              <a:rPr lang="en-US" b="1" dirty="0" err="1"/>
              <a:t>vrai</a:t>
            </a:r>
            <a:r>
              <a:rPr lang="en-US" b="1" dirty="0"/>
              <a:t> !&lt;/p&gt;}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AndExample</a:t>
            </a:r>
            <a:r>
              <a:rPr lang="en-US" dirty="0"/>
              <a:t>;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A533277-A29E-5431-BCAF-6DC9F82B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5053-4034-4556-B655-7CC9F15CED84}" type="datetime1">
              <a:rPr lang="en-US" smtClean="0"/>
              <a:t>11/19/2025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F7232974-26B5-DB05-756F-D8624294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DBC94D-5F69-1363-9D26-7F6702BA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9155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BF75-9C78-854F-0C77-8E986624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369266-F4A1-FD7B-5734-CA048606D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Rendu conditionnel : Opérateur ternaire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17DC70-26B7-929C-F713-4FB7D5D65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5973" cy="4351338"/>
          </a:xfrm>
        </p:spPr>
        <p:txBody>
          <a:bodyPr/>
          <a:lstStyle/>
          <a:p>
            <a:r>
              <a:rPr lang="fr-FR" dirty="0"/>
              <a:t>Permet d’afficher l’une des deux valeurs en fonction d’une condition.</a:t>
            </a:r>
          </a:p>
          <a:p>
            <a:r>
              <a:rPr lang="fr-FR" dirty="0"/>
              <a:t>Syntaxe : </a:t>
            </a:r>
          </a:p>
          <a:p>
            <a:pPr marL="0" indent="0">
              <a:buNone/>
            </a:pPr>
            <a:r>
              <a:rPr lang="fr-FR" sz="2000" b="1" dirty="0"/>
              <a:t>condition</a:t>
            </a:r>
            <a:r>
              <a:rPr lang="fr-FR" sz="2000" dirty="0"/>
              <a:t> ? </a:t>
            </a:r>
            <a:r>
              <a:rPr lang="fr-FR" sz="2000" b="1" dirty="0" err="1"/>
              <a:t>valeur_si_vrai</a:t>
            </a:r>
            <a:r>
              <a:rPr lang="fr-FR" sz="2000" b="1" dirty="0"/>
              <a:t> </a:t>
            </a:r>
            <a:r>
              <a:rPr lang="fr-FR" sz="2000" dirty="0"/>
              <a:t>: </a:t>
            </a:r>
            <a:r>
              <a:rPr lang="fr-FR" sz="2000" b="1" dirty="0" err="1"/>
              <a:t>valeur_si_faux</a:t>
            </a:r>
            <a:endParaRPr lang="fr-FR" sz="20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6F5FE1-3E83-CD75-BE3A-B140AFE90488}"/>
              </a:ext>
            </a:extLst>
          </p:cNvPr>
          <p:cNvSpPr txBox="1"/>
          <p:nvPr/>
        </p:nvSpPr>
        <p:spPr>
          <a:xfrm>
            <a:off x="6793127" y="1968560"/>
            <a:ext cx="516821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import React from "react";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TernaryExample</a:t>
            </a:r>
            <a:r>
              <a:rPr lang="en-US" dirty="0"/>
              <a:t> = () =&gt; {</a:t>
            </a:r>
          </a:p>
          <a:p>
            <a:r>
              <a:rPr lang="en-US" dirty="0"/>
              <a:t>  const </a:t>
            </a:r>
            <a:r>
              <a:rPr lang="en-US" dirty="0" err="1"/>
              <a:t>isLoggedIn</a:t>
            </a:r>
            <a:r>
              <a:rPr lang="en-US" dirty="0"/>
              <a:t> = false;</a:t>
            </a:r>
          </a:p>
          <a:p>
            <a:endParaRPr lang="en-US" dirty="0"/>
          </a:p>
          <a:p>
            <a:r>
              <a:rPr lang="en-US" dirty="0"/>
              <a:t>  return (</a:t>
            </a:r>
          </a:p>
          <a:p>
            <a:r>
              <a:rPr lang="en-US" dirty="0"/>
              <a:t>    &lt;div&gt;</a:t>
            </a:r>
          </a:p>
          <a:p>
            <a:r>
              <a:rPr lang="en-US" dirty="0"/>
              <a:t>      </a:t>
            </a:r>
            <a:r>
              <a:rPr lang="en-US" b="1" dirty="0"/>
              <a:t>{</a:t>
            </a:r>
            <a:r>
              <a:rPr lang="en-US" b="1" dirty="0" err="1"/>
              <a:t>isLoggedIn</a:t>
            </a:r>
            <a:r>
              <a:rPr lang="en-US" b="1" dirty="0"/>
              <a:t> ? &lt;h1&gt;Bienvenue !&lt;/h1&gt; : &lt;h1&gt;</a:t>
            </a:r>
            <a:r>
              <a:rPr lang="en-US" b="1" dirty="0" err="1"/>
              <a:t>Veuillez</a:t>
            </a:r>
            <a:r>
              <a:rPr lang="en-US" b="1" dirty="0"/>
              <a:t> vous connecter&lt;/h1&gt;}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TernaryExample</a:t>
            </a:r>
            <a:r>
              <a:rPr lang="en-US" dirty="0"/>
              <a:t>;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12134A6-ECDC-C5AE-98EC-A1864529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6417-AEFD-422A-82D7-005C00543F65}" type="datetime1">
              <a:rPr lang="en-US" smtClean="0"/>
              <a:t>11/19/2025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9178A638-0BE5-675F-9A59-3AC3DE592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7E5A793-2209-85AA-36E7-398527D8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6658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BEA13-4DFC-14B9-8464-76A57378B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903D13-3B0D-143F-D8EF-D4933925D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Rendu conditionnel : Listes et itération avec </a:t>
            </a:r>
            <a:r>
              <a:rPr lang="fr-FR" dirty="0" err="1"/>
              <a:t>map</a:t>
            </a:r>
            <a:r>
              <a:rPr lang="fr-FR" dirty="0"/>
              <a:t>()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7CE10D-9BF4-1B17-252C-66074B0D7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5973" cy="4351338"/>
          </a:xfrm>
        </p:spPr>
        <p:txBody>
          <a:bodyPr>
            <a:normAutofit/>
          </a:bodyPr>
          <a:lstStyle/>
          <a:p>
            <a:r>
              <a:rPr lang="fr-FR" sz="2400" dirty="0"/>
              <a:t>Permet de créer une liste d’éléments JSX à partir d’un tableau.</a:t>
            </a:r>
          </a:p>
          <a:p>
            <a:r>
              <a:rPr lang="fr-FR" sz="2400" dirty="0"/>
              <a:t>Chaque élément doit avoir une clé unique pour que </a:t>
            </a:r>
            <a:r>
              <a:rPr lang="fr-FR" sz="2400" dirty="0" err="1"/>
              <a:t>React</a:t>
            </a:r>
            <a:r>
              <a:rPr lang="fr-FR" sz="2400" dirty="0"/>
              <a:t> puisse gérer efficacement les mises à jour.</a:t>
            </a:r>
            <a:endParaRPr lang="fr-FR" sz="18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6B3F04-673F-9471-E643-C1B94425D679}"/>
              </a:ext>
            </a:extLst>
          </p:cNvPr>
          <p:cNvSpPr txBox="1"/>
          <p:nvPr/>
        </p:nvSpPr>
        <p:spPr>
          <a:xfrm>
            <a:off x="6793127" y="1968560"/>
            <a:ext cx="516821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import React from "react";</a:t>
            </a:r>
          </a:p>
          <a:p>
            <a:endParaRPr lang="en-US" dirty="0"/>
          </a:p>
          <a:p>
            <a:r>
              <a:rPr lang="en-US" dirty="0"/>
              <a:t>const fruits = ["Pomme", "</a:t>
            </a:r>
            <a:r>
              <a:rPr lang="en-US" dirty="0" err="1"/>
              <a:t>Banane</a:t>
            </a:r>
            <a:r>
              <a:rPr lang="en-US" dirty="0"/>
              <a:t>", "Orange"];</a:t>
            </a:r>
          </a:p>
          <a:p>
            <a:endParaRPr lang="en-US" dirty="0"/>
          </a:p>
          <a:p>
            <a:r>
              <a:rPr lang="en-US" dirty="0"/>
              <a:t>const </a:t>
            </a:r>
            <a:r>
              <a:rPr lang="en-US" dirty="0" err="1"/>
              <a:t>ListExample</a:t>
            </a:r>
            <a:r>
              <a:rPr lang="en-US" dirty="0"/>
              <a:t> = () =&gt;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&lt;ul&gt;</a:t>
            </a:r>
          </a:p>
          <a:p>
            <a:r>
              <a:rPr lang="en-US" dirty="0"/>
              <a:t>      {</a:t>
            </a:r>
            <a:r>
              <a:rPr lang="en-US" dirty="0" err="1"/>
              <a:t>fruits.map</a:t>
            </a:r>
            <a:r>
              <a:rPr lang="en-US" dirty="0"/>
              <a:t>((fruit, </a:t>
            </a:r>
            <a:r>
              <a:rPr lang="en-US" b="1" dirty="0"/>
              <a:t>index</a:t>
            </a:r>
            <a:r>
              <a:rPr lang="en-US" dirty="0"/>
              <a:t>) =&gt; (</a:t>
            </a:r>
          </a:p>
          <a:p>
            <a:r>
              <a:rPr lang="en-US" dirty="0"/>
              <a:t>        &lt;li </a:t>
            </a:r>
            <a:r>
              <a:rPr lang="en-US" b="1" dirty="0"/>
              <a:t>key</a:t>
            </a:r>
            <a:r>
              <a:rPr lang="en-US" dirty="0"/>
              <a:t>={</a:t>
            </a:r>
            <a:r>
              <a:rPr lang="en-US" b="1" dirty="0"/>
              <a:t>index</a:t>
            </a:r>
            <a:r>
              <a:rPr lang="en-US" dirty="0"/>
              <a:t>}&gt;{fruit}&lt;/li&gt;</a:t>
            </a:r>
          </a:p>
          <a:p>
            <a:r>
              <a:rPr lang="en-US" dirty="0"/>
              <a:t>      ))}</a:t>
            </a:r>
          </a:p>
          <a:p>
            <a:r>
              <a:rPr lang="en-US" dirty="0"/>
              <a:t>    &lt;/ul&gt;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ListExample</a:t>
            </a:r>
            <a:r>
              <a:rPr lang="en-US" dirty="0"/>
              <a:t>;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851CF40-D654-8E4B-EB14-ADF528DDC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6E142-C532-4268-A7FE-4A415DAF32AA}" type="datetime1">
              <a:rPr lang="en-US" smtClean="0"/>
              <a:t>11/19/2025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89890C68-52FB-F9DF-9D88-8CBCC2F6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168DBE0-5B37-1DCC-62F2-4E40CD1B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0923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664B08-C9F2-7CEE-79C1-A79B081A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dirty="0"/>
              <a:t>Le Spread </a:t>
            </a:r>
            <a:r>
              <a:rPr lang="fr-FR" sz="4000" dirty="0" err="1"/>
              <a:t>Operator</a:t>
            </a:r>
            <a:r>
              <a:rPr lang="fr-FR" sz="4000" dirty="0"/>
              <a:t> (opérateur de décomposition</a:t>
            </a:r>
            <a:r>
              <a:rPr lang="fr-FR" dirty="0"/>
              <a:t>)</a:t>
            </a:r>
            <a:r>
              <a:rPr lang="fr-FR" sz="6600" b="1" dirty="0"/>
              <a:t>...</a:t>
            </a: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B74EBD-51F2-BB39-7894-16EB28E56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permet de copier les éléments d’un tableau dans un nouveau tableau.</a:t>
            </a:r>
          </a:p>
          <a:p>
            <a:pPr marL="0" indent="0">
              <a:buNone/>
            </a:pPr>
            <a:r>
              <a:rPr lang="fr-FR" b="1" dirty="0"/>
              <a:t>Exemple simple :</a:t>
            </a:r>
          </a:p>
          <a:p>
            <a:r>
              <a:rPr lang="en-US" dirty="0"/>
              <a:t>const </a:t>
            </a:r>
            <a:r>
              <a:rPr lang="en-US" dirty="0" err="1"/>
              <a:t>nums</a:t>
            </a:r>
            <a:r>
              <a:rPr lang="en-US" dirty="0"/>
              <a:t> = [1, 2, 3];</a:t>
            </a:r>
          </a:p>
          <a:p>
            <a:r>
              <a:rPr lang="en-US" dirty="0"/>
              <a:t>const copy = [...</a:t>
            </a:r>
            <a:r>
              <a:rPr lang="en-US" dirty="0" err="1"/>
              <a:t>nums</a:t>
            </a:r>
            <a:r>
              <a:rPr lang="en-US" dirty="0"/>
              <a:t>];  // copy = [1, 2, 3]</a:t>
            </a:r>
          </a:p>
          <a:p>
            <a:pPr marL="0" indent="0">
              <a:buNone/>
            </a:pPr>
            <a:r>
              <a:rPr lang="fr-FR" dirty="0"/>
              <a:t>➡️ On duplique le tableau sans le modifier.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077074-D85E-C5E0-647A-B6CCD558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884E-5AD2-4E1F-B853-C3B9EE0D91C9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849B26-E748-788F-05B7-CDBF2671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47E084-1E48-F745-FE9B-8425C625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3833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957FD-8F84-60F1-06CD-6E25484A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9B43B-A3A3-4749-5D6C-EE1C002F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dirty="0"/>
              <a:t>Le Spread </a:t>
            </a:r>
            <a:r>
              <a:rPr lang="fr-FR" sz="4000" dirty="0" err="1"/>
              <a:t>Operator</a:t>
            </a:r>
            <a:r>
              <a:rPr lang="fr-FR" sz="4000" dirty="0"/>
              <a:t> (opérateur de décomposition</a:t>
            </a:r>
            <a:r>
              <a:rPr lang="fr-FR" dirty="0"/>
              <a:t>)</a:t>
            </a:r>
            <a:r>
              <a:rPr lang="fr-FR" sz="6600" b="1" dirty="0"/>
              <a:t>...</a:t>
            </a: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4B8CDC-A1E8-4B42-5DBF-2951AE173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8427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r-FR" sz="2400" dirty="0"/>
              <a:t>Dans la </a:t>
            </a:r>
            <a:r>
              <a:rPr lang="fr-FR" sz="2400" dirty="0" err="1"/>
              <a:t>ToDo</a:t>
            </a:r>
            <a:r>
              <a:rPr lang="fr-FR" sz="2400" dirty="0"/>
              <a:t> List, </a:t>
            </a:r>
            <a:r>
              <a:rPr lang="fr-FR" sz="2400" dirty="0" err="1"/>
              <a:t>tasks</a:t>
            </a:r>
            <a:r>
              <a:rPr lang="fr-FR" sz="2400" dirty="0"/>
              <a:t> est un tableau contenant la liste des tâches.</a:t>
            </a:r>
          </a:p>
          <a:p>
            <a:pPr>
              <a:lnSpc>
                <a:spcPct val="110000"/>
              </a:lnSpc>
            </a:pPr>
            <a:r>
              <a:rPr lang="en-US" sz="2400" dirty="0" err="1"/>
              <a:t>setTasks</a:t>
            </a:r>
            <a:r>
              <a:rPr lang="en-US" sz="2400" dirty="0"/>
              <a:t>([.</a:t>
            </a:r>
            <a:r>
              <a:rPr lang="en-US" sz="2400" b="1" dirty="0"/>
              <a:t>..tasks</a:t>
            </a:r>
            <a:r>
              <a:rPr lang="en-US" sz="2400" dirty="0"/>
              <a:t>, { id: </a:t>
            </a:r>
            <a:r>
              <a:rPr lang="en-US" sz="2400" dirty="0" err="1"/>
              <a:t>Date.now</a:t>
            </a:r>
            <a:r>
              <a:rPr lang="en-US" sz="2400" dirty="0"/>
              <a:t>(), text: input }]);</a:t>
            </a:r>
          </a:p>
          <a:p>
            <a:pPr>
              <a:lnSpc>
                <a:spcPct val="110000"/>
              </a:lnSpc>
              <a:buNone/>
            </a:pPr>
            <a:r>
              <a:rPr lang="fr-FR" sz="2400" dirty="0"/>
              <a:t>Décomposition :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fr-FR" sz="2400" b="1" dirty="0">
                <a:latin typeface="Courier New" panose="02070309020205020404" pitchFamily="49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...</a:t>
            </a:r>
            <a:r>
              <a:rPr lang="fr-FR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tasks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 :</a:t>
            </a:r>
            <a:r>
              <a:rPr lang="fr-FR" sz="2400" dirty="0"/>
              <a:t>Copie toutes les tâches existantes dans un </a:t>
            </a:r>
            <a:r>
              <a:rPr lang="fr-FR" sz="2400" b="1" dirty="0"/>
              <a:t>nouveau tableau</a:t>
            </a:r>
            <a:endParaRPr lang="fr-FR" sz="2400" dirty="0"/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fr-FR" sz="2400" b="1" dirty="0">
                <a:latin typeface="Courier New" panose="02070309020205020404" pitchFamily="49" charset="0"/>
              </a:rPr>
              <a:t>  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{ id: </a:t>
            </a:r>
            <a:r>
              <a:rPr lang="fr-FR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Date.now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(), </a:t>
            </a:r>
            <a:r>
              <a:rPr lang="fr-FR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text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: input } </a:t>
            </a:r>
            <a:r>
              <a:rPr lang="fr-FR" sz="2400" dirty="0">
                <a:latin typeface="Courier New" panose="02070309020205020404" pitchFamily="49" charset="0"/>
              </a:rPr>
              <a:t>: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fr-FR" sz="2400" dirty="0"/>
              <a:t>Représente la </a:t>
            </a:r>
            <a:r>
              <a:rPr lang="fr-FR" sz="2400" b="1" dirty="0"/>
              <a:t>nouvelle tâche</a:t>
            </a:r>
            <a:r>
              <a:rPr lang="fr-FR" sz="2400" dirty="0"/>
              <a:t> à ajouter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fr-FR" sz="2400" b="1" dirty="0">
                <a:latin typeface="Courier New" panose="02070309020205020404" pitchFamily="49" charset="0"/>
              </a:rPr>
              <a:t>  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[...] </a:t>
            </a:r>
            <a:r>
              <a:rPr lang="fr-FR" sz="2400" b="1" dirty="0">
                <a:latin typeface="Courier New" panose="02070309020205020404" pitchFamily="49" charset="0"/>
              </a:rPr>
              <a:t>: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fr-FR" sz="2400" dirty="0"/>
              <a:t>Construit un nouveau tableau avec l’ancien + la nouvelle tâche</a:t>
            </a:r>
          </a:p>
          <a:p>
            <a:pPr marL="0" indent="0">
              <a:lnSpc>
                <a:spcPct val="110000"/>
              </a:lnSpc>
              <a:buNone/>
            </a:pPr>
            <a:endParaRPr lang="fr-FR" sz="24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E659A-C57A-9307-BC2E-AAC0D22A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2389-48DD-4E39-AACE-2173109F823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364B39-758F-7714-978F-880E9DE6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BE9922-D361-05CA-738F-41C60D2F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13538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514837-CEF8-49DF-CFEA-8114EFD6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Le Spread </a:t>
            </a:r>
            <a:r>
              <a:rPr lang="fr-FR" sz="3600" dirty="0" err="1"/>
              <a:t>Operator</a:t>
            </a:r>
            <a:r>
              <a:rPr lang="fr-FR" sz="3600" dirty="0"/>
              <a:t> (opérateur de décomposition)...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A47E10-BEF3-5924-8E88-B410E698AB54}"/>
              </a:ext>
            </a:extLst>
          </p:cNvPr>
          <p:cNvSpPr txBox="1"/>
          <p:nvPr/>
        </p:nvSpPr>
        <p:spPr>
          <a:xfrm>
            <a:off x="936025" y="1951672"/>
            <a:ext cx="42167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tasks</a:t>
            </a:r>
            <a:r>
              <a:rPr lang="fr-FR" sz="2400" dirty="0"/>
              <a:t> = [</a:t>
            </a:r>
          </a:p>
          <a:p>
            <a:r>
              <a:rPr lang="fr-FR" sz="2400" dirty="0"/>
              <a:t>  { id: 1, </a:t>
            </a:r>
            <a:r>
              <a:rPr lang="fr-FR" sz="2400" dirty="0" err="1"/>
              <a:t>text</a:t>
            </a:r>
            <a:r>
              <a:rPr lang="fr-FR" sz="2400" dirty="0"/>
              <a:t>: "Dormir 😴" },</a:t>
            </a:r>
          </a:p>
          <a:p>
            <a:r>
              <a:rPr lang="fr-FR" sz="2400" dirty="0"/>
              <a:t>  { id: 2, </a:t>
            </a:r>
            <a:r>
              <a:rPr lang="fr-FR" sz="2400" dirty="0" err="1"/>
              <a:t>text</a:t>
            </a:r>
            <a:r>
              <a:rPr lang="fr-FR" sz="2400" dirty="0"/>
              <a:t>: "Coder 💻" }</a:t>
            </a:r>
          </a:p>
          <a:p>
            <a:r>
              <a:rPr lang="fr-FR" sz="2400" dirty="0"/>
              <a:t>];</a:t>
            </a:r>
          </a:p>
          <a:p>
            <a:r>
              <a:rPr lang="fr-FR" sz="2400" dirty="0"/>
              <a:t>input = "Manger 🍽️";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16EB841-54C9-4667-A7FD-2EDEF00261A9}"/>
              </a:ext>
            </a:extLst>
          </p:cNvPr>
          <p:cNvSpPr txBox="1"/>
          <p:nvPr/>
        </p:nvSpPr>
        <p:spPr>
          <a:xfrm>
            <a:off x="838200" y="5015547"/>
            <a:ext cx="6774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setTasks</a:t>
            </a:r>
            <a:r>
              <a:rPr lang="en-US" sz="2400" dirty="0"/>
              <a:t>([...tasks, { id: 3, text: input }]);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7F68DD6-C3E9-173E-5FCC-6C4505581948}"/>
              </a:ext>
            </a:extLst>
          </p:cNvPr>
          <p:cNvSpPr txBox="1"/>
          <p:nvPr/>
        </p:nvSpPr>
        <p:spPr>
          <a:xfrm>
            <a:off x="8156491" y="2413336"/>
            <a:ext cx="37430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[</a:t>
            </a:r>
          </a:p>
          <a:p>
            <a:r>
              <a:rPr lang="fr-FR" dirty="0"/>
              <a:t>  { id: 1, </a:t>
            </a:r>
            <a:r>
              <a:rPr lang="fr-FR" dirty="0" err="1"/>
              <a:t>text</a:t>
            </a:r>
            <a:r>
              <a:rPr lang="fr-FR" dirty="0"/>
              <a:t>: "Dormir 😴" },</a:t>
            </a:r>
          </a:p>
          <a:p>
            <a:r>
              <a:rPr lang="fr-FR" dirty="0"/>
              <a:t>  { id: 2, </a:t>
            </a:r>
            <a:r>
              <a:rPr lang="fr-FR" dirty="0" err="1"/>
              <a:t>text</a:t>
            </a:r>
            <a:r>
              <a:rPr lang="fr-FR" dirty="0"/>
              <a:t>: "Coder 💻" },</a:t>
            </a:r>
          </a:p>
          <a:p>
            <a:r>
              <a:rPr lang="fr-FR" dirty="0"/>
              <a:t>  { id: 3, </a:t>
            </a:r>
            <a:r>
              <a:rPr lang="fr-FR" dirty="0" err="1"/>
              <a:t>text</a:t>
            </a:r>
            <a:r>
              <a:rPr lang="fr-FR" dirty="0"/>
              <a:t>: "Manger 🍽️" } // ajouté</a:t>
            </a:r>
          </a:p>
          <a:p>
            <a:r>
              <a:rPr lang="fr-FR" dirty="0"/>
              <a:t>]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1737643-338F-DF6F-21C5-C5DBEEE39030}"/>
              </a:ext>
            </a:extLst>
          </p:cNvPr>
          <p:cNvCxnSpPr/>
          <p:nvPr/>
        </p:nvCxnSpPr>
        <p:spPr>
          <a:xfrm>
            <a:off x="7389341" y="1482811"/>
            <a:ext cx="0" cy="5041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DB0D42EF-A6B1-560C-E71C-20B8BEFB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0A24-88BA-40EE-B4B9-93C625E23787}" type="datetime1">
              <a:rPr lang="en-US" smtClean="0"/>
              <a:t>11/19/2025</a:t>
            </a:fld>
            <a:endParaRPr lang="fr-FR"/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23DA0FB7-7BE9-012B-B3A4-E0C0FB0D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F7839DEB-880F-7345-74F8-036B06EB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330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C15D3-451E-40C2-095A-379F718D9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724CEB4-5A66-9E31-E95F-D846C9CB0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DFFB24ED-B241-41F8-EC1B-3D31BAD26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dirty="0"/>
              <a:t>Dans </a:t>
            </a:r>
            <a:r>
              <a:rPr lang="fr-FR" dirty="0" err="1"/>
              <a:t>FirstApp</a:t>
            </a:r>
            <a:endParaRPr lang="fr-FR" dirty="0"/>
          </a:p>
          <a:p>
            <a:r>
              <a:rPr lang="fr-FR" b="1" dirty="0"/>
              <a:t>Atelier 02.04 Conditions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D78BFC-D299-6F96-FE5C-DBC32DBB1E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18BA8CE-9E81-1BA4-E7ED-53F0F1D0F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89DA0-D8EE-4423-BF1D-B4864B6AAD52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9F89581-7677-AAF7-4497-66A215215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96A9BAA-0CCF-D642-1ABA-EBC287AC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96865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D953A30-8DF5-8ADA-84E8-E0986A51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fr-FR" sz="5000"/>
              <a:t>Formulaire en React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7EF6D4-3FF6-BAEB-8FD4-C67E04206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fr-FR" sz="2200"/>
              <a:t> Tout comme en HTML, React utilise des formulaires pour permettre aux utilisateurs  d'interagir avec la page Web.</a:t>
            </a:r>
          </a:p>
        </p:txBody>
      </p:sp>
      <p:pic>
        <p:nvPicPr>
          <p:cNvPr id="8" name="Image 7" descr="Une image contenant texte, capture d’écran, Police, Rectangle&#10;&#10;Le contenu généré par l’IA peut être incorrect.">
            <a:extLst>
              <a:ext uri="{FF2B5EF4-FFF2-40B4-BE49-F238E27FC236}">
                <a16:creationId xmlns:a16="http://schemas.microsoft.com/office/drawing/2014/main" id="{145AEE94-B1D8-1F72-8925-F3C0E8242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825429"/>
            <a:ext cx="5458968" cy="3207142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0C4EF9-EC0E-1539-7CD7-A1CD4DB5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CA82E17-6D74-4A87-A53E-218F673EC0C6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E29AC5-541A-5F29-F062-110C896D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389514-EEDD-FA0B-E158-878FA795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mtClean="0"/>
              <a:pPr>
                <a:spcAft>
                  <a:spcPts val="600"/>
                </a:spcAft>
              </a:pPr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6250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FD9681-DBAB-8FD4-8FC3-FAA540D1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Soumission par défaut des formulaires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DD4CB2-067E-D0F0-A6A7-3DA93E5F2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En HTML classique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Lorsqu’un formulaire est soumis → </a:t>
            </a:r>
            <a:r>
              <a:rPr lang="fr-FR" b="1" dirty="0"/>
              <a:t>la page se recharge</a:t>
            </a:r>
            <a:r>
              <a:rPr lang="fr-FR" dirty="0"/>
              <a:t> (comportement par défaut du navigateur).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Dans </a:t>
            </a:r>
            <a:r>
              <a:rPr lang="fr-FR" b="1" dirty="0" err="1"/>
              <a:t>React</a:t>
            </a:r>
            <a:r>
              <a:rPr lang="fr-FR" dirty="0"/>
              <a:t>, ce comportement n’est </a:t>
            </a:r>
            <a:r>
              <a:rPr lang="fr-FR" b="1" dirty="0"/>
              <a:t>pas souhaité</a:t>
            </a:r>
            <a:r>
              <a:rPr lang="fr-FR" dirty="0"/>
              <a:t>.</a:t>
            </a:r>
          </a:p>
          <a:p>
            <a:pPr>
              <a:buNone/>
            </a:pPr>
            <a:r>
              <a:rPr lang="fr-FR" dirty="0"/>
              <a:t>➡️ Nous voulons </a:t>
            </a:r>
            <a:r>
              <a:rPr lang="fr-FR" b="1" dirty="0"/>
              <a:t>empêcher le rechargement</a:t>
            </a:r>
            <a:r>
              <a:rPr lang="fr-FR" dirty="0"/>
              <a:t> et laisser </a:t>
            </a:r>
            <a:r>
              <a:rPr lang="fr-FR" b="1" dirty="0" err="1"/>
              <a:t>React</a:t>
            </a:r>
            <a:r>
              <a:rPr lang="fr-FR" b="1" dirty="0"/>
              <a:t> gérer les données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29656C-0F77-6CE8-7E56-5110916F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A4B0-FF3E-4C87-B610-CFBC4F4FCFC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ACA006-78F2-EDE2-7AAC-BDDB5DCE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36824B-2F63-C929-6E1E-001F4BC3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87974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6CAB16-A04E-1AE5-FC67-9E229337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Empêcher l'actualisation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515BAC-1CE3-434A-A971-494CA36C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1C77-5496-409A-ABD3-D8CF20895C6F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E8032D-A0D2-1FEB-A96D-72309095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6E78F8-3E82-95AA-0A65-B490AC33C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61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58A754C-4FFB-781D-2CA7-152450D72750}"/>
              </a:ext>
            </a:extLst>
          </p:cNvPr>
          <p:cNvSpPr txBox="1"/>
          <p:nvPr/>
        </p:nvSpPr>
        <p:spPr>
          <a:xfrm>
            <a:off x="989571" y="1690688"/>
            <a:ext cx="6098058" cy="42780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/>
              <a:t>export default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FormExample</a:t>
            </a:r>
            <a:r>
              <a:rPr lang="fr-FR" dirty="0"/>
              <a:t>() {</a:t>
            </a:r>
          </a:p>
          <a:p>
            <a:r>
              <a:rPr lang="fr-FR" dirty="0"/>
              <a:t> 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handleSubmit</a:t>
            </a:r>
            <a:r>
              <a:rPr lang="fr-FR" dirty="0"/>
              <a:t>(</a:t>
            </a:r>
            <a:r>
              <a:rPr lang="fr-FR" dirty="0" err="1"/>
              <a:t>event</a:t>
            </a:r>
            <a:r>
              <a:rPr lang="fr-FR" dirty="0"/>
              <a:t>) {</a:t>
            </a:r>
          </a:p>
          <a:p>
            <a:r>
              <a:rPr lang="fr-FR" dirty="0"/>
              <a:t>    </a:t>
            </a:r>
            <a:r>
              <a:rPr lang="fr-FR" dirty="0" err="1"/>
              <a:t>event.preventDefault</a:t>
            </a:r>
            <a:r>
              <a:rPr lang="fr-FR" dirty="0"/>
              <a:t>(); // ❗ Empêche le rechargement</a:t>
            </a:r>
          </a:p>
          <a:p>
            <a:r>
              <a:rPr lang="fr-FR" dirty="0"/>
              <a:t>    console.log("Formulaire soumis !");</a:t>
            </a:r>
          </a:p>
          <a:p>
            <a:r>
              <a:rPr lang="fr-FR" dirty="0"/>
              <a:t>    //console.log(</a:t>
            </a:r>
            <a:r>
              <a:rPr lang="fr-FR" dirty="0" err="1"/>
              <a:t>event.target</a:t>
            </a:r>
            <a:r>
              <a:rPr lang="fr-FR" dirty="0"/>
              <a:t>);</a:t>
            </a:r>
          </a:p>
          <a:p>
            <a:r>
              <a:rPr lang="fr-FR" dirty="0"/>
              <a:t>  }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  return (</a:t>
            </a:r>
          </a:p>
          <a:p>
            <a:r>
              <a:rPr lang="fr-FR" dirty="0"/>
              <a:t>    &lt;</a:t>
            </a:r>
            <a:r>
              <a:rPr lang="fr-FR" dirty="0" err="1"/>
              <a:t>form</a:t>
            </a:r>
            <a:r>
              <a:rPr lang="fr-FR" dirty="0"/>
              <a:t> </a:t>
            </a:r>
            <a:r>
              <a:rPr lang="fr-FR" dirty="0" err="1"/>
              <a:t>onSubmit</a:t>
            </a:r>
            <a:r>
              <a:rPr lang="fr-FR" dirty="0"/>
              <a:t>={</a:t>
            </a:r>
            <a:r>
              <a:rPr lang="fr-FR" dirty="0" err="1"/>
              <a:t>handleSubmit</a:t>
            </a:r>
            <a:r>
              <a:rPr lang="fr-FR" dirty="0"/>
              <a:t>}&gt;</a:t>
            </a:r>
          </a:p>
          <a:p>
            <a:r>
              <a:rPr lang="fr-FR" dirty="0"/>
              <a:t>      &lt;</a:t>
            </a:r>
            <a:r>
              <a:rPr lang="fr-FR" dirty="0" err="1"/>
              <a:t>button</a:t>
            </a:r>
            <a:r>
              <a:rPr lang="fr-FR" dirty="0"/>
              <a:t> type="</a:t>
            </a:r>
            <a:r>
              <a:rPr lang="fr-FR" dirty="0" err="1"/>
              <a:t>submit</a:t>
            </a:r>
            <a:r>
              <a:rPr lang="fr-FR" dirty="0"/>
              <a:t>"&gt;Envoyer&lt;/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    &lt;/</a:t>
            </a:r>
            <a:r>
              <a:rPr lang="fr-FR" dirty="0" err="1"/>
              <a:t>form</a:t>
            </a:r>
            <a:r>
              <a:rPr lang="fr-FR" dirty="0"/>
              <a:t>&gt;</a:t>
            </a:r>
          </a:p>
          <a:p>
            <a:r>
              <a:rPr lang="fr-FR" dirty="0"/>
              <a:t>  );</a:t>
            </a:r>
          </a:p>
          <a:p>
            <a:r>
              <a:rPr lang="fr-FR" dirty="0"/>
              <a:t>}</a:t>
            </a:r>
          </a:p>
          <a:p>
            <a:endParaRPr lang="en-US" sz="2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D6B1286-34C4-A31F-6586-548862D0A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63" y="2972410"/>
            <a:ext cx="3528366" cy="171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625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0AD139-DD30-76AA-083A-04ECA8F20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 : Formulaire contrôlé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E9BF70-626E-7294-1EBD-7B5BB23C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C90D-BCFB-48CA-93AD-7354966C4261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AC97DD-9410-59AC-3298-59CF39C5A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E8DC91-6A3C-44E3-CEF4-FF1B77D6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62</a:t>
            </a:fld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F072A660-E276-5CCB-B456-030E2301E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49833"/>
              </p:ext>
            </p:extLst>
          </p:nvPr>
        </p:nvGraphicFramePr>
        <p:xfrm>
          <a:off x="714632" y="2697480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23238">
                  <a:extLst>
                    <a:ext uri="{9D8B030D-6E8A-4147-A177-3AD203B41FA5}">
                      <a16:colId xmlns:a16="http://schemas.microsoft.com/office/drawing/2014/main" val="1977514975"/>
                    </a:ext>
                  </a:extLst>
                </a:gridCol>
                <a:gridCol w="4792362">
                  <a:extLst>
                    <a:ext uri="{9D8B030D-6E8A-4147-A177-3AD203B41FA5}">
                      <a16:colId xmlns:a16="http://schemas.microsoft.com/office/drawing/2014/main" val="3939234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/>
                        <a:t>HTML Classique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 err="1"/>
                        <a:t>React</a:t>
                      </a:r>
                      <a:endParaRPr lang="fr-FR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11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Le DOM contrôle les valeurs des inputs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Le </a:t>
                      </a:r>
                      <a:r>
                        <a:rPr lang="fr-FR" sz="2400" b="1"/>
                        <a:t>state</a:t>
                      </a:r>
                      <a:r>
                        <a:rPr lang="fr-FR" sz="2400"/>
                        <a:t> contrôle les valeurs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771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Valeurs modifiées directement dans le navigateur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Valeurs </a:t>
                      </a:r>
                      <a:r>
                        <a:rPr lang="fr-FR" sz="2400" b="1"/>
                        <a:t>stockées dans le state</a:t>
                      </a:r>
                      <a:endParaRPr lang="fr-FR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89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Pas de logique intégrée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Logique claire et centralisée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646743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580A4676-365E-FE0D-AFF2-5F782BEE2DC0}"/>
              </a:ext>
            </a:extLst>
          </p:cNvPr>
          <p:cNvSpPr txBox="1"/>
          <p:nvPr/>
        </p:nvSpPr>
        <p:spPr>
          <a:xfrm>
            <a:off x="838199" y="5301029"/>
            <a:ext cx="103920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➡️ Dans </a:t>
            </a:r>
            <a:r>
              <a:rPr lang="fr-FR" sz="2000" dirty="0" err="1"/>
              <a:t>React</a:t>
            </a:r>
            <a:r>
              <a:rPr lang="fr-FR" sz="2000" dirty="0"/>
              <a:t>, chaque champ est connecté à un state → c’est la source unique de vérité.</a:t>
            </a:r>
          </a:p>
        </p:txBody>
      </p:sp>
    </p:spTree>
    <p:extLst>
      <p:ext uri="{BB962C8B-B14F-4D97-AF65-F5344CB8AC3E}">
        <p14:creationId xmlns:p14="http://schemas.microsoft.com/office/powerpoint/2010/main" val="6944494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DE08F3-59E8-0B38-020D-5CBEE8D8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du formulaire avec </a:t>
            </a:r>
            <a:r>
              <a:rPr lang="fr-FR" dirty="0" err="1"/>
              <a:t>useState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AEC058-678F-AF74-EF26-9F4A7F7D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28F9-8AF8-42C2-9342-9162B45D2FA1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15AB28-BB8A-2402-EC69-C25F7711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0E4559-5BE9-AB47-075B-A4541FCB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63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95B21E6-7C4B-EFB5-0D0E-EE2CEB1DB899}"/>
              </a:ext>
            </a:extLst>
          </p:cNvPr>
          <p:cNvSpPr txBox="1"/>
          <p:nvPr/>
        </p:nvSpPr>
        <p:spPr>
          <a:xfrm>
            <a:off x="532371" y="1219032"/>
            <a:ext cx="4632753" cy="5016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1600" dirty="0"/>
              <a:t>import { </a:t>
            </a:r>
            <a:r>
              <a:rPr lang="fr-FR" sz="1600" dirty="0" err="1"/>
              <a:t>useState</a:t>
            </a:r>
            <a:r>
              <a:rPr lang="fr-FR" sz="1600" dirty="0"/>
              <a:t> } </a:t>
            </a:r>
            <a:r>
              <a:rPr lang="fr-FR" sz="1600" dirty="0" err="1"/>
              <a:t>from</a:t>
            </a:r>
            <a:r>
              <a:rPr lang="fr-FR" sz="1600" dirty="0"/>
              <a:t> "</a:t>
            </a:r>
            <a:r>
              <a:rPr lang="fr-FR" sz="1600" dirty="0" err="1"/>
              <a:t>react</a:t>
            </a:r>
            <a:r>
              <a:rPr lang="fr-FR" sz="1600" dirty="0"/>
              <a:t>";</a:t>
            </a:r>
          </a:p>
          <a:p>
            <a:endParaRPr lang="fr-FR" sz="1600" dirty="0"/>
          </a:p>
          <a:p>
            <a:r>
              <a:rPr lang="fr-FR" sz="1600" dirty="0" err="1"/>
              <a:t>function</a:t>
            </a:r>
            <a:r>
              <a:rPr lang="fr-FR" sz="1600" dirty="0"/>
              <a:t> </a:t>
            </a:r>
            <a:r>
              <a:rPr lang="fr-FR" sz="1600" dirty="0" err="1"/>
              <a:t>NameForm</a:t>
            </a:r>
            <a:r>
              <a:rPr lang="fr-FR" sz="1600" dirty="0"/>
              <a:t>() {</a:t>
            </a:r>
          </a:p>
          <a:p>
            <a:r>
              <a:rPr lang="fr-FR" sz="1600" dirty="0"/>
              <a:t>  </a:t>
            </a:r>
            <a:r>
              <a:rPr lang="fr-FR" sz="1600" b="1" dirty="0" err="1"/>
              <a:t>const</a:t>
            </a:r>
            <a:r>
              <a:rPr lang="fr-FR" sz="1600" b="1" dirty="0"/>
              <a:t> [</a:t>
            </a:r>
            <a:r>
              <a:rPr lang="fr-FR" sz="1600" b="1" dirty="0" err="1"/>
              <a:t>name</a:t>
            </a:r>
            <a:r>
              <a:rPr lang="fr-FR" sz="1600" b="1" dirty="0"/>
              <a:t>, </a:t>
            </a:r>
            <a:r>
              <a:rPr lang="fr-FR" sz="1600" b="1" dirty="0" err="1"/>
              <a:t>setName</a:t>
            </a:r>
            <a:r>
              <a:rPr lang="fr-FR" sz="1600" b="1" dirty="0"/>
              <a:t>] = </a:t>
            </a:r>
            <a:r>
              <a:rPr lang="fr-FR" sz="1600" b="1" dirty="0" err="1"/>
              <a:t>useState</a:t>
            </a:r>
            <a:r>
              <a:rPr lang="fr-FR" sz="1600" b="1" dirty="0"/>
              <a:t>("");</a:t>
            </a:r>
            <a:endParaRPr lang="fr-FR" sz="1600" dirty="0"/>
          </a:p>
          <a:p>
            <a:r>
              <a:rPr lang="fr-FR" sz="1600" dirty="0"/>
              <a:t>  </a:t>
            </a:r>
            <a:r>
              <a:rPr lang="fr-FR" sz="1600" dirty="0" err="1"/>
              <a:t>function</a:t>
            </a:r>
            <a:r>
              <a:rPr lang="fr-FR" sz="1600" dirty="0"/>
              <a:t> </a:t>
            </a:r>
            <a:r>
              <a:rPr lang="fr-FR" sz="1600" dirty="0" err="1"/>
              <a:t>handleSubmit</a:t>
            </a:r>
            <a:r>
              <a:rPr lang="fr-FR" sz="1600" dirty="0"/>
              <a:t>(e) {</a:t>
            </a:r>
          </a:p>
          <a:p>
            <a:r>
              <a:rPr lang="fr-FR" sz="1600" dirty="0"/>
              <a:t>    </a:t>
            </a:r>
            <a:r>
              <a:rPr lang="fr-FR" sz="1600" dirty="0" err="1"/>
              <a:t>e.preventDefault</a:t>
            </a:r>
            <a:r>
              <a:rPr lang="fr-FR" sz="1600" dirty="0"/>
              <a:t>();</a:t>
            </a:r>
          </a:p>
          <a:p>
            <a:r>
              <a:rPr lang="fr-FR" sz="1600" dirty="0"/>
              <a:t>    </a:t>
            </a:r>
            <a:r>
              <a:rPr lang="fr-FR" sz="1600" dirty="0" err="1"/>
              <a:t>alert</a:t>
            </a:r>
            <a:r>
              <a:rPr lang="fr-FR" sz="1600" dirty="0"/>
              <a:t>("Bonjour " + </a:t>
            </a:r>
            <a:r>
              <a:rPr lang="fr-FR" sz="1600" dirty="0" err="1"/>
              <a:t>name</a:t>
            </a:r>
            <a:r>
              <a:rPr lang="fr-FR" sz="1600" dirty="0"/>
              <a:t>);</a:t>
            </a:r>
          </a:p>
          <a:p>
            <a:r>
              <a:rPr lang="fr-FR" sz="1600" dirty="0"/>
              <a:t>  }</a:t>
            </a:r>
          </a:p>
          <a:p>
            <a:r>
              <a:rPr lang="fr-FR" sz="1600" dirty="0"/>
              <a:t>  return (</a:t>
            </a:r>
          </a:p>
          <a:p>
            <a:r>
              <a:rPr lang="fr-FR" sz="1600" dirty="0"/>
              <a:t>    &lt;</a:t>
            </a:r>
            <a:r>
              <a:rPr lang="fr-FR" sz="1600" dirty="0" err="1"/>
              <a:t>form</a:t>
            </a:r>
            <a:r>
              <a:rPr lang="fr-FR" sz="1600" dirty="0"/>
              <a:t> </a:t>
            </a:r>
            <a:r>
              <a:rPr lang="fr-FR" sz="1600" dirty="0" err="1"/>
              <a:t>onSubmit</a:t>
            </a:r>
            <a:r>
              <a:rPr lang="fr-FR" sz="1600" dirty="0"/>
              <a:t>={</a:t>
            </a:r>
            <a:r>
              <a:rPr lang="fr-FR" sz="1600" dirty="0" err="1"/>
              <a:t>handleSubmit</a:t>
            </a:r>
            <a:r>
              <a:rPr lang="fr-FR" sz="1600" dirty="0"/>
              <a:t>}&gt;</a:t>
            </a:r>
          </a:p>
          <a:p>
            <a:r>
              <a:rPr lang="fr-FR" sz="1600" dirty="0"/>
              <a:t>      &lt;input </a:t>
            </a:r>
          </a:p>
          <a:p>
            <a:r>
              <a:rPr lang="fr-FR" sz="1600" dirty="0"/>
              <a:t>        type="</a:t>
            </a:r>
            <a:r>
              <a:rPr lang="fr-FR" sz="1600" dirty="0" err="1"/>
              <a:t>text</a:t>
            </a:r>
            <a:r>
              <a:rPr lang="fr-FR" sz="1600" dirty="0"/>
              <a:t>"</a:t>
            </a:r>
          </a:p>
          <a:p>
            <a:r>
              <a:rPr lang="fr-FR" sz="1600" dirty="0"/>
              <a:t>        </a:t>
            </a:r>
            <a:r>
              <a:rPr lang="fr-FR" sz="1600" b="1" dirty="0"/>
              <a:t>value={</a:t>
            </a:r>
            <a:r>
              <a:rPr lang="fr-FR" sz="1600" b="1" dirty="0" err="1"/>
              <a:t>name</a:t>
            </a:r>
            <a:r>
              <a:rPr lang="fr-FR" sz="1600" b="1" dirty="0"/>
              <a:t>}</a:t>
            </a:r>
          </a:p>
          <a:p>
            <a:r>
              <a:rPr lang="fr-FR" sz="1600" dirty="0"/>
              <a:t>        </a:t>
            </a:r>
            <a:r>
              <a:rPr lang="fr-FR" sz="1600" dirty="0" err="1"/>
              <a:t>onChange</a:t>
            </a:r>
            <a:r>
              <a:rPr lang="fr-FR" sz="1600" dirty="0"/>
              <a:t>={(e) =&gt; </a:t>
            </a:r>
            <a:r>
              <a:rPr lang="fr-FR" sz="1600" dirty="0" err="1"/>
              <a:t>setName</a:t>
            </a:r>
            <a:r>
              <a:rPr lang="fr-FR" sz="1600" dirty="0"/>
              <a:t>(</a:t>
            </a:r>
            <a:r>
              <a:rPr lang="fr-FR" sz="1600" dirty="0" err="1"/>
              <a:t>e.target.value</a:t>
            </a:r>
            <a:r>
              <a:rPr lang="fr-FR" sz="1600" dirty="0"/>
              <a:t>)}</a:t>
            </a:r>
          </a:p>
          <a:p>
            <a:r>
              <a:rPr lang="fr-FR" sz="1600" dirty="0"/>
              <a:t>      /&gt;</a:t>
            </a:r>
          </a:p>
          <a:p>
            <a:r>
              <a:rPr lang="fr-FR" sz="1600" dirty="0"/>
              <a:t>      &lt;</a:t>
            </a:r>
            <a:r>
              <a:rPr lang="fr-FR" sz="1600" dirty="0" err="1"/>
              <a:t>button</a:t>
            </a:r>
            <a:r>
              <a:rPr lang="fr-FR" sz="1600" dirty="0"/>
              <a:t>&gt;Valider&lt;/</a:t>
            </a:r>
            <a:r>
              <a:rPr lang="fr-FR" sz="1600" dirty="0" err="1"/>
              <a:t>button</a:t>
            </a:r>
            <a:r>
              <a:rPr lang="fr-FR" sz="1600" dirty="0"/>
              <a:t>&gt;</a:t>
            </a:r>
          </a:p>
          <a:p>
            <a:r>
              <a:rPr lang="fr-FR" sz="1600" dirty="0"/>
              <a:t>    &lt;/</a:t>
            </a:r>
            <a:r>
              <a:rPr lang="fr-FR" sz="1600" dirty="0" err="1"/>
              <a:t>form</a:t>
            </a:r>
            <a:r>
              <a:rPr lang="fr-FR" sz="1600" dirty="0"/>
              <a:t>&gt;</a:t>
            </a:r>
          </a:p>
          <a:p>
            <a:r>
              <a:rPr lang="fr-FR" sz="1600" dirty="0"/>
              <a:t>  );</a:t>
            </a:r>
          </a:p>
          <a:p>
            <a:r>
              <a:rPr lang="fr-FR" sz="1600" dirty="0"/>
              <a:t>}</a:t>
            </a:r>
          </a:p>
          <a:p>
            <a:r>
              <a:rPr lang="fr-FR" sz="1600" dirty="0"/>
              <a:t>export default </a:t>
            </a:r>
            <a:r>
              <a:rPr lang="fr-FR" sz="1600" dirty="0" err="1"/>
              <a:t>NameForm</a:t>
            </a:r>
            <a:r>
              <a:rPr lang="fr-FR" sz="1600" dirty="0"/>
              <a:t>;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5C1549A-DCB1-8F28-772A-C3FEAD3BF773}"/>
              </a:ext>
            </a:extLst>
          </p:cNvPr>
          <p:cNvSpPr txBox="1"/>
          <p:nvPr/>
        </p:nvSpPr>
        <p:spPr>
          <a:xfrm>
            <a:off x="6233982" y="2030796"/>
            <a:ext cx="47532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➡️ value={</a:t>
            </a:r>
            <a:r>
              <a:rPr lang="fr-FR" sz="2400" dirty="0" err="1"/>
              <a:t>name</a:t>
            </a:r>
            <a:r>
              <a:rPr lang="fr-FR" sz="2400" dirty="0"/>
              <a:t>} → input contrôlé</a:t>
            </a:r>
          </a:p>
          <a:p>
            <a:r>
              <a:rPr lang="fr-FR" sz="2400" dirty="0"/>
              <a:t>➡️ </a:t>
            </a:r>
            <a:r>
              <a:rPr lang="fr-FR" sz="2400" dirty="0" err="1"/>
              <a:t>onChange</a:t>
            </a:r>
            <a:r>
              <a:rPr lang="fr-FR" sz="2400" dirty="0"/>
              <a:t> met à jour le state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B8F0740-CFDF-72DB-B63F-CD62E7D7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776" y="3593636"/>
            <a:ext cx="4025315" cy="117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076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E00D2E-2988-AAD3-69EA-01A04AE8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Champs Multiples dans un Formulaire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DC59A8-4811-5E7D-4E0D-EFDF69EF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49333-B91F-41DD-BFD4-BCC5B40E55B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AA2104-9965-EA95-B3AB-19D8CF988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C54B91-4397-A880-3536-377D3401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64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BC372D-57E5-3A98-C2A2-6E3FCDA5F67D}"/>
              </a:ext>
            </a:extLst>
          </p:cNvPr>
          <p:cNvSpPr txBox="1"/>
          <p:nvPr/>
        </p:nvSpPr>
        <p:spPr>
          <a:xfrm>
            <a:off x="760971" y="1278037"/>
            <a:ext cx="6098058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/>
              <a:t>import { </a:t>
            </a:r>
            <a:r>
              <a:rPr lang="fr-FR" dirty="0" err="1"/>
              <a:t>useState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MultiForm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</a:t>
            </a:r>
            <a:r>
              <a:rPr lang="fr-FR" dirty="0" err="1"/>
              <a:t>form</a:t>
            </a:r>
            <a:r>
              <a:rPr lang="fr-FR" dirty="0"/>
              <a:t>, </a:t>
            </a:r>
            <a:r>
              <a:rPr lang="fr-FR" dirty="0" err="1"/>
              <a:t>setForm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({});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handleChange</a:t>
            </a:r>
            <a:r>
              <a:rPr lang="fr-FR" dirty="0"/>
              <a:t>(e) {</a:t>
            </a:r>
          </a:p>
          <a:p>
            <a:r>
              <a:rPr lang="fr-FR" dirty="0"/>
              <a:t>    </a:t>
            </a:r>
            <a:r>
              <a:rPr lang="fr-FR" dirty="0" err="1"/>
              <a:t>setForm</a:t>
            </a:r>
            <a:r>
              <a:rPr lang="fr-FR" dirty="0"/>
              <a:t>({ ...</a:t>
            </a:r>
            <a:r>
              <a:rPr lang="fr-FR" dirty="0" err="1"/>
              <a:t>form</a:t>
            </a:r>
            <a:r>
              <a:rPr lang="fr-FR" dirty="0"/>
              <a:t>, [e.target.name]: </a:t>
            </a:r>
            <a:r>
              <a:rPr lang="fr-FR" dirty="0" err="1"/>
              <a:t>e.target.value</a:t>
            </a:r>
            <a:r>
              <a:rPr lang="fr-FR" dirty="0"/>
              <a:t> });</a:t>
            </a:r>
          </a:p>
          <a:p>
            <a:r>
              <a:rPr lang="fr-FR" dirty="0"/>
              <a:t>  }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</a:t>
            </a:r>
            <a:r>
              <a:rPr lang="fr-FR" dirty="0" err="1"/>
              <a:t>form</a:t>
            </a:r>
            <a:r>
              <a:rPr lang="fr-FR" dirty="0"/>
              <a:t>&gt;</a:t>
            </a:r>
          </a:p>
          <a:p>
            <a:r>
              <a:rPr lang="fr-FR" dirty="0"/>
              <a:t>      &lt;input </a:t>
            </a:r>
            <a:r>
              <a:rPr lang="fr-FR" dirty="0" err="1"/>
              <a:t>name</a:t>
            </a:r>
            <a:r>
              <a:rPr lang="fr-FR" dirty="0"/>
              <a:t>="</a:t>
            </a:r>
            <a:r>
              <a:rPr lang="fr-FR" dirty="0" err="1"/>
              <a:t>firstName</a:t>
            </a:r>
            <a:r>
              <a:rPr lang="fr-FR" dirty="0"/>
              <a:t>" </a:t>
            </a:r>
            <a:r>
              <a:rPr lang="fr-FR" dirty="0" err="1"/>
              <a:t>onChange</a:t>
            </a:r>
            <a:r>
              <a:rPr lang="fr-FR" dirty="0"/>
              <a:t>={</a:t>
            </a:r>
            <a:r>
              <a:rPr lang="fr-FR" dirty="0" err="1"/>
              <a:t>handleChange</a:t>
            </a:r>
            <a:r>
              <a:rPr lang="fr-FR" dirty="0"/>
              <a:t>} /&gt;</a:t>
            </a:r>
          </a:p>
          <a:p>
            <a:r>
              <a:rPr lang="fr-FR" dirty="0"/>
              <a:t>      &lt;input </a:t>
            </a:r>
            <a:r>
              <a:rPr lang="fr-FR" dirty="0" err="1"/>
              <a:t>name</a:t>
            </a:r>
            <a:r>
              <a:rPr lang="fr-FR" dirty="0"/>
              <a:t>="email" </a:t>
            </a:r>
            <a:r>
              <a:rPr lang="fr-FR" dirty="0" err="1"/>
              <a:t>onChange</a:t>
            </a:r>
            <a:r>
              <a:rPr lang="fr-FR" dirty="0"/>
              <a:t>={</a:t>
            </a:r>
            <a:r>
              <a:rPr lang="fr-FR" dirty="0" err="1"/>
              <a:t>handleChange</a:t>
            </a:r>
            <a:r>
              <a:rPr lang="fr-FR" dirty="0"/>
              <a:t>} /&gt;</a:t>
            </a:r>
          </a:p>
          <a:p>
            <a:r>
              <a:rPr lang="fr-FR" dirty="0"/>
              <a:t>      &lt;p&gt;{</a:t>
            </a:r>
            <a:r>
              <a:rPr lang="fr-FR" dirty="0" err="1"/>
              <a:t>JSON.stringify</a:t>
            </a:r>
            <a:r>
              <a:rPr lang="fr-FR" dirty="0"/>
              <a:t>(</a:t>
            </a:r>
            <a:r>
              <a:rPr lang="fr-FR" dirty="0" err="1"/>
              <a:t>form</a:t>
            </a:r>
            <a:r>
              <a:rPr lang="fr-FR" dirty="0"/>
              <a:t>)}&lt;/p&gt;</a:t>
            </a:r>
          </a:p>
          <a:p>
            <a:r>
              <a:rPr lang="fr-FR" dirty="0"/>
              <a:t>    &lt;/</a:t>
            </a:r>
            <a:r>
              <a:rPr lang="fr-FR" dirty="0" err="1"/>
              <a:t>form</a:t>
            </a:r>
            <a:r>
              <a:rPr lang="fr-FR" dirty="0"/>
              <a:t>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  <a:p>
            <a:r>
              <a:rPr lang="fr-FR" dirty="0"/>
              <a:t>export default </a:t>
            </a:r>
            <a:r>
              <a:rPr lang="fr-FR" dirty="0" err="1"/>
              <a:t>MultiForm</a:t>
            </a:r>
            <a:r>
              <a:rPr lang="fr-FR" dirty="0"/>
              <a:t>;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784F3E4-48BA-936F-8DB6-524B116C63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344"/>
          <a:stretch>
            <a:fillRect/>
          </a:stretch>
        </p:blipFill>
        <p:spPr>
          <a:xfrm>
            <a:off x="7051194" y="2940642"/>
            <a:ext cx="4968670" cy="105059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4367A6E-7A3C-A472-3F78-10F4363FA950}"/>
              </a:ext>
            </a:extLst>
          </p:cNvPr>
          <p:cNvSpPr txBox="1"/>
          <p:nvPr/>
        </p:nvSpPr>
        <p:spPr>
          <a:xfrm>
            <a:off x="7047934" y="4527459"/>
            <a:ext cx="4968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➡️ [e.target.name] met à jour la bonne propriété</a:t>
            </a:r>
          </a:p>
          <a:p>
            <a:r>
              <a:rPr lang="fr-FR" dirty="0"/>
              <a:t>➡️ ...</a:t>
            </a:r>
            <a:r>
              <a:rPr lang="fr-FR" dirty="0" err="1"/>
              <a:t>form</a:t>
            </a:r>
            <a:r>
              <a:rPr lang="fr-FR" dirty="0"/>
              <a:t> préserve les valeurs existantes</a:t>
            </a:r>
          </a:p>
        </p:txBody>
      </p:sp>
    </p:spTree>
    <p:extLst>
      <p:ext uri="{BB962C8B-B14F-4D97-AF65-F5344CB8AC3E}">
        <p14:creationId xmlns:p14="http://schemas.microsoft.com/office/powerpoint/2010/main" val="30701142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A227DB-1639-01E3-A58A-A0C74DC4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Zone de texte (</a:t>
            </a:r>
            <a:r>
              <a:rPr lang="fr-FR" dirty="0" err="1"/>
              <a:t>textarea</a:t>
            </a:r>
            <a:r>
              <a:rPr lang="fr-FR" dirty="0"/>
              <a:t>)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EA3E1B-576E-55ED-8E39-F0D107C5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C301-669C-40C6-BFB2-AC231BD8611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6A3A89-07D3-4ED7-41A1-1F239667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FFC8E7-FAA9-E94E-A234-51F90793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65</a:t>
            </a:fld>
            <a:endParaRPr lang="fr-FR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D9EF4809-5E65-A93B-E50B-6E35152E5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627578"/>
              </p:ext>
            </p:extLst>
          </p:nvPr>
        </p:nvGraphicFramePr>
        <p:xfrm>
          <a:off x="838200" y="2422233"/>
          <a:ext cx="8651790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25895">
                  <a:extLst>
                    <a:ext uri="{9D8B030D-6E8A-4147-A177-3AD203B41FA5}">
                      <a16:colId xmlns:a16="http://schemas.microsoft.com/office/drawing/2014/main" val="1973467342"/>
                    </a:ext>
                  </a:extLst>
                </a:gridCol>
                <a:gridCol w="4325895">
                  <a:extLst>
                    <a:ext uri="{9D8B030D-6E8A-4147-A177-3AD203B41FA5}">
                      <a16:colId xmlns:a16="http://schemas.microsoft.com/office/drawing/2014/main" val="4058428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 err="1"/>
                        <a:t>React</a:t>
                      </a:r>
                      <a:endParaRPr lang="fr-F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264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 texte se place </a:t>
                      </a:r>
                      <a:r>
                        <a:rPr lang="fr-FR" b="1"/>
                        <a:t>entre les balises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La valeur se met dans </a:t>
                      </a:r>
                      <a:r>
                        <a:rPr lang="fr-FR" b="1" dirty="0"/>
                        <a:t>value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024893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EF785A88-8C32-8EA9-3760-4A67AEE3A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497" y="1733295"/>
            <a:ext cx="41683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Différence entre HTML et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80D3C6F-9AEE-BE8C-8F88-42D8128D459A}"/>
              </a:ext>
            </a:extLst>
          </p:cNvPr>
          <p:cNvSpPr txBox="1"/>
          <p:nvPr/>
        </p:nvSpPr>
        <p:spPr>
          <a:xfrm>
            <a:off x="841287" y="3323890"/>
            <a:ext cx="5254713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MessageBox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[message, </a:t>
            </a:r>
            <a:r>
              <a:rPr lang="fr-FR" dirty="0" err="1"/>
              <a:t>setMessage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("");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</a:t>
            </a:r>
            <a:r>
              <a:rPr lang="fr-FR" dirty="0" err="1"/>
              <a:t>textarea</a:t>
            </a:r>
            <a:endParaRPr lang="fr-FR" dirty="0"/>
          </a:p>
          <a:p>
            <a:r>
              <a:rPr lang="fr-FR" dirty="0"/>
              <a:t>      value={message}</a:t>
            </a:r>
          </a:p>
          <a:p>
            <a:r>
              <a:rPr lang="fr-FR" dirty="0"/>
              <a:t>      </a:t>
            </a:r>
            <a:r>
              <a:rPr lang="fr-FR" dirty="0" err="1"/>
              <a:t>onChange</a:t>
            </a:r>
            <a:r>
              <a:rPr lang="fr-FR" dirty="0"/>
              <a:t>={(e) =&gt; </a:t>
            </a:r>
            <a:r>
              <a:rPr lang="fr-FR" dirty="0" err="1"/>
              <a:t>setMessage</a:t>
            </a:r>
            <a:r>
              <a:rPr lang="fr-FR" dirty="0"/>
              <a:t>(</a:t>
            </a:r>
            <a:r>
              <a:rPr lang="fr-FR" dirty="0" err="1"/>
              <a:t>e.target.value</a:t>
            </a:r>
            <a:r>
              <a:rPr lang="fr-FR" dirty="0"/>
              <a:t>)}</a:t>
            </a:r>
          </a:p>
          <a:p>
            <a:r>
              <a:rPr lang="fr-FR" dirty="0"/>
              <a:t>    /&gt;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61226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FCAF7-1777-DF05-7312-FBCC0426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Liste déroulante (select)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3A0DC7-BBDD-D5AD-5BDF-AF2002B4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A5D72-9C7D-417A-89D9-11D4241FA8B4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B13493-50EA-746C-02E4-FAA75367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F8F934-519A-418E-5A3B-B2B55838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66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4DB1EEA-D7CF-9B60-5C6C-4CA14B93DEB3}"/>
              </a:ext>
            </a:extLst>
          </p:cNvPr>
          <p:cNvSpPr txBox="1"/>
          <p:nvPr/>
        </p:nvSpPr>
        <p:spPr>
          <a:xfrm>
            <a:off x="989571" y="1943262"/>
            <a:ext cx="6696332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CarSelect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[car, </a:t>
            </a:r>
            <a:r>
              <a:rPr lang="fr-FR" dirty="0" err="1"/>
              <a:t>setCar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("Volvo");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&lt;select value={car} </a:t>
            </a:r>
            <a:r>
              <a:rPr lang="fr-FR" dirty="0" err="1"/>
              <a:t>onChange</a:t>
            </a:r>
            <a:r>
              <a:rPr lang="fr-FR" dirty="0"/>
              <a:t>={(e) =&gt; </a:t>
            </a:r>
            <a:r>
              <a:rPr lang="fr-FR" dirty="0" err="1"/>
              <a:t>setCar</a:t>
            </a:r>
            <a:r>
              <a:rPr lang="fr-FR" dirty="0"/>
              <a:t>(</a:t>
            </a:r>
            <a:r>
              <a:rPr lang="fr-FR" dirty="0" err="1"/>
              <a:t>e.target.value</a:t>
            </a:r>
            <a:r>
              <a:rPr lang="fr-FR" dirty="0"/>
              <a:t>)}&gt;</a:t>
            </a:r>
          </a:p>
          <a:p>
            <a:r>
              <a:rPr lang="fr-FR" dirty="0"/>
              <a:t>      &lt;option value="Volvo"&gt;Volvo&lt;/option&gt;</a:t>
            </a:r>
          </a:p>
          <a:p>
            <a:r>
              <a:rPr lang="fr-FR" dirty="0"/>
              <a:t>      &lt;option value="BMW"&gt;BMW&lt;/option&gt;</a:t>
            </a:r>
          </a:p>
          <a:p>
            <a:r>
              <a:rPr lang="fr-FR" dirty="0"/>
              <a:t>      &lt;option value="Audi"&gt;Audi&lt;/option&gt;</a:t>
            </a:r>
          </a:p>
          <a:p>
            <a:r>
              <a:rPr lang="fr-FR" dirty="0"/>
              <a:t>    &lt;/select&gt;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8D8807-0AE2-1C44-585C-EE6E9713843C}"/>
              </a:ext>
            </a:extLst>
          </p:cNvPr>
          <p:cNvSpPr txBox="1"/>
          <p:nvPr/>
        </p:nvSpPr>
        <p:spPr>
          <a:xfrm>
            <a:off x="838200" y="5335157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➡️ </a:t>
            </a:r>
            <a:r>
              <a:rPr lang="fr-FR" dirty="0">
                <a:latin typeface="Courier New" panose="02070309020205020404" pitchFamily="49" charset="0"/>
              </a:rPr>
              <a:t>value={car}</a:t>
            </a:r>
            <a:r>
              <a:rPr lang="fr-FR" dirty="0"/>
              <a:t> indique l’élément sélectionné</a:t>
            </a:r>
            <a:br>
              <a:rPr lang="fr-FR" dirty="0"/>
            </a:br>
            <a:r>
              <a:rPr lang="fr-FR" dirty="0"/>
              <a:t>➡️ </a:t>
            </a:r>
            <a:r>
              <a:rPr lang="fr-FR" dirty="0" err="1">
                <a:latin typeface="Courier New" panose="02070309020205020404" pitchFamily="49" charset="0"/>
              </a:rPr>
              <a:t>onChange</a:t>
            </a:r>
            <a:r>
              <a:rPr lang="fr-FR" dirty="0"/>
              <a:t> met à jour le state</a:t>
            </a:r>
          </a:p>
        </p:txBody>
      </p:sp>
    </p:spTree>
    <p:extLst>
      <p:ext uri="{BB962C8B-B14F-4D97-AF65-F5344CB8AC3E}">
        <p14:creationId xmlns:p14="http://schemas.microsoft.com/office/powerpoint/2010/main" val="37187588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B674-8FAE-6AA7-7915-213BA73F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A5BD911-31E4-EF41-55E9-FE86E27EC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666479A3-D085-4F8C-3D89-452A8B630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dirty="0"/>
              <a:t>Dans </a:t>
            </a:r>
            <a:r>
              <a:rPr lang="fr-FR" dirty="0" err="1"/>
              <a:t>FirstApp</a:t>
            </a:r>
            <a:endParaRPr lang="fr-FR" dirty="0"/>
          </a:p>
          <a:p>
            <a:r>
              <a:rPr lang="fr-FR" b="1" dirty="0"/>
              <a:t>Atelier 02.05 Formulaires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3076993-3050-372A-4BE6-06B851217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5301D1DC-1CDC-69DE-B5AD-5503A4C7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AB54-6ACF-4B4D-BD79-872DB1496AD6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0DC82F5-0716-2A26-AF99-015148ED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F3BFABCC-CE7B-0190-29FB-199AF268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5943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CD5940-7B2E-FED9-B84F-9A2D88D4D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Routage et navigation SPA (Single Page Application)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216DE1D-812C-A199-2EC4-B67720195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591" y="2354239"/>
            <a:ext cx="7018818" cy="3948085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ECA251-61F5-D132-06B5-C4B44746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EA247DB-3622-4C3E-8EFE-D39E00680797}" type="datetime1">
              <a:rPr lang="en-US" sz="1000" smtClean="0">
                <a:solidFill>
                  <a:schemeClr val="tx1">
                    <a:tint val="75000"/>
                  </a:schemeClr>
                </a:solidFill>
              </a:rPr>
              <a:t>11/19/2025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594A4B-458A-BF6C-8175-0289D8041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7F636C-025B-9366-697E-1BEDB1C7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68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3775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268A4-4F33-ED07-3DC1-B64A6FFB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utiliser </a:t>
            </a:r>
            <a:r>
              <a:rPr lang="fr-FR" dirty="0" err="1"/>
              <a:t>React</a:t>
            </a:r>
            <a:r>
              <a:rPr lang="fr-FR" dirty="0"/>
              <a:t> Router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974B2-7A4A-F232-3419-11C0D2F22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App / Vite n'inclut pas de routage par défaut.</a:t>
            </a:r>
          </a:p>
          <a:p>
            <a:pPr>
              <a:lnSpc>
                <a:spcPct val="100000"/>
              </a:lnSpc>
            </a:pPr>
            <a:r>
              <a:rPr lang="fr-FR" dirty="0" err="1"/>
              <a:t>React</a:t>
            </a:r>
            <a:r>
              <a:rPr lang="fr-FR" dirty="0"/>
              <a:t> Router permet de créer des pages et une navigation sans rechargement complet.</a:t>
            </a:r>
          </a:p>
          <a:p>
            <a:pPr>
              <a:lnSpc>
                <a:spcPct val="100000"/>
              </a:lnSpc>
            </a:pPr>
            <a:r>
              <a:rPr lang="fr-FR" dirty="0"/>
              <a:t>Permet de gérer :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L’URL du navigateur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Les transitions de pages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Les routes dynamiques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Les paramètres d’URL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E035DD-1042-125C-B643-579E31DC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338F-5BC2-492B-8597-303431AD783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FFE6D4-4A82-006A-AE74-A6B0723A1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9D60B7-A6E1-E886-6041-D3999F6E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3806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89AD5-90A1-D056-D6B0-2ACC3C6F6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E6D998-C188-D808-8F04-CB0846A9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Installation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D4CB72-A19B-1FBB-3138-681776288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fr-FR" sz="2000"/>
              <a:t>Ouvrir le terminal à la racine du projet et exécuter :</a:t>
            </a:r>
          </a:p>
          <a:p>
            <a:pPr marL="0" indent="0">
              <a:buNone/>
            </a:pPr>
            <a:r>
              <a:rPr lang="fr-FR" sz="2000" b="1" i="1"/>
              <a:t>npm install react-router-dom</a:t>
            </a:r>
          </a:p>
          <a:p>
            <a:pPr marL="0" indent="0">
              <a:buNone/>
            </a:pPr>
            <a:r>
              <a:rPr lang="fr-FR" sz="2000" b="1" i="1"/>
              <a:t>Ou bien</a:t>
            </a:r>
          </a:p>
          <a:p>
            <a:pPr marL="0" indent="0">
              <a:buNone/>
            </a:pPr>
            <a:r>
              <a:rPr lang="fr-FR" sz="2000" b="1" i="1"/>
              <a:t>npm install react-router-dom@latest</a:t>
            </a:r>
          </a:p>
          <a:p>
            <a:r>
              <a:rPr lang="fr-FR" sz="2000"/>
              <a:t>react-router-dom est la bibliothèque officielle pour le routage web en React.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46F759-E849-22A6-9D23-EDD016406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787932"/>
            <a:ext cx="4788505" cy="2549878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F36947-4E9E-480F-11B7-5CC898E257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BCF8BD-4B57-4D2E-AF74-57B991D8036E}" type="datetime1">
              <a:rPr lang="en-US" sz="1000" smtClean="0"/>
              <a:t>11/19/2025</a:t>
            </a:fld>
            <a:endParaRPr lang="fr-FR" sz="10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B68976-A650-065C-54A5-E77E6E10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000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FAD9C4-3ADE-22D9-5124-3FC53CDA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z="1000"/>
              <a:pPr>
                <a:spcAft>
                  <a:spcPts val="600"/>
                </a:spcAft>
              </a:pPr>
              <a:t>70</a:t>
            </a:fld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32804574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3BD7-9E5F-E742-B1A7-3D681E61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AC198E-85C9-5710-7B00-5D6633C8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de projet recommandée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BFD46F-1BE3-3AB4-BD6B-8BB66737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8D51-1FD2-4184-8EC0-2F2036AFEE9E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122C9E-DDFC-78B5-7DB1-0811C57CC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3AE8BA-C3FC-5FCB-3B95-9F90F8BB2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71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66204E9-3D79-432C-0273-9CF63529951C}"/>
              </a:ext>
            </a:extLst>
          </p:cNvPr>
          <p:cNvSpPr txBox="1"/>
          <p:nvPr/>
        </p:nvSpPr>
        <p:spPr>
          <a:xfrm>
            <a:off x="677562" y="1874271"/>
            <a:ext cx="60980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src/</a:t>
            </a:r>
          </a:p>
          <a:p>
            <a:r>
              <a:rPr lang="fr-FR" sz="2400" dirty="0"/>
              <a:t>│ </a:t>
            </a:r>
            <a:r>
              <a:rPr lang="fr-FR" sz="2400" dirty="0" err="1"/>
              <a:t>App.jsx</a:t>
            </a:r>
            <a:endParaRPr lang="fr-FR" sz="2400" dirty="0"/>
          </a:p>
          <a:p>
            <a:r>
              <a:rPr lang="fr-FR" sz="2400" dirty="0"/>
              <a:t>│ </a:t>
            </a:r>
            <a:r>
              <a:rPr lang="fr-FR" sz="2400" dirty="0" err="1"/>
              <a:t>main.jsx</a:t>
            </a:r>
            <a:endParaRPr lang="fr-FR" sz="2400" dirty="0"/>
          </a:p>
          <a:p>
            <a:r>
              <a:rPr lang="fr-FR" sz="2400" dirty="0"/>
              <a:t>│</a:t>
            </a:r>
          </a:p>
          <a:p>
            <a:r>
              <a:rPr lang="fr-FR" sz="2400" dirty="0"/>
              <a:t>└── </a:t>
            </a:r>
            <a:r>
              <a:rPr lang="fr-FR" sz="2400" b="1" dirty="0"/>
              <a:t>pages</a:t>
            </a:r>
            <a:r>
              <a:rPr lang="fr-FR" sz="2400" dirty="0"/>
              <a:t>/</a:t>
            </a:r>
          </a:p>
          <a:p>
            <a:r>
              <a:rPr lang="fr-FR" sz="2400" dirty="0"/>
              <a:t>   │ </a:t>
            </a:r>
            <a:r>
              <a:rPr lang="fr-FR" sz="2400" dirty="0" err="1"/>
              <a:t>Home.jsx</a:t>
            </a:r>
            <a:endParaRPr lang="fr-FR" sz="2400" dirty="0"/>
          </a:p>
          <a:p>
            <a:r>
              <a:rPr lang="fr-FR" sz="2400" dirty="0"/>
              <a:t>   │ </a:t>
            </a:r>
            <a:r>
              <a:rPr lang="fr-FR" sz="2400" dirty="0" err="1"/>
              <a:t>Blogs.jsx</a:t>
            </a:r>
            <a:endParaRPr lang="fr-FR" sz="2400" dirty="0"/>
          </a:p>
          <a:p>
            <a:r>
              <a:rPr lang="fr-FR" sz="2400" dirty="0"/>
              <a:t>   │ </a:t>
            </a:r>
            <a:r>
              <a:rPr lang="fr-FR" sz="2400" dirty="0" err="1"/>
              <a:t>Contact.jsx</a:t>
            </a:r>
            <a:endParaRPr lang="fr-FR" sz="2400" dirty="0"/>
          </a:p>
          <a:p>
            <a:r>
              <a:rPr lang="fr-FR" sz="2400" dirty="0"/>
              <a:t>   │ </a:t>
            </a:r>
            <a:r>
              <a:rPr lang="fr-FR" sz="2400" dirty="0" err="1"/>
              <a:t>NoPage.jsx</a:t>
            </a:r>
            <a:r>
              <a:rPr lang="fr-FR" sz="2400" dirty="0"/>
              <a:t>   (page 404)</a:t>
            </a:r>
          </a:p>
          <a:p>
            <a:r>
              <a:rPr lang="fr-FR" sz="2400" dirty="0"/>
              <a:t>   │ </a:t>
            </a:r>
            <a:r>
              <a:rPr lang="fr-FR" sz="2400" dirty="0" err="1"/>
              <a:t>Layout.jsx</a:t>
            </a:r>
            <a:r>
              <a:rPr lang="fr-FR" sz="2400" dirty="0"/>
              <a:t>   (gabarit + menu)</a:t>
            </a:r>
          </a:p>
        </p:txBody>
      </p:sp>
    </p:spTree>
    <p:extLst>
      <p:ext uri="{BB962C8B-B14F-4D97-AF65-F5344CB8AC3E}">
        <p14:creationId xmlns:p14="http://schemas.microsoft.com/office/powerpoint/2010/main" val="11103717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5FA17-632E-7096-BAA9-6210C548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5560E-DC4F-8712-7983-F4FD8ABF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Layout.jsx</a:t>
            </a:r>
            <a:r>
              <a:rPr lang="fr-FR" dirty="0"/>
              <a:t> (Page </a:t>
            </a:r>
            <a:r>
              <a:rPr lang="fr-FR" dirty="0" err="1"/>
              <a:t>Layout</a:t>
            </a:r>
            <a:r>
              <a:rPr lang="fr-FR" dirty="0"/>
              <a:t> / Template)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2FB0D5-7A3A-2E20-C362-B499F5A40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5530" cy="205439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/>
              <a:t>Rôle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Contient la </a:t>
            </a:r>
            <a:r>
              <a:rPr lang="fr-FR" sz="2000" b="1" dirty="0"/>
              <a:t>barre de navigation</a:t>
            </a:r>
            <a:r>
              <a:rPr lang="fr-FR" sz="2000" dirty="0"/>
              <a:t> ou le menu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Définit la structure commune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Affiche la page enfant grâce à </a:t>
            </a:r>
            <a:r>
              <a:rPr lang="fr-FR" sz="2000" b="1" dirty="0">
                <a:latin typeface="Courier New" panose="02070309020205020404" pitchFamily="49" charset="0"/>
              </a:rPr>
              <a:t>&lt;</a:t>
            </a:r>
            <a:r>
              <a:rPr lang="fr-FR" sz="2000" b="1" dirty="0" err="1">
                <a:latin typeface="Courier New" panose="02070309020205020404" pitchFamily="49" charset="0"/>
              </a:rPr>
              <a:t>Outlet</a:t>
            </a:r>
            <a:r>
              <a:rPr lang="fr-FR" sz="2000" b="1" dirty="0">
                <a:latin typeface="Courier New" panose="02070309020205020404" pitchFamily="49" charset="0"/>
              </a:rPr>
              <a:t> /&gt;</a:t>
            </a:r>
            <a:endParaRPr lang="fr-FR" sz="2000" b="1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E0E662-DA6E-AA44-85CB-0596C52E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692-5260-43A9-A20B-6A31F53DF96F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C3F2ED-E183-65B4-857F-CF532C6CA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3784F0-78BB-7400-F315-8BBBD152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72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EE32595-D480-8BF1-796D-FECE73D8774B}"/>
              </a:ext>
            </a:extLst>
          </p:cNvPr>
          <p:cNvSpPr txBox="1"/>
          <p:nvPr/>
        </p:nvSpPr>
        <p:spPr>
          <a:xfrm>
            <a:off x="6285470" y="1684417"/>
            <a:ext cx="5525530" cy="440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dirty="0"/>
              <a:t>import { </a:t>
            </a:r>
            <a:r>
              <a:rPr lang="fr-FR" sz="2000" dirty="0" err="1"/>
              <a:t>Outlet</a:t>
            </a:r>
            <a:r>
              <a:rPr lang="fr-FR" sz="2000" dirty="0"/>
              <a:t>, Link } </a:t>
            </a:r>
            <a:r>
              <a:rPr lang="fr-FR" sz="2000" dirty="0" err="1"/>
              <a:t>from</a:t>
            </a:r>
            <a:r>
              <a:rPr lang="fr-FR" sz="2000" dirty="0"/>
              <a:t> "</a:t>
            </a:r>
            <a:r>
              <a:rPr lang="fr-FR" sz="2000" dirty="0" err="1"/>
              <a:t>react</a:t>
            </a:r>
            <a:r>
              <a:rPr lang="fr-FR" sz="2000" dirty="0"/>
              <a:t>-router-dom";</a:t>
            </a:r>
          </a:p>
          <a:p>
            <a:endParaRPr lang="fr-FR" sz="2000" dirty="0"/>
          </a:p>
          <a:p>
            <a:r>
              <a:rPr lang="fr-FR" sz="2000" dirty="0"/>
              <a:t>export default </a:t>
            </a:r>
            <a:r>
              <a:rPr lang="fr-FR" sz="2000" dirty="0" err="1"/>
              <a:t>function</a:t>
            </a:r>
            <a:r>
              <a:rPr lang="fr-FR" sz="2000" dirty="0"/>
              <a:t> </a:t>
            </a:r>
            <a:r>
              <a:rPr lang="fr-FR" sz="2000" dirty="0" err="1"/>
              <a:t>Layout</a:t>
            </a:r>
            <a:r>
              <a:rPr lang="fr-FR" sz="2000" dirty="0"/>
              <a:t>() {</a:t>
            </a:r>
          </a:p>
          <a:p>
            <a:r>
              <a:rPr lang="fr-FR" sz="2000" dirty="0"/>
              <a:t>  return (</a:t>
            </a:r>
          </a:p>
          <a:p>
            <a:r>
              <a:rPr lang="fr-FR" sz="2000" dirty="0"/>
              <a:t>    &lt;&gt;</a:t>
            </a:r>
          </a:p>
          <a:p>
            <a:r>
              <a:rPr lang="fr-FR" sz="2000" dirty="0"/>
              <a:t>      &lt;</a:t>
            </a:r>
            <a:r>
              <a:rPr lang="fr-FR" sz="2000" dirty="0" err="1"/>
              <a:t>nav</a:t>
            </a:r>
            <a:r>
              <a:rPr lang="fr-FR" sz="2000" dirty="0"/>
              <a:t>&gt;</a:t>
            </a:r>
          </a:p>
          <a:p>
            <a:r>
              <a:rPr lang="fr-FR" sz="2000" dirty="0"/>
              <a:t>        &lt;Link to="/"&gt;Accueil&lt;/Link&gt; | </a:t>
            </a:r>
          </a:p>
          <a:p>
            <a:r>
              <a:rPr lang="fr-FR" sz="2000" dirty="0"/>
              <a:t>        &lt;Link to="/blogs"&gt;Blogs&lt;/Link&gt; | </a:t>
            </a:r>
          </a:p>
          <a:p>
            <a:r>
              <a:rPr lang="fr-FR" sz="2000" dirty="0"/>
              <a:t>        &lt;Link to="/contact"&gt;Contact&lt;/Link&gt;</a:t>
            </a:r>
          </a:p>
          <a:p>
            <a:r>
              <a:rPr lang="fr-FR" sz="2000" dirty="0"/>
              <a:t>      &lt;/</a:t>
            </a:r>
            <a:r>
              <a:rPr lang="fr-FR" sz="2000" dirty="0" err="1"/>
              <a:t>nav</a:t>
            </a:r>
            <a:r>
              <a:rPr lang="fr-FR" sz="2000" dirty="0"/>
              <a:t>&gt;</a:t>
            </a:r>
          </a:p>
          <a:p>
            <a:r>
              <a:rPr lang="fr-FR" sz="2000" dirty="0"/>
              <a:t>      </a:t>
            </a:r>
            <a:r>
              <a:rPr lang="fr-FR" sz="2000" b="1" dirty="0"/>
              <a:t>&lt;</a:t>
            </a:r>
            <a:r>
              <a:rPr lang="fr-FR" sz="2000" b="1" dirty="0" err="1"/>
              <a:t>Outlet</a:t>
            </a:r>
            <a:r>
              <a:rPr lang="fr-FR" sz="2000" b="1" dirty="0"/>
              <a:t> /&gt;</a:t>
            </a:r>
          </a:p>
          <a:p>
            <a:r>
              <a:rPr lang="fr-FR" sz="2000" dirty="0"/>
              <a:t>    &lt;/&gt;</a:t>
            </a:r>
          </a:p>
          <a:p>
            <a:r>
              <a:rPr lang="fr-FR" sz="2000" dirty="0"/>
              <a:t>  );</a:t>
            </a:r>
          </a:p>
          <a:p>
            <a:r>
              <a:rPr lang="fr-FR" sz="2000" dirty="0"/>
              <a:t>}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386B42-97AC-65EE-6044-30EBEDDD4D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2695"/>
          <a:stretch>
            <a:fillRect/>
          </a:stretch>
        </p:blipFill>
        <p:spPr bwMode="auto">
          <a:xfrm>
            <a:off x="1903970" y="3653782"/>
            <a:ext cx="2857500" cy="292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4427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F3A8C-C069-6B5B-69E7-7B1DD256F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2DFD0-0AA7-E159-B213-B5B64140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Configuration du routage (</a:t>
            </a:r>
            <a:r>
              <a:rPr lang="fr-FR" dirty="0" err="1"/>
              <a:t>main.jsx</a:t>
            </a:r>
            <a:r>
              <a:rPr lang="fr-FR" dirty="0"/>
              <a:t>)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9A5C84-C60F-82C2-F68E-28C7C269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8A56-740D-4E80-8B12-CDE75766FF96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4482A1-DCBA-6626-EDD9-C286F317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F2BD2C-B25B-27E6-58B7-04D9927D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73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103B65B-DA1E-0DE4-FE76-3B6CA2DD3E06}"/>
              </a:ext>
            </a:extLst>
          </p:cNvPr>
          <p:cNvSpPr txBox="1"/>
          <p:nvPr/>
        </p:nvSpPr>
        <p:spPr>
          <a:xfrm>
            <a:off x="470587" y="2412389"/>
            <a:ext cx="4892245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/>
              <a:t>import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r>
              <a:rPr lang="fr-FR" dirty="0"/>
              <a:t>import </a:t>
            </a:r>
            <a:r>
              <a:rPr lang="fr-FR" dirty="0" err="1"/>
              <a:t>ReactDOM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-dom/client";</a:t>
            </a:r>
          </a:p>
          <a:p>
            <a:r>
              <a:rPr lang="fr-FR" dirty="0"/>
              <a:t>import { </a:t>
            </a:r>
            <a:r>
              <a:rPr lang="fr-FR" dirty="0" err="1"/>
              <a:t>RouterProvider</a:t>
            </a:r>
            <a:r>
              <a:rPr lang="fr-FR" dirty="0"/>
              <a:t>, </a:t>
            </a:r>
            <a:r>
              <a:rPr lang="fr-FR" dirty="0" err="1"/>
              <a:t>createBrowserRouter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-router-dom";</a:t>
            </a:r>
          </a:p>
          <a:p>
            <a:endParaRPr lang="fr-FR" dirty="0"/>
          </a:p>
          <a:p>
            <a:r>
              <a:rPr lang="fr-FR" dirty="0"/>
              <a:t>import </a:t>
            </a:r>
            <a:r>
              <a:rPr lang="fr-FR" dirty="0" err="1"/>
              <a:t>Layout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"./pages/</a:t>
            </a:r>
            <a:r>
              <a:rPr lang="fr-FR" dirty="0" err="1"/>
              <a:t>Layout</a:t>
            </a:r>
            <a:r>
              <a:rPr lang="fr-FR" dirty="0"/>
              <a:t>";</a:t>
            </a:r>
          </a:p>
          <a:p>
            <a:r>
              <a:rPr lang="fr-FR" dirty="0"/>
              <a:t>import Home </a:t>
            </a:r>
            <a:r>
              <a:rPr lang="fr-FR" dirty="0" err="1"/>
              <a:t>from</a:t>
            </a:r>
            <a:r>
              <a:rPr lang="fr-FR" dirty="0"/>
              <a:t> "./pages/Home";</a:t>
            </a:r>
          </a:p>
          <a:p>
            <a:r>
              <a:rPr lang="fr-FR" dirty="0"/>
              <a:t>import Blogs </a:t>
            </a:r>
            <a:r>
              <a:rPr lang="fr-FR" dirty="0" err="1"/>
              <a:t>from</a:t>
            </a:r>
            <a:r>
              <a:rPr lang="fr-FR" dirty="0"/>
              <a:t> "./pages/Blogs";</a:t>
            </a:r>
          </a:p>
          <a:p>
            <a:r>
              <a:rPr lang="fr-FR" dirty="0"/>
              <a:t>import Contact </a:t>
            </a:r>
            <a:r>
              <a:rPr lang="fr-FR" dirty="0" err="1"/>
              <a:t>from</a:t>
            </a:r>
            <a:r>
              <a:rPr lang="fr-FR" dirty="0"/>
              <a:t> "./pages/Contact";</a:t>
            </a:r>
          </a:p>
          <a:p>
            <a:r>
              <a:rPr lang="fr-FR" dirty="0"/>
              <a:t>import </a:t>
            </a:r>
            <a:r>
              <a:rPr lang="fr-FR" dirty="0" err="1"/>
              <a:t>NoPage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"./pages/</a:t>
            </a:r>
            <a:r>
              <a:rPr lang="fr-FR" dirty="0" err="1"/>
              <a:t>NoPage</a:t>
            </a:r>
            <a:r>
              <a:rPr lang="fr-FR" dirty="0"/>
              <a:t>";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6F42901-AC36-73D1-AB91-889D3DE20C0C}"/>
              </a:ext>
            </a:extLst>
          </p:cNvPr>
          <p:cNvSpPr txBox="1"/>
          <p:nvPr/>
        </p:nvSpPr>
        <p:spPr>
          <a:xfrm>
            <a:off x="5807677" y="1320258"/>
            <a:ext cx="6037304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 err="1"/>
              <a:t>const</a:t>
            </a:r>
            <a:r>
              <a:rPr lang="fr-FR" b="1" dirty="0"/>
              <a:t> router = </a:t>
            </a:r>
            <a:r>
              <a:rPr lang="fr-FR" b="1" dirty="0" err="1"/>
              <a:t>createBrowserRouter</a:t>
            </a:r>
            <a:r>
              <a:rPr lang="fr-FR" b="1" dirty="0"/>
              <a:t>([</a:t>
            </a:r>
          </a:p>
          <a:p>
            <a:r>
              <a:rPr lang="fr-FR" b="1" dirty="0"/>
              <a:t>  {</a:t>
            </a:r>
          </a:p>
          <a:p>
            <a:r>
              <a:rPr lang="fr-FR" b="1" dirty="0"/>
              <a:t>    </a:t>
            </a:r>
            <a:r>
              <a:rPr lang="fr-FR" b="1" dirty="0" err="1"/>
              <a:t>path</a:t>
            </a:r>
            <a:r>
              <a:rPr lang="fr-FR" b="1" dirty="0"/>
              <a:t>: "/",</a:t>
            </a:r>
          </a:p>
          <a:p>
            <a:r>
              <a:rPr lang="fr-FR" b="1" dirty="0"/>
              <a:t>    </a:t>
            </a:r>
            <a:r>
              <a:rPr lang="fr-FR" b="1" dirty="0" err="1"/>
              <a:t>element</a:t>
            </a:r>
            <a:r>
              <a:rPr lang="fr-FR" b="1" dirty="0"/>
              <a:t>: &lt;</a:t>
            </a:r>
            <a:r>
              <a:rPr lang="fr-FR" b="1" dirty="0" err="1"/>
              <a:t>Layout</a:t>
            </a:r>
            <a:r>
              <a:rPr lang="fr-FR" b="1" dirty="0"/>
              <a:t> /&gt;,</a:t>
            </a:r>
          </a:p>
          <a:p>
            <a:r>
              <a:rPr lang="fr-FR" b="1" dirty="0"/>
              <a:t>    </a:t>
            </a:r>
            <a:r>
              <a:rPr lang="fr-FR" b="1" dirty="0" err="1"/>
              <a:t>children</a:t>
            </a:r>
            <a:r>
              <a:rPr lang="fr-FR" b="1" dirty="0"/>
              <a:t>: [</a:t>
            </a:r>
          </a:p>
          <a:p>
            <a:r>
              <a:rPr lang="fr-FR" b="1" dirty="0"/>
              <a:t>      { index: </a:t>
            </a:r>
            <a:r>
              <a:rPr lang="fr-FR" b="1" dirty="0" err="1"/>
              <a:t>true</a:t>
            </a:r>
            <a:r>
              <a:rPr lang="fr-FR" b="1" dirty="0"/>
              <a:t>, </a:t>
            </a:r>
            <a:r>
              <a:rPr lang="fr-FR" b="1" dirty="0" err="1"/>
              <a:t>element</a:t>
            </a:r>
            <a:r>
              <a:rPr lang="fr-FR" b="1" dirty="0"/>
              <a:t>: &lt;Home /&gt; },</a:t>
            </a:r>
          </a:p>
          <a:p>
            <a:r>
              <a:rPr lang="fr-FR" b="1" dirty="0"/>
              <a:t>      { </a:t>
            </a:r>
            <a:r>
              <a:rPr lang="fr-FR" b="1" dirty="0" err="1"/>
              <a:t>path</a:t>
            </a:r>
            <a:r>
              <a:rPr lang="fr-FR" b="1" dirty="0"/>
              <a:t>: "blogs", </a:t>
            </a:r>
            <a:r>
              <a:rPr lang="fr-FR" b="1" dirty="0" err="1"/>
              <a:t>element</a:t>
            </a:r>
            <a:r>
              <a:rPr lang="fr-FR" b="1" dirty="0"/>
              <a:t>: &lt;Blogs /&gt; },</a:t>
            </a:r>
          </a:p>
          <a:p>
            <a:r>
              <a:rPr lang="fr-FR" b="1" dirty="0"/>
              <a:t>      { </a:t>
            </a:r>
            <a:r>
              <a:rPr lang="fr-FR" b="1" dirty="0" err="1"/>
              <a:t>path</a:t>
            </a:r>
            <a:r>
              <a:rPr lang="fr-FR" b="1" dirty="0"/>
              <a:t>: "contact", </a:t>
            </a:r>
            <a:r>
              <a:rPr lang="fr-FR" b="1" dirty="0" err="1"/>
              <a:t>element</a:t>
            </a:r>
            <a:r>
              <a:rPr lang="fr-FR" b="1" dirty="0"/>
              <a:t>: &lt;Contact /&gt; },</a:t>
            </a:r>
          </a:p>
          <a:p>
            <a:r>
              <a:rPr lang="fr-FR" b="1" dirty="0"/>
              <a:t>      { </a:t>
            </a:r>
            <a:r>
              <a:rPr lang="fr-FR" b="1" dirty="0" err="1"/>
              <a:t>path</a:t>
            </a:r>
            <a:r>
              <a:rPr lang="fr-FR" b="1" dirty="0"/>
              <a:t>: "*", </a:t>
            </a:r>
            <a:r>
              <a:rPr lang="fr-FR" b="1" dirty="0" err="1"/>
              <a:t>element</a:t>
            </a:r>
            <a:r>
              <a:rPr lang="fr-FR" b="1" dirty="0"/>
              <a:t>: &lt;</a:t>
            </a:r>
            <a:r>
              <a:rPr lang="fr-FR" b="1" dirty="0" err="1"/>
              <a:t>NoPage</a:t>
            </a:r>
            <a:r>
              <a:rPr lang="fr-FR" b="1" dirty="0"/>
              <a:t> /&gt; },</a:t>
            </a:r>
          </a:p>
          <a:p>
            <a:r>
              <a:rPr lang="fr-FR" b="1" dirty="0"/>
              <a:t>    ],</a:t>
            </a:r>
          </a:p>
          <a:p>
            <a:r>
              <a:rPr lang="fr-FR" b="1" dirty="0"/>
              <a:t>  },</a:t>
            </a:r>
          </a:p>
          <a:p>
            <a:r>
              <a:rPr lang="fr-FR" b="1" dirty="0"/>
              <a:t>]);</a:t>
            </a:r>
          </a:p>
          <a:p>
            <a:endParaRPr lang="fr-FR" dirty="0"/>
          </a:p>
          <a:p>
            <a:r>
              <a:rPr lang="fr-FR" dirty="0" err="1"/>
              <a:t>ReactDOM.createRoot</a:t>
            </a:r>
            <a:r>
              <a:rPr lang="fr-FR" dirty="0"/>
              <a:t>(</a:t>
            </a:r>
            <a:r>
              <a:rPr lang="fr-FR" dirty="0" err="1"/>
              <a:t>document.getElementById</a:t>
            </a:r>
            <a:r>
              <a:rPr lang="fr-FR" dirty="0"/>
              <a:t>("root")).</a:t>
            </a:r>
            <a:r>
              <a:rPr lang="fr-FR" dirty="0" err="1"/>
              <a:t>render</a:t>
            </a:r>
            <a:r>
              <a:rPr lang="fr-FR" dirty="0"/>
              <a:t>(</a:t>
            </a:r>
          </a:p>
          <a:p>
            <a:r>
              <a:rPr lang="fr-FR" dirty="0"/>
              <a:t>  &lt;</a:t>
            </a:r>
            <a:r>
              <a:rPr lang="fr-FR" dirty="0" err="1"/>
              <a:t>RouterProvider</a:t>
            </a:r>
            <a:r>
              <a:rPr lang="fr-FR" dirty="0"/>
              <a:t> router={router} /&gt;</a:t>
            </a:r>
          </a:p>
          <a:p>
            <a:r>
              <a:rPr lang="fr-FR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044937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37C2-AA87-F486-969B-819CA0CB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893436-EA09-9209-949B-606A25C9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Outlet</a:t>
            </a:r>
            <a:r>
              <a:rPr lang="fr-FR" dirty="0"/>
              <a:t> &amp; Link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017026-C8A3-BA68-2158-09FC9ABB0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fr-FR" dirty="0"/>
              <a:t>&lt;</a:t>
            </a:r>
            <a:r>
              <a:rPr lang="fr-FR" dirty="0" err="1"/>
              <a:t>Outlet</a:t>
            </a:r>
            <a:r>
              <a:rPr lang="fr-FR" dirty="0"/>
              <a:t> /&gt;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Sert à afficher la page enfant active.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Permet d’éviter de répéter la structure (header, </a:t>
            </a:r>
            <a:r>
              <a:rPr lang="fr-FR" dirty="0" err="1"/>
              <a:t>footer</a:t>
            </a:r>
            <a:r>
              <a:rPr lang="fr-FR" dirty="0"/>
              <a:t>…).</a:t>
            </a:r>
          </a:p>
          <a:p>
            <a:pPr>
              <a:lnSpc>
                <a:spcPct val="100000"/>
              </a:lnSpc>
            </a:pPr>
            <a:r>
              <a:rPr lang="fr-FR" dirty="0"/>
              <a:t>&lt;Link to=""&gt;Navigation interne sans recharger la page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Remplace &lt;a href=""&gt;.</a:t>
            </a:r>
          </a:p>
          <a:p>
            <a:pPr>
              <a:lnSpc>
                <a:spcPct val="100000"/>
              </a:lnSpc>
            </a:pPr>
            <a:r>
              <a:rPr lang="fr-FR" dirty="0"/>
              <a:t>Exemple :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&lt;Link to="/contact"&gt;Contact&lt;/Link&gt;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B0A0E9-0EA8-B492-A57C-9766EDBD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DA0F-A021-4BA7-BE89-084D7AAAA415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B10C95-8C24-2034-A43A-B9D54779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F8DC36-409B-C9D8-09C7-2471F2B4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74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4677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DE6F2-15DE-F58E-BB50-445682DC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37BAF7-ECD5-977D-1702-4E932A55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Navigation programmée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161071-A364-BD91-6077-A514B362B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57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Utiliser </a:t>
            </a:r>
            <a:r>
              <a:rPr lang="fr-FR" dirty="0" err="1"/>
              <a:t>useNavigate</a:t>
            </a:r>
            <a:r>
              <a:rPr lang="fr-FR" dirty="0"/>
              <a:t>() pour rediriger depuis un événement (ex: après l’envoi d’un formulaire) 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CCA4D4-0D02-72D0-978E-2FAE8812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FE34-C059-45BB-9695-3351ED2D3968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E4CD88-2D79-7263-29BA-AA68C46D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D3C266-C98D-5E6F-1DDC-5A060C75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75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83FAD65-CA01-F6B0-AFEC-5260A01A8D6F}"/>
              </a:ext>
            </a:extLst>
          </p:cNvPr>
          <p:cNvSpPr txBox="1"/>
          <p:nvPr/>
        </p:nvSpPr>
        <p:spPr>
          <a:xfrm>
            <a:off x="989571" y="3057945"/>
            <a:ext cx="6098058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/>
              <a:t>import { </a:t>
            </a:r>
            <a:r>
              <a:rPr lang="fr-FR" dirty="0" err="1"/>
              <a:t>useNavigate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-router-dom";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Contact()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navigate</a:t>
            </a:r>
            <a:r>
              <a:rPr lang="fr-FR" dirty="0"/>
              <a:t> = </a:t>
            </a:r>
            <a:r>
              <a:rPr lang="fr-FR" b="1" dirty="0" err="1"/>
              <a:t>useNavigate</a:t>
            </a:r>
            <a:r>
              <a:rPr lang="fr-FR" dirty="0"/>
              <a:t>();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handleSubmit</a:t>
            </a:r>
            <a:r>
              <a:rPr lang="fr-FR" dirty="0"/>
              <a:t> = () =&gt; {</a:t>
            </a:r>
          </a:p>
          <a:p>
            <a:r>
              <a:rPr lang="fr-FR" dirty="0"/>
              <a:t>    </a:t>
            </a:r>
            <a:r>
              <a:rPr lang="fr-FR" b="1" dirty="0" err="1"/>
              <a:t>navigate</a:t>
            </a:r>
            <a:r>
              <a:rPr lang="fr-FR" dirty="0"/>
              <a:t>("/"); // redirige vers Home</a:t>
            </a:r>
          </a:p>
          <a:p>
            <a:r>
              <a:rPr lang="fr-FR" dirty="0"/>
              <a:t>  };</a:t>
            </a:r>
          </a:p>
          <a:p>
            <a:endParaRPr lang="fr-FR" dirty="0"/>
          </a:p>
          <a:p>
            <a:r>
              <a:rPr lang="fr-FR" dirty="0"/>
              <a:t>  return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</a:t>
            </a:r>
            <a:r>
              <a:rPr lang="fr-FR" dirty="0" err="1"/>
              <a:t>handleSubmit</a:t>
            </a:r>
            <a:r>
              <a:rPr lang="fr-FR" dirty="0"/>
              <a:t>}&gt;Envoyer&lt;/</a:t>
            </a:r>
            <a:r>
              <a:rPr lang="fr-FR" dirty="0" err="1"/>
              <a:t>button</a:t>
            </a:r>
            <a:r>
              <a:rPr lang="fr-FR" dirty="0"/>
              <a:t>&gt;;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20687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8663-807B-AF9B-1AE0-6A0A419D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2C9525-1D65-A82A-2583-B2A538FD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Routage dynamique (:id)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4C17AF-04F4-9B28-2D39-20A88C64C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&lt;Route path="blogs/:id" element={&lt;</a:t>
            </a:r>
            <a:r>
              <a:rPr lang="en-US" dirty="0" err="1"/>
              <a:t>BlogDetail</a:t>
            </a:r>
            <a:r>
              <a:rPr lang="en-US" dirty="0"/>
              <a:t> /&gt;} /&gt;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Récupération</a:t>
            </a:r>
            <a:r>
              <a:rPr lang="en-US" b="1" dirty="0"/>
              <a:t> du </a:t>
            </a:r>
            <a:r>
              <a:rPr lang="en-US" b="1" dirty="0" err="1"/>
              <a:t>paramètre</a:t>
            </a:r>
            <a:r>
              <a:rPr lang="en-US" b="1" dirty="0"/>
              <a:t> :</a:t>
            </a:r>
          </a:p>
          <a:p>
            <a:pPr marL="0" indent="0">
              <a:buNone/>
            </a:pPr>
            <a:r>
              <a:rPr lang="en-US" dirty="0"/>
              <a:t>import { </a:t>
            </a:r>
            <a:r>
              <a:rPr lang="en-US" dirty="0" err="1"/>
              <a:t>useParams</a:t>
            </a:r>
            <a:r>
              <a:rPr lang="en-US" dirty="0"/>
              <a:t> } from "react-router-</a:t>
            </a:r>
            <a:r>
              <a:rPr lang="en-US" dirty="0" err="1"/>
              <a:t>dom</a:t>
            </a:r>
            <a:r>
              <a:rPr lang="en-US" dirty="0"/>
              <a:t>";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BlogDetail</a:t>
            </a:r>
            <a:r>
              <a:rPr lang="en-US" dirty="0"/>
              <a:t> = () =&gt; {</a:t>
            </a:r>
          </a:p>
          <a:p>
            <a:pPr marL="0" indent="0">
              <a:buNone/>
            </a:pPr>
            <a:r>
              <a:rPr lang="en-US" dirty="0"/>
              <a:t>  const { id } = </a:t>
            </a:r>
            <a:r>
              <a:rPr lang="en-US" dirty="0" err="1"/>
              <a:t>useParams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return &lt;h1&gt;Article n° {id}&lt;/h1&gt;;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0B1AC7-56A9-EA00-5338-8DD49CA9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7B204-0B23-4639-B705-96C802DDFDC6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F25A90-66A4-8F73-B1A1-BE2DE329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F35A0D-92D3-5258-21C8-D2335DB6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76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2475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D1F44-0CCD-20DD-B8DF-0C203B2A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900C44A-91CC-9754-8868-8BFD0D323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DE6154B2-C69D-6405-8955-79BA7335C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/>
              <a:t>Dans FirstApp</a:t>
            </a:r>
          </a:p>
          <a:p>
            <a:r>
              <a:rPr lang="fr-FR" b="1"/>
              <a:t>Atelier 02.06 Routage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64E3A3-1D60-17C7-1479-6FCBB67CF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47E1329B-9BB7-2B03-46C8-19715AAB6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492C-688D-4125-A893-F4D7DDBED28B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285946E-93DC-02DE-E125-CAE8D32E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FEF34F9-2067-F871-6E29-3FCE4109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77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41406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4CE04-75A8-2387-CDA3-A23FA229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0ED4DF-F1B5-F14B-94D5-8DD625C7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fr-FR" sz="3600" dirty="0" err="1"/>
              <a:t>React</a:t>
            </a:r>
            <a:r>
              <a:rPr lang="fr-FR" sz="3600" dirty="0"/>
              <a:t> : Styliser vos composants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D97ED47-708E-2BDE-5DD5-431960AC1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5204" y="2354239"/>
            <a:ext cx="9181591" cy="3948085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F5CF13-1229-CB7B-2414-0321849BA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A13922-4790-4B60-809A-C21B8791A25E}" type="datetime1">
              <a:rPr lang="en-US" sz="1000" smtClean="0">
                <a:solidFill>
                  <a:schemeClr val="tx1">
                    <a:tint val="75000"/>
                  </a:schemeClr>
                </a:solidFill>
              </a:rPr>
              <a:t>11/19/2025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7AD0D2-9455-48E4-3C55-F21B6E9D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0D3859-ACD0-B6D0-DECC-147842F66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78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3290D95-717C-4FDD-1509-CCE725295632}"/>
              </a:ext>
            </a:extLst>
          </p:cNvPr>
          <p:cNvSpPr txBox="1"/>
          <p:nvPr/>
        </p:nvSpPr>
        <p:spPr>
          <a:xfrm>
            <a:off x="3884142" y="151299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inline</a:t>
            </a:r>
            <a:r>
              <a:rPr lang="fr-FR" dirty="0"/>
              <a:t> styles, CSS classique et modules CSS.</a:t>
            </a:r>
          </a:p>
        </p:txBody>
      </p:sp>
    </p:spTree>
    <p:extLst>
      <p:ext uri="{BB962C8B-B14F-4D97-AF65-F5344CB8AC3E}">
        <p14:creationId xmlns:p14="http://schemas.microsoft.com/office/powerpoint/2010/main" val="29439584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5795-ADE3-7AA7-FA0F-E9E20A94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9BD42-CC07-8514-2798-2A7E33F2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styliser </a:t>
            </a:r>
            <a:r>
              <a:rPr lang="fr-FR" dirty="0" err="1"/>
              <a:t>React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4A5CAE-1D71-086A-824B-B09861D07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React</a:t>
            </a:r>
            <a:r>
              <a:rPr lang="fr-FR" dirty="0"/>
              <a:t> ne propose pas de système de style natif, mais fonctionne avec CSS et objets JS.</a:t>
            </a:r>
          </a:p>
          <a:p>
            <a:r>
              <a:rPr lang="fr-FR" dirty="0"/>
              <a:t>Styliser permet :</a:t>
            </a:r>
          </a:p>
          <a:p>
            <a:pPr lvl="1"/>
            <a:r>
              <a:rPr lang="fr-FR" dirty="0"/>
              <a:t>Améliorer l’apparence des composants.</a:t>
            </a:r>
          </a:p>
          <a:p>
            <a:pPr lvl="1"/>
            <a:r>
              <a:rPr lang="fr-FR" dirty="0"/>
              <a:t>Créer des interfaces interactives et agréables.</a:t>
            </a:r>
          </a:p>
          <a:p>
            <a:pPr lvl="1"/>
            <a:r>
              <a:rPr lang="fr-FR" dirty="0"/>
              <a:t>Faciliter la réutilisation des composants avec styles spécifiques.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2B9F30-5A53-5160-FE93-426D65D5F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E680-68E5-421A-8A1E-40B9EC974113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F9E623-CA19-78A0-2E38-586A7C44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5DF8F4-09E4-598E-F7C6-3E359FA6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79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184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DE2BB-08CA-CB3D-4277-CF82C5AA8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1D2CB-ABEE-E676-E94C-BAF101DA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Style en ligne (</a:t>
            </a:r>
            <a:r>
              <a:rPr lang="fr-FR" dirty="0" err="1"/>
              <a:t>Inline</a:t>
            </a:r>
            <a:r>
              <a:rPr lang="fr-FR" dirty="0"/>
              <a:t> Style)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722181-07D2-37A2-2394-4F1A7ABA9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80256"/>
          </a:xfrm>
        </p:spPr>
        <p:txBody>
          <a:bodyPr/>
          <a:lstStyle/>
          <a:p>
            <a:r>
              <a:rPr lang="fr-FR" dirty="0"/>
              <a:t>On utilise l’attribut </a:t>
            </a:r>
            <a:r>
              <a:rPr lang="fr-FR" b="1" dirty="0"/>
              <a:t>style</a:t>
            </a:r>
            <a:r>
              <a:rPr lang="fr-FR" dirty="0"/>
              <a:t> dans le JSX.</a:t>
            </a:r>
          </a:p>
          <a:p>
            <a:r>
              <a:rPr lang="fr-FR" dirty="0"/>
              <a:t>La valeur doit être un objet JavaScript.</a:t>
            </a:r>
          </a:p>
          <a:p>
            <a:r>
              <a:rPr lang="fr-FR" dirty="0"/>
              <a:t>Les propriétés CSS sont en </a:t>
            </a:r>
            <a:r>
              <a:rPr lang="fr-FR" b="1" dirty="0" err="1"/>
              <a:t>camelCase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(ex : </a:t>
            </a:r>
            <a:r>
              <a:rPr lang="fr-FR" dirty="0" err="1"/>
              <a:t>background</a:t>
            </a:r>
            <a:r>
              <a:rPr lang="fr-FR" b="1" dirty="0" err="1"/>
              <a:t>C</a:t>
            </a:r>
            <a:r>
              <a:rPr lang="fr-FR" dirty="0" err="1"/>
              <a:t>olor</a:t>
            </a:r>
            <a:r>
              <a:rPr lang="fr-FR" dirty="0"/>
              <a:t> au lieu de background-</a:t>
            </a:r>
            <a:r>
              <a:rPr lang="fr-FR" dirty="0" err="1"/>
              <a:t>color</a:t>
            </a:r>
            <a:r>
              <a:rPr lang="fr-FR" dirty="0"/>
              <a:t>).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AC49AE-B653-08C5-7766-42E6320F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7FAB-F6FE-461F-AFEB-9521378A7F50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52419F-55CD-435C-2D81-69856304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0C438F-7C0B-C722-171A-FD5B4834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80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0C047C1-3D8E-933C-77FE-F880057B7B13}"/>
              </a:ext>
            </a:extLst>
          </p:cNvPr>
          <p:cNvSpPr txBox="1"/>
          <p:nvPr/>
        </p:nvSpPr>
        <p:spPr>
          <a:xfrm>
            <a:off x="1417937" y="3805881"/>
            <a:ext cx="8689889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dirty="0" err="1"/>
              <a:t>function</a:t>
            </a:r>
            <a:r>
              <a:rPr lang="fr-FR" sz="2000" dirty="0"/>
              <a:t> Home() {</a:t>
            </a:r>
          </a:p>
          <a:p>
            <a:r>
              <a:rPr lang="fr-FR" sz="2000" dirty="0"/>
              <a:t>  return (</a:t>
            </a:r>
          </a:p>
          <a:p>
            <a:r>
              <a:rPr lang="fr-FR" sz="2000" dirty="0"/>
              <a:t>    &lt;div </a:t>
            </a:r>
            <a:r>
              <a:rPr lang="fr-FR" sz="2000" b="1" dirty="0"/>
              <a:t>style</a:t>
            </a:r>
            <a:r>
              <a:rPr lang="fr-FR" sz="2000" dirty="0"/>
              <a:t>={{ </a:t>
            </a:r>
            <a:r>
              <a:rPr lang="fr-FR" sz="2000" b="1" dirty="0" err="1"/>
              <a:t>backgroundColor</a:t>
            </a:r>
            <a:r>
              <a:rPr lang="fr-FR" sz="2000" dirty="0"/>
              <a:t>: '</a:t>
            </a:r>
            <a:r>
              <a:rPr lang="fr-FR" sz="2000" dirty="0" err="1"/>
              <a:t>lightblue</a:t>
            </a:r>
            <a:r>
              <a:rPr lang="fr-FR" sz="2000" dirty="0"/>
              <a:t>', </a:t>
            </a:r>
            <a:r>
              <a:rPr lang="fr-FR" sz="2000" dirty="0" err="1"/>
              <a:t>padding</a:t>
            </a:r>
            <a:r>
              <a:rPr lang="fr-FR" sz="2000" dirty="0"/>
              <a:t>: '20px' }}&gt;</a:t>
            </a:r>
          </a:p>
          <a:p>
            <a:r>
              <a:rPr lang="fr-FR" sz="2000" dirty="0"/>
              <a:t>      &lt;h1 </a:t>
            </a:r>
            <a:r>
              <a:rPr lang="fr-FR" sz="2000" b="1" dirty="0"/>
              <a:t>style</a:t>
            </a:r>
            <a:r>
              <a:rPr lang="fr-FR" sz="2000" dirty="0"/>
              <a:t>={{ </a:t>
            </a:r>
            <a:r>
              <a:rPr lang="fr-FR" sz="2000" b="1" dirty="0" err="1"/>
              <a:t>color</a:t>
            </a:r>
            <a:r>
              <a:rPr lang="fr-FR" sz="2000" dirty="0"/>
              <a:t>: 'white' }}&gt;Bienvenue sur Home&lt;/h1&gt;</a:t>
            </a:r>
          </a:p>
          <a:p>
            <a:r>
              <a:rPr lang="fr-FR" sz="2000" dirty="0"/>
              <a:t>      &lt;p </a:t>
            </a:r>
            <a:r>
              <a:rPr lang="fr-FR" sz="2000" b="1" dirty="0"/>
              <a:t>style</a:t>
            </a:r>
            <a:r>
              <a:rPr lang="fr-FR" sz="2000" dirty="0"/>
              <a:t>={{ </a:t>
            </a:r>
            <a:r>
              <a:rPr lang="fr-FR" sz="2000" b="1" dirty="0" err="1"/>
              <a:t>fontSize</a:t>
            </a:r>
            <a:r>
              <a:rPr lang="fr-FR" sz="2000" dirty="0"/>
              <a:t>: '18px' }}&gt;Ceci est un texte stylisé en </a:t>
            </a:r>
            <a:r>
              <a:rPr lang="fr-FR" sz="2000" dirty="0" err="1"/>
              <a:t>inline</a:t>
            </a:r>
            <a:r>
              <a:rPr lang="fr-FR" sz="2000" dirty="0"/>
              <a:t> style.&lt;/p&gt;</a:t>
            </a:r>
          </a:p>
          <a:p>
            <a:r>
              <a:rPr lang="fr-FR" sz="2000" dirty="0"/>
              <a:t>    &lt;/div&gt;</a:t>
            </a:r>
          </a:p>
          <a:p>
            <a:r>
              <a:rPr lang="fr-FR" sz="2000" dirty="0"/>
              <a:t>  );</a:t>
            </a:r>
          </a:p>
          <a:p>
            <a:r>
              <a:rPr lang="fr-F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77319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211AC-1761-5223-F6B5-1C284FF6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EC04E-F48F-2289-A69E-D36632A4E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Objet JavaScript pour styles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D737B5-C83D-4F1A-03EB-0A5A313DC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353"/>
          </a:xfrm>
        </p:spPr>
        <p:txBody>
          <a:bodyPr>
            <a:normAutofit/>
          </a:bodyPr>
          <a:lstStyle/>
          <a:p>
            <a:r>
              <a:rPr lang="fr-FR" sz="2400" dirty="0"/>
              <a:t>On peut créer un objet séparé pour stocker les styles.</a:t>
            </a:r>
          </a:p>
          <a:p>
            <a:r>
              <a:rPr lang="fr-FR" sz="2400" dirty="0"/>
              <a:t>Réutilisable dans plusieurs composants.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465C00-3838-9CA0-8604-DD5BD7D3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AC99-8DEC-43D4-AE9E-B3BC254D9ED4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3143F4-CC90-8895-DD54-334A47A8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93A547-8753-698C-CAEE-57CBDA7A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81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1A177ED-786E-15C6-82EF-16009B0C7520}"/>
              </a:ext>
            </a:extLst>
          </p:cNvPr>
          <p:cNvSpPr txBox="1"/>
          <p:nvPr/>
        </p:nvSpPr>
        <p:spPr>
          <a:xfrm>
            <a:off x="989571" y="2713057"/>
            <a:ext cx="6098058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 err="1"/>
              <a:t>const</a:t>
            </a:r>
            <a:r>
              <a:rPr lang="fr-FR" b="1" dirty="0"/>
              <a:t> </a:t>
            </a:r>
            <a:r>
              <a:rPr lang="fr-FR" b="1" dirty="0" err="1"/>
              <a:t>boxStyle</a:t>
            </a:r>
            <a:r>
              <a:rPr lang="fr-FR" b="1" dirty="0"/>
              <a:t> = {</a:t>
            </a:r>
          </a:p>
          <a:p>
            <a:r>
              <a:rPr lang="fr-FR" b="1" dirty="0"/>
              <a:t>  </a:t>
            </a:r>
            <a:r>
              <a:rPr lang="fr-FR" b="1" dirty="0" err="1"/>
              <a:t>backgroundColor</a:t>
            </a:r>
            <a:r>
              <a:rPr lang="fr-FR" b="1" dirty="0"/>
              <a:t>: '</a:t>
            </a:r>
            <a:r>
              <a:rPr lang="fr-FR" b="1" dirty="0" err="1"/>
              <a:t>lightgreen</a:t>
            </a:r>
            <a:r>
              <a:rPr lang="fr-FR" b="1" dirty="0"/>
              <a:t>',</a:t>
            </a:r>
          </a:p>
          <a:p>
            <a:r>
              <a:rPr lang="fr-FR" b="1" dirty="0"/>
              <a:t>  </a:t>
            </a:r>
            <a:r>
              <a:rPr lang="fr-FR" b="1" dirty="0" err="1"/>
              <a:t>padding</a:t>
            </a:r>
            <a:r>
              <a:rPr lang="fr-FR" b="1" dirty="0"/>
              <a:t>: '15px',</a:t>
            </a:r>
          </a:p>
          <a:p>
            <a:r>
              <a:rPr lang="fr-FR" b="1" dirty="0"/>
              <a:t>  </a:t>
            </a:r>
            <a:r>
              <a:rPr lang="fr-FR" b="1" dirty="0" err="1"/>
              <a:t>borderRadius</a:t>
            </a:r>
            <a:r>
              <a:rPr lang="fr-FR" b="1" dirty="0"/>
              <a:t>: '10px'</a:t>
            </a:r>
          </a:p>
          <a:p>
            <a:r>
              <a:rPr lang="fr-FR" b="1" dirty="0"/>
              <a:t>};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Box() {</a:t>
            </a:r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 style={</a:t>
            </a:r>
            <a:r>
              <a:rPr lang="fr-FR" b="1" dirty="0" err="1"/>
              <a:t>boxStyle</a:t>
            </a:r>
            <a:r>
              <a:rPr lang="fr-FR" dirty="0"/>
              <a:t>}&gt;</a:t>
            </a:r>
          </a:p>
          <a:p>
            <a:r>
              <a:rPr lang="fr-FR" dirty="0"/>
              <a:t>      &lt;p&gt;Box avec style via objet JS.&lt;/p&gt;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0619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963DD-DFC6-CB1F-4B7A-C77F2EB49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0968B-5D1F-0213-D8D1-807AAEA7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Feuilles de style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3C57BF-F3E1-384B-5D6D-8539DBEE3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3499"/>
          </a:xfrm>
        </p:spPr>
        <p:txBody>
          <a:bodyPr/>
          <a:lstStyle/>
          <a:p>
            <a:r>
              <a:rPr lang="fr-FR" dirty="0"/>
              <a:t>Créer un fichier .</a:t>
            </a:r>
            <a:r>
              <a:rPr lang="fr-FR" dirty="0" err="1"/>
              <a:t>css</a:t>
            </a:r>
            <a:r>
              <a:rPr lang="fr-FR" dirty="0"/>
              <a:t> séparé, ex : App.css.</a:t>
            </a:r>
          </a:p>
          <a:p>
            <a:r>
              <a:rPr lang="fr-FR" dirty="0"/>
              <a:t>Importer le fichier dans le composant ou dans App.js.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D444C8-74EF-AB98-B0B4-2515B2DF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9A1A2-1ADD-4200-83C2-AC85AF818829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EBDFA4-86A5-638D-65CE-1363E686A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C4EF17-9E56-6157-DE2C-25365C33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82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FAD9546-BF7D-5BE9-CB8C-844C6C7EA695}"/>
              </a:ext>
            </a:extLst>
          </p:cNvPr>
          <p:cNvSpPr txBox="1"/>
          <p:nvPr/>
        </p:nvSpPr>
        <p:spPr>
          <a:xfrm>
            <a:off x="1895990" y="2845593"/>
            <a:ext cx="3370820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/>
              <a:t>/* App.css*/</a:t>
            </a:r>
          </a:p>
          <a:p>
            <a:r>
              <a:rPr lang="fr-FR" dirty="0"/>
              <a:t>.container {</a:t>
            </a:r>
          </a:p>
          <a:p>
            <a:r>
              <a:rPr lang="fr-FR" dirty="0"/>
              <a:t>  background-</a:t>
            </a:r>
            <a:r>
              <a:rPr lang="fr-FR" dirty="0" err="1"/>
              <a:t>color</a:t>
            </a:r>
            <a:r>
              <a:rPr lang="fr-FR" dirty="0"/>
              <a:t>: </a:t>
            </a:r>
            <a:r>
              <a:rPr lang="fr-FR" dirty="0" err="1"/>
              <a:t>lightyellow</a:t>
            </a:r>
            <a:r>
              <a:rPr lang="fr-FR" dirty="0"/>
              <a:t>;</a:t>
            </a:r>
          </a:p>
          <a:p>
            <a:r>
              <a:rPr lang="fr-FR" dirty="0"/>
              <a:t>  </a:t>
            </a:r>
            <a:r>
              <a:rPr lang="fr-FR" dirty="0" err="1"/>
              <a:t>padding</a:t>
            </a:r>
            <a:r>
              <a:rPr lang="fr-FR" dirty="0"/>
              <a:t>: 20px;</a:t>
            </a:r>
          </a:p>
          <a:p>
            <a:r>
              <a:rPr lang="fr-FR" dirty="0"/>
              <a:t>}</a:t>
            </a:r>
          </a:p>
          <a:p>
            <a:endParaRPr lang="fr-FR" dirty="0"/>
          </a:p>
          <a:p>
            <a:r>
              <a:rPr lang="fr-FR" dirty="0"/>
              <a:t>.container h1 {</a:t>
            </a:r>
          </a:p>
          <a:p>
            <a:r>
              <a:rPr lang="fr-FR" dirty="0"/>
              <a:t>  </a:t>
            </a:r>
            <a:r>
              <a:rPr lang="fr-FR" dirty="0" err="1"/>
              <a:t>color</a:t>
            </a:r>
            <a:r>
              <a:rPr lang="fr-FR" dirty="0"/>
              <a:t>: </a:t>
            </a:r>
            <a:r>
              <a:rPr lang="fr-FR" dirty="0" err="1"/>
              <a:t>darkblue</a:t>
            </a:r>
            <a:r>
              <a:rPr lang="fr-FR" dirty="0"/>
              <a:t>;</a:t>
            </a:r>
          </a:p>
          <a:p>
            <a:r>
              <a:rPr lang="fr-FR" dirty="0"/>
              <a:t>}</a:t>
            </a:r>
          </a:p>
          <a:p>
            <a:endParaRPr lang="fr-FR" dirty="0"/>
          </a:p>
          <a:p>
            <a:r>
              <a:rPr lang="fr-FR" dirty="0"/>
              <a:t>.container p {</a:t>
            </a:r>
          </a:p>
          <a:p>
            <a:r>
              <a:rPr lang="fr-FR" dirty="0"/>
              <a:t>  font-size: 16px;</a:t>
            </a:r>
          </a:p>
          <a:p>
            <a:r>
              <a:rPr lang="fr-FR" dirty="0"/>
              <a:t>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039C3B-32AB-43FA-9E21-9F643FBA9BEB}"/>
              </a:ext>
            </a:extLst>
          </p:cNvPr>
          <p:cNvSpPr txBox="1"/>
          <p:nvPr/>
        </p:nvSpPr>
        <p:spPr>
          <a:xfrm>
            <a:off x="6162417" y="3186576"/>
            <a:ext cx="4896365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/>
              <a:t>import './App.css';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Home() {</a:t>
            </a:r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 </a:t>
            </a:r>
            <a:r>
              <a:rPr lang="fr-FR" b="1" dirty="0" err="1"/>
              <a:t>className</a:t>
            </a:r>
            <a:r>
              <a:rPr lang="fr-FR" dirty="0"/>
              <a:t>="container"&gt;</a:t>
            </a:r>
          </a:p>
          <a:p>
            <a:r>
              <a:rPr lang="fr-FR" dirty="0"/>
              <a:t>      &lt;h1&gt;Bienvenue sur Home&lt;/h1&gt;</a:t>
            </a:r>
          </a:p>
          <a:p>
            <a:r>
              <a:rPr lang="fr-FR" dirty="0"/>
              <a:t>      &lt;p&gt;Texte avec style via CSS classique.&lt;/p&gt;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68020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9C38-A9BA-B1AB-B249-68F72AAB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4A3FDB-A5B5-FD91-FD57-7764DA1B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Modules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E63174-CAE6-970C-7947-014567AC1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065856"/>
          </a:xfrm>
        </p:spPr>
        <p:txBody>
          <a:bodyPr>
            <a:normAutofit/>
          </a:bodyPr>
          <a:lstStyle/>
          <a:p>
            <a:r>
              <a:rPr lang="fr-FR" sz="2400" dirty="0"/>
              <a:t>Permettent de scoper le CSS au composant pour éviter les conflits.</a:t>
            </a:r>
          </a:p>
          <a:p>
            <a:r>
              <a:rPr lang="fr-FR" sz="2400" dirty="0"/>
              <a:t>Le fichier doit avoir l’extension .module.css, ex : my-style.module.css.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46F236-14AE-00C4-E85D-62DD43275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4E07-612E-4FD2-81F0-9B9D29B873F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557BB0-068A-D74B-9F49-4C84E1AD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0055FF-7C85-9347-6572-6D8C589A8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83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4B0EE7-2F84-3767-A1F2-6D81CF4DF4E5}"/>
              </a:ext>
            </a:extLst>
          </p:cNvPr>
          <p:cNvSpPr txBox="1"/>
          <p:nvPr/>
        </p:nvSpPr>
        <p:spPr>
          <a:xfrm>
            <a:off x="838200" y="3192755"/>
            <a:ext cx="396857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/>
              <a:t>/* my-style.module.css*/</a:t>
            </a:r>
            <a:endParaRPr lang="fr-FR" dirty="0"/>
          </a:p>
          <a:p>
            <a:r>
              <a:rPr lang="fr-FR" dirty="0">
                <a:solidFill>
                  <a:srgbClr val="00B0F0"/>
                </a:solidFill>
              </a:rPr>
              <a:t>.</a:t>
            </a:r>
            <a:r>
              <a:rPr lang="fr-FR" dirty="0" err="1">
                <a:solidFill>
                  <a:srgbClr val="00B0F0"/>
                </a:solidFill>
              </a:rPr>
              <a:t>title</a:t>
            </a:r>
            <a:r>
              <a:rPr lang="fr-FR" dirty="0">
                <a:solidFill>
                  <a:srgbClr val="00B0F0"/>
                </a:solidFill>
              </a:rPr>
              <a:t> {</a:t>
            </a:r>
          </a:p>
          <a:p>
            <a:r>
              <a:rPr lang="fr-FR" dirty="0">
                <a:solidFill>
                  <a:srgbClr val="00B0F0"/>
                </a:solidFill>
              </a:rPr>
              <a:t>  </a:t>
            </a:r>
            <a:r>
              <a:rPr lang="fr-FR" dirty="0" err="1">
                <a:solidFill>
                  <a:srgbClr val="00B0F0"/>
                </a:solidFill>
              </a:rPr>
              <a:t>color</a:t>
            </a:r>
            <a:r>
              <a:rPr lang="fr-FR" dirty="0">
                <a:solidFill>
                  <a:srgbClr val="00B0F0"/>
                </a:solidFill>
              </a:rPr>
              <a:t>: </a:t>
            </a:r>
            <a:r>
              <a:rPr lang="fr-FR" dirty="0" err="1">
                <a:solidFill>
                  <a:srgbClr val="00B0F0"/>
                </a:solidFill>
              </a:rPr>
              <a:t>purple</a:t>
            </a:r>
            <a:r>
              <a:rPr lang="fr-FR" dirty="0">
                <a:solidFill>
                  <a:srgbClr val="00B0F0"/>
                </a:solidFill>
              </a:rPr>
              <a:t>;</a:t>
            </a:r>
          </a:p>
          <a:p>
            <a:r>
              <a:rPr lang="fr-FR" dirty="0">
                <a:solidFill>
                  <a:srgbClr val="00B0F0"/>
                </a:solidFill>
              </a:rPr>
              <a:t>  font-size: 24px;</a:t>
            </a:r>
          </a:p>
          <a:p>
            <a:r>
              <a:rPr lang="fr-FR" dirty="0">
                <a:solidFill>
                  <a:srgbClr val="00B0F0"/>
                </a:solidFill>
              </a:rPr>
              <a:t>}</a:t>
            </a:r>
          </a:p>
          <a:p>
            <a:endParaRPr lang="fr-FR" dirty="0"/>
          </a:p>
          <a:p>
            <a:r>
              <a:rPr lang="fr-FR" dirty="0">
                <a:solidFill>
                  <a:srgbClr val="FF0000"/>
                </a:solidFill>
              </a:rPr>
              <a:t>.</a:t>
            </a:r>
            <a:r>
              <a:rPr lang="fr-FR" dirty="0" err="1">
                <a:solidFill>
                  <a:srgbClr val="FF0000"/>
                </a:solidFill>
              </a:rPr>
              <a:t>text</a:t>
            </a:r>
            <a:r>
              <a:rPr lang="fr-FR" dirty="0">
                <a:solidFill>
                  <a:srgbClr val="FF0000"/>
                </a:solidFill>
              </a:rPr>
              <a:t> {</a:t>
            </a:r>
          </a:p>
          <a:p>
            <a:r>
              <a:rPr lang="fr-FR" dirty="0">
                <a:solidFill>
                  <a:srgbClr val="FF0000"/>
                </a:solidFill>
              </a:rPr>
              <a:t>  font-size: 18px;</a:t>
            </a:r>
          </a:p>
          <a:p>
            <a:r>
              <a:rPr lang="fr-FR" dirty="0">
                <a:solidFill>
                  <a:srgbClr val="FF0000"/>
                </a:solidFill>
              </a:rPr>
              <a:t>  </a:t>
            </a:r>
            <a:r>
              <a:rPr lang="fr-FR" dirty="0" err="1">
                <a:solidFill>
                  <a:srgbClr val="FF0000"/>
                </a:solidFill>
              </a:rPr>
              <a:t>color</a:t>
            </a:r>
            <a:r>
              <a:rPr lang="fr-FR" dirty="0">
                <a:solidFill>
                  <a:srgbClr val="FF0000"/>
                </a:solidFill>
              </a:rPr>
              <a:t>: gray;</a:t>
            </a:r>
          </a:p>
          <a:p>
            <a:r>
              <a:rPr lang="fr-FR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0488A47-8D69-44F9-C145-BDC165CCBD75}"/>
              </a:ext>
            </a:extLst>
          </p:cNvPr>
          <p:cNvSpPr txBox="1"/>
          <p:nvPr/>
        </p:nvSpPr>
        <p:spPr>
          <a:xfrm>
            <a:off x="4967418" y="3192755"/>
            <a:ext cx="6919784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/>
              <a:t>import styles </a:t>
            </a:r>
            <a:r>
              <a:rPr lang="fr-FR" b="1" dirty="0" err="1"/>
              <a:t>from</a:t>
            </a:r>
            <a:r>
              <a:rPr lang="fr-FR" b="1" dirty="0"/>
              <a:t> './my-style.module.css';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Home() {</a:t>
            </a:r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&lt;h1 </a:t>
            </a:r>
            <a:r>
              <a:rPr lang="fr-FR" dirty="0" err="1"/>
              <a:t>className</a:t>
            </a:r>
            <a:r>
              <a:rPr lang="fr-FR" dirty="0"/>
              <a:t>={</a:t>
            </a:r>
            <a:r>
              <a:rPr lang="fr-FR" b="1" dirty="0" err="1"/>
              <a:t>styles.</a:t>
            </a:r>
            <a:r>
              <a:rPr lang="fr-FR" b="1" dirty="0" err="1">
                <a:solidFill>
                  <a:srgbClr val="00B0F0"/>
                </a:solidFill>
              </a:rPr>
              <a:t>title</a:t>
            </a:r>
            <a:r>
              <a:rPr lang="fr-FR" dirty="0"/>
              <a:t>}&gt;Titre en Module CSS&lt;/h1&gt;</a:t>
            </a:r>
          </a:p>
          <a:p>
            <a:r>
              <a:rPr lang="fr-FR" dirty="0"/>
              <a:t>      &lt;p </a:t>
            </a:r>
            <a:r>
              <a:rPr lang="fr-FR" dirty="0" err="1"/>
              <a:t>className</a:t>
            </a:r>
            <a:r>
              <a:rPr lang="fr-FR" dirty="0"/>
              <a:t>={</a:t>
            </a:r>
            <a:r>
              <a:rPr lang="fr-FR" b="1" dirty="0" err="1"/>
              <a:t>styles.</a:t>
            </a:r>
            <a:r>
              <a:rPr lang="fr-FR" b="1" dirty="0" err="1">
                <a:solidFill>
                  <a:srgbClr val="FF0000"/>
                </a:solidFill>
              </a:rPr>
              <a:t>text</a:t>
            </a:r>
            <a:r>
              <a:rPr lang="fr-FR" dirty="0"/>
              <a:t>}&gt;Texte stylisé avec module CSS&lt;/p&gt;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50952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322A-F538-5759-7976-581E2481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EABC1ED-C3E5-2296-34A8-CADC5FC2D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F8B9A614-6F67-FE67-1BFB-576CA16C8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dirty="0"/>
              <a:t>Dans </a:t>
            </a:r>
            <a:r>
              <a:rPr lang="fr-FR" dirty="0" err="1"/>
              <a:t>FirstApp</a:t>
            </a:r>
            <a:endParaRPr lang="fr-FR" dirty="0"/>
          </a:p>
          <a:p>
            <a:r>
              <a:rPr lang="fr-FR" b="1" dirty="0"/>
              <a:t>Atelier 02.07 Style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2292390-4D59-B929-F304-2A709D2DC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B10F4AD-ACC1-A807-E5FB-BC9E0EC7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3E85-D62E-4B4B-A84B-6198D8E386B1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AECA1C3-EB63-C80A-F5AA-7E1F22C7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0F0C2C9-6773-89E9-5B62-0D4AB5CD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84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2265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B75CD-3E96-B9A2-528B-5300CE9E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8935D33-03D5-303A-6741-D4D64011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fr-FR" sz="5400" dirty="0" err="1"/>
              <a:t>Hooks</a:t>
            </a:r>
            <a:endParaRPr lang="fr-FR" sz="5400" dirty="0"/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836C58-E720-9BAC-7DDB-60946335A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fr-FR" sz="2200" dirty="0"/>
              <a:t>Les </a:t>
            </a:r>
            <a:r>
              <a:rPr lang="fr-FR" sz="2200" dirty="0" err="1"/>
              <a:t>Hooks</a:t>
            </a:r>
            <a:r>
              <a:rPr lang="fr-FR" sz="2200" dirty="0"/>
              <a:t> ont été introduits dans </a:t>
            </a:r>
            <a:r>
              <a:rPr lang="fr-FR" sz="2200" dirty="0" err="1"/>
              <a:t>React</a:t>
            </a:r>
            <a:r>
              <a:rPr lang="fr-FR" sz="2200" dirty="0"/>
              <a:t> 16.8 et sont pleinement utilisés en </a:t>
            </a:r>
            <a:r>
              <a:rPr lang="fr-FR" sz="2200" dirty="0" err="1"/>
              <a:t>React</a:t>
            </a:r>
            <a:r>
              <a:rPr lang="fr-FR" sz="2200" dirty="0"/>
              <a:t> 19.</a:t>
            </a:r>
          </a:p>
          <a:p>
            <a:r>
              <a:rPr lang="fr-FR" sz="2200" dirty="0"/>
              <a:t>Ils permettent d'utiliser :</a:t>
            </a:r>
          </a:p>
          <a:p>
            <a:pPr lvl="1"/>
            <a:r>
              <a:rPr lang="fr-FR" sz="2200" dirty="0"/>
              <a:t>l’état (state)</a:t>
            </a:r>
          </a:p>
          <a:p>
            <a:pPr lvl="1"/>
            <a:r>
              <a:rPr lang="fr-FR" sz="2200" dirty="0"/>
              <a:t>le cycle de vie</a:t>
            </a:r>
          </a:p>
          <a:p>
            <a:pPr lvl="1"/>
            <a:r>
              <a:rPr lang="fr-FR" sz="2200" dirty="0"/>
              <a:t>le contexte directement dans des composants fonctionnels.</a:t>
            </a:r>
          </a:p>
          <a:p>
            <a:r>
              <a:rPr lang="fr-FR" sz="2200" dirty="0"/>
              <a:t>Les composants classiques (class components) ne sont plus nécessaires.</a:t>
            </a:r>
          </a:p>
          <a:p>
            <a:r>
              <a:rPr lang="fr-FR" sz="2200" dirty="0"/>
              <a:t>Objectif : rendre les composants plus simples et réutilisables.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7647C81-5409-79B8-D6BF-788998DC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4" r="818" b="-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76ACFB-4E6D-BDAF-880B-618CA3C4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CE502C6-D822-4F4C-999C-93C3797D7BF9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682A79-F952-4291-4952-B5FF4E3D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29485D-A7CD-A9B2-0859-A7422532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8CAE16-C5AC-4BC6-9CFA-BCF455D4CA34}" type="slidenum">
              <a:rPr lang="fr-FR" smtClean="0"/>
              <a:pPr>
                <a:spcAft>
                  <a:spcPts val="600"/>
                </a:spcAft>
              </a:pPr>
              <a:t>85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5703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18CF-F5E0-4848-FA92-2790CAC5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B99205-83A2-23AF-FD63-547EAF2D6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Qu’est-ce qu’un Hook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474A10-A99F-92B8-E830-7B19C2EB9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7596"/>
          </a:xfrm>
        </p:spPr>
        <p:txBody>
          <a:bodyPr/>
          <a:lstStyle/>
          <a:p>
            <a:r>
              <a:rPr lang="fr-FR" dirty="0"/>
              <a:t>Un Hook est une fonction spéciale de </a:t>
            </a:r>
            <a:r>
              <a:rPr lang="fr-FR" dirty="0" err="1"/>
              <a:t>React</a:t>
            </a:r>
            <a:r>
              <a:rPr lang="fr-FR" dirty="0"/>
              <a:t>.</a:t>
            </a:r>
          </a:p>
          <a:p>
            <a:r>
              <a:rPr lang="fr-FR" dirty="0"/>
              <a:t>Il permet de “s’accrocher” aux fonctionnalités internes de </a:t>
            </a:r>
            <a:r>
              <a:rPr lang="fr-FR" dirty="0" err="1"/>
              <a:t>React</a:t>
            </a:r>
            <a:r>
              <a:rPr lang="fr-FR" dirty="0"/>
              <a:t>.</a:t>
            </a:r>
          </a:p>
          <a:p>
            <a:r>
              <a:rPr lang="fr-FR" dirty="0"/>
              <a:t>Exemple (ne pas se soucier encore des détails) 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7EEAB4-CB4B-7695-F4B1-8EE60E74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3671-E07C-4F7D-88FD-C5ECA26BB47A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A3494E-343C-988D-3B03-2B81257B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08D8CF-5FA7-0E60-E455-F859E784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86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DEC356C-499F-639D-335A-8BABFA8A7010}"/>
              </a:ext>
            </a:extLst>
          </p:cNvPr>
          <p:cNvSpPr txBox="1"/>
          <p:nvPr/>
        </p:nvSpPr>
        <p:spPr>
          <a:xfrm>
            <a:off x="838200" y="3648158"/>
            <a:ext cx="9232232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/>
              <a:t>import { </a:t>
            </a:r>
            <a:r>
              <a:rPr lang="fr-FR" dirty="0" err="1"/>
              <a:t>useState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App()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[count, </a:t>
            </a:r>
            <a:r>
              <a:rPr lang="fr-FR" dirty="0" err="1"/>
              <a:t>setCount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(0);</a:t>
            </a:r>
          </a:p>
          <a:p>
            <a:r>
              <a:rPr lang="fr-FR" dirty="0"/>
              <a:t>  return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={() =&gt; </a:t>
            </a:r>
            <a:r>
              <a:rPr lang="fr-FR" dirty="0" err="1"/>
              <a:t>setCount</a:t>
            </a:r>
            <a:r>
              <a:rPr lang="fr-FR" dirty="0"/>
              <a:t>(count + 1)}&gt;Compteur : {count}&lt;/</a:t>
            </a:r>
            <a:r>
              <a:rPr lang="fr-FR" dirty="0" err="1"/>
              <a:t>button</a:t>
            </a:r>
            <a:r>
              <a:rPr lang="fr-FR" dirty="0"/>
              <a:t>&gt;;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30568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26D8-8367-03D9-2A95-20619A25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1AB4A-68F0-F72F-7A55-2049F8197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Règles des </a:t>
            </a:r>
            <a:r>
              <a:rPr lang="fr-FR" dirty="0" err="1"/>
              <a:t>Hooks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BF67DC-FC43-174F-851F-58545F8FC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Hooks</a:t>
            </a:r>
            <a:r>
              <a:rPr lang="fr-FR" dirty="0"/>
              <a:t> doivent être utilisés uniquement dans un composant fonctionnel.</a:t>
            </a:r>
          </a:p>
          <a:p>
            <a:r>
              <a:rPr lang="fr-FR" dirty="0"/>
              <a:t>Les </a:t>
            </a:r>
            <a:r>
              <a:rPr lang="fr-FR" dirty="0" err="1"/>
              <a:t>Hooks</a:t>
            </a:r>
            <a:r>
              <a:rPr lang="fr-FR" dirty="0"/>
              <a:t> doivent être appelés au niveau supérieur du composant.</a:t>
            </a:r>
          </a:p>
          <a:p>
            <a:pPr lvl="1"/>
            <a:r>
              <a:rPr lang="fr-FR" dirty="0"/>
              <a:t>Pas dans des if, for, ou fonctions internes.</a:t>
            </a:r>
          </a:p>
          <a:p>
            <a:r>
              <a:rPr lang="fr-FR" dirty="0"/>
              <a:t>Les </a:t>
            </a:r>
            <a:r>
              <a:rPr lang="fr-FR" dirty="0" err="1"/>
              <a:t>Hooks</a:t>
            </a:r>
            <a:r>
              <a:rPr lang="fr-FR" dirty="0"/>
              <a:t> ne peuvent pas être appelés en dehors d’un composant ou d’un Hook personnalisé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3D81B3-1DB6-F1E2-FB9B-F13500DB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17F2-26E5-4008-8013-C4AD7F7392D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D975AB-F74F-4D7C-D9A3-F6ABF63C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52D4C7-5A40-A9CF-E687-26490A8C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87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9045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0F8AD-32D1-809A-3F5A-7CFDAEA4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3B79AB-61BB-4C4C-7F7B-502303503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Hook </a:t>
            </a:r>
            <a:r>
              <a:rPr lang="fr-FR" dirty="0" err="1"/>
              <a:t>useState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7C3DFB-0152-58B3-7295-5CA2D73CA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5859"/>
          </a:xfrm>
        </p:spPr>
        <p:txBody>
          <a:bodyPr>
            <a:normAutofit/>
          </a:bodyPr>
          <a:lstStyle/>
          <a:p>
            <a:r>
              <a:rPr lang="fr-FR" sz="2400" dirty="0" err="1"/>
              <a:t>useState</a:t>
            </a:r>
            <a:r>
              <a:rPr lang="fr-FR" sz="2400" dirty="0"/>
              <a:t> permet de gérer l’état dans un composant.</a:t>
            </a:r>
          </a:p>
          <a:p>
            <a:r>
              <a:rPr lang="fr-FR" sz="2400" dirty="0"/>
              <a:t>Syntaxe (</a:t>
            </a:r>
            <a:r>
              <a:rPr lang="fr-FR" sz="2400" dirty="0" err="1"/>
              <a:t>React</a:t>
            </a:r>
            <a:r>
              <a:rPr lang="fr-FR" sz="2400" dirty="0"/>
              <a:t> 19) :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4234AB-CA6C-37D1-C579-83DE039D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4C83-FEA0-49E8-809A-A80A3D88ADB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CC1A43-67A3-1734-AFDE-0B00F402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4289ED-791C-3855-A8D1-72DF07710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88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978B661-7076-1933-23AC-69BDFAE7656F}"/>
              </a:ext>
            </a:extLst>
          </p:cNvPr>
          <p:cNvSpPr txBox="1"/>
          <p:nvPr/>
        </p:nvSpPr>
        <p:spPr>
          <a:xfrm>
            <a:off x="838199" y="2986421"/>
            <a:ext cx="7463589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import { </a:t>
            </a:r>
            <a:r>
              <a:rPr lang="en-US" dirty="0" err="1"/>
              <a:t>useState</a:t>
            </a:r>
            <a:r>
              <a:rPr lang="en-US" dirty="0"/>
              <a:t> } from "react";</a:t>
            </a:r>
          </a:p>
          <a:p>
            <a:endParaRPr lang="en-US" dirty="0"/>
          </a:p>
          <a:p>
            <a:r>
              <a:rPr lang="en-US" dirty="0"/>
              <a:t>const [color, </a:t>
            </a:r>
            <a:r>
              <a:rPr lang="en-US" dirty="0" err="1"/>
              <a:t>setColor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(""); // état initial = </a:t>
            </a:r>
            <a:r>
              <a:rPr lang="en-US" dirty="0" err="1"/>
              <a:t>chaîne</a:t>
            </a:r>
            <a:r>
              <a:rPr lang="en-US" dirty="0"/>
              <a:t> vide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4ADA88C-8F0A-6DDF-F328-CB59BD786A4F}"/>
              </a:ext>
            </a:extLst>
          </p:cNvPr>
          <p:cNvSpPr txBox="1"/>
          <p:nvPr/>
        </p:nvSpPr>
        <p:spPr>
          <a:xfrm>
            <a:off x="838199" y="4809885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color</a:t>
            </a:r>
            <a:r>
              <a:rPr lang="fr-FR" dirty="0"/>
              <a:t> = valeur actuelle de l’état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setColor</a:t>
            </a:r>
            <a:r>
              <a:rPr lang="fr-FR" dirty="0"/>
              <a:t> = fonction qui met à jour l’état</a:t>
            </a:r>
          </a:p>
        </p:txBody>
      </p:sp>
    </p:spTree>
    <p:extLst>
      <p:ext uri="{BB962C8B-B14F-4D97-AF65-F5344CB8AC3E}">
        <p14:creationId xmlns:p14="http://schemas.microsoft.com/office/powerpoint/2010/main" val="25419332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2235-5C39-A97F-2C1A-CF88FFB4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BE45B-1B00-A4AD-F748-2A98DB207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 </a:t>
            </a:r>
            <a:r>
              <a:rPr lang="fr-FR" dirty="0" err="1"/>
              <a:t>useState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C2B8AE-6546-66B2-FAE2-0C9AD808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96B3-E3EE-4126-9FCB-A999AA5837D5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C91122-3077-EA84-867A-9E6B3BE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EDA5DC-E487-8817-712E-13616F37F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89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8C52A6A-BF54-EF0F-B7B5-E2448B815E49}"/>
              </a:ext>
            </a:extLst>
          </p:cNvPr>
          <p:cNvSpPr txBox="1"/>
          <p:nvPr/>
        </p:nvSpPr>
        <p:spPr>
          <a:xfrm>
            <a:off x="991602" y="1582340"/>
            <a:ext cx="7161797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/>
              <a:t>import { </a:t>
            </a:r>
            <a:r>
              <a:rPr lang="fr-FR" dirty="0" err="1"/>
              <a:t>useState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react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ColorPicker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[</a:t>
            </a:r>
            <a:r>
              <a:rPr lang="fr-FR" dirty="0" err="1"/>
              <a:t>color</a:t>
            </a:r>
            <a:r>
              <a:rPr lang="fr-FR" dirty="0"/>
              <a:t>, </a:t>
            </a:r>
            <a:r>
              <a:rPr lang="fr-FR" b="1" dirty="0" err="1"/>
              <a:t>setColor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("Rouge");</a:t>
            </a:r>
          </a:p>
          <a:p>
            <a:endParaRPr lang="fr-FR" dirty="0"/>
          </a:p>
          <a:p>
            <a:r>
              <a:rPr lang="fr-FR" dirty="0"/>
              <a:t>  return (</a:t>
            </a:r>
          </a:p>
          <a:p>
            <a:r>
              <a:rPr lang="fr-FR" dirty="0"/>
              <a:t>    &lt;div&gt;</a:t>
            </a:r>
          </a:p>
          <a:p>
            <a:r>
              <a:rPr lang="fr-FR" dirty="0"/>
              <a:t>      &lt;h2&gt;Couleur : {</a:t>
            </a:r>
            <a:r>
              <a:rPr lang="fr-FR" dirty="0" err="1"/>
              <a:t>color</a:t>
            </a:r>
            <a:r>
              <a:rPr lang="fr-FR" dirty="0"/>
              <a:t>}&lt;/h2&gt;</a:t>
            </a:r>
          </a:p>
          <a:p>
            <a:r>
              <a:rPr lang="fr-FR" dirty="0"/>
              <a:t>      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={() =&gt; </a:t>
            </a:r>
            <a:r>
              <a:rPr lang="fr-FR" b="1" dirty="0" err="1"/>
              <a:t>setColor</a:t>
            </a:r>
            <a:r>
              <a:rPr lang="fr-FR" dirty="0"/>
              <a:t>("Bleu")}&gt;Changer&lt;/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FD909CB-20E3-99CB-E740-5F7A233A0D6A}"/>
              </a:ext>
            </a:extLst>
          </p:cNvPr>
          <p:cNvSpPr txBox="1"/>
          <p:nvPr/>
        </p:nvSpPr>
        <p:spPr>
          <a:xfrm>
            <a:off x="991603" y="5492839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clic modifie l’état, et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ré-affiche</a:t>
            </a:r>
            <a:r>
              <a:rPr lang="fr-FR" dirty="0"/>
              <a:t> le composant.</a:t>
            </a:r>
          </a:p>
        </p:txBody>
      </p:sp>
    </p:spTree>
    <p:extLst>
      <p:ext uri="{BB962C8B-B14F-4D97-AF65-F5344CB8AC3E}">
        <p14:creationId xmlns:p14="http://schemas.microsoft.com/office/powerpoint/2010/main" val="9149695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A76B-D6C2-5BD1-3DC6-FA2E233A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63F7B5-8984-5BCD-98FB-27BCFC1B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useState</a:t>
            </a:r>
            <a:r>
              <a:rPr lang="fr-FR" dirty="0"/>
              <a:t> avec Objets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0506DF-E643-C355-9054-9FE55BF83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fr-FR" dirty="0"/>
              <a:t>Quand on change un objet, l’objet entier est remplacé.</a:t>
            </a:r>
          </a:p>
          <a:p>
            <a:r>
              <a:rPr lang="fr-FR" dirty="0"/>
              <a:t>On utilise l’opérateur </a:t>
            </a:r>
            <a:r>
              <a:rPr lang="fr-FR" b="1" dirty="0">
                <a:solidFill>
                  <a:srgbClr val="FF0000"/>
                </a:solidFill>
              </a:rPr>
              <a:t>spread</a:t>
            </a:r>
            <a:r>
              <a:rPr lang="fr-FR" dirty="0"/>
              <a:t> pour mettre à jour seulement une partie.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3618DE-D95A-76E2-714B-50A97E1E0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94E7F-0404-491D-8FE8-714428298FB8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25EC5A-2F43-04F6-A1DB-CC861A9F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493ADC-A5B5-F641-7636-B43B9D63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90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2B7A3F-9C33-EA0D-D620-3FA0D46AD321}"/>
              </a:ext>
            </a:extLst>
          </p:cNvPr>
          <p:cNvSpPr txBox="1"/>
          <p:nvPr/>
        </p:nvSpPr>
        <p:spPr>
          <a:xfrm>
            <a:off x="838200" y="3681663"/>
            <a:ext cx="8522368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[car, </a:t>
            </a:r>
            <a:r>
              <a:rPr lang="fr-FR" dirty="0" err="1"/>
              <a:t>setCar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({ brand: "Toyota", </a:t>
            </a:r>
            <a:r>
              <a:rPr lang="fr-FR" dirty="0" err="1"/>
              <a:t>color</a:t>
            </a:r>
            <a:r>
              <a:rPr lang="fr-FR" dirty="0"/>
              <a:t>: "Rouge" });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changeColor</a:t>
            </a:r>
            <a:r>
              <a:rPr lang="fr-FR" dirty="0"/>
              <a:t>() {</a:t>
            </a:r>
          </a:p>
          <a:p>
            <a:r>
              <a:rPr lang="fr-FR" dirty="0"/>
              <a:t>  </a:t>
            </a:r>
            <a:r>
              <a:rPr lang="fr-FR" dirty="0" err="1"/>
              <a:t>setCar</a:t>
            </a:r>
            <a:r>
              <a:rPr lang="fr-FR" dirty="0"/>
              <a:t>(</a:t>
            </a:r>
            <a:r>
              <a:rPr lang="fr-FR" b="1" dirty="0" err="1"/>
              <a:t>prev</a:t>
            </a:r>
            <a:r>
              <a:rPr lang="fr-FR" dirty="0"/>
              <a:t> =&gt; ({ </a:t>
            </a:r>
            <a:r>
              <a:rPr lang="fr-FR" sz="2400" b="1" dirty="0">
                <a:solidFill>
                  <a:srgbClr val="FF0000"/>
                </a:solidFill>
              </a:rPr>
              <a:t>...</a:t>
            </a:r>
            <a:r>
              <a:rPr lang="fr-FR" b="1" dirty="0" err="1"/>
              <a:t>prev</a:t>
            </a:r>
            <a:r>
              <a:rPr lang="fr-FR" dirty="0"/>
              <a:t>, </a:t>
            </a:r>
            <a:r>
              <a:rPr lang="fr-FR" dirty="0" err="1"/>
              <a:t>color</a:t>
            </a:r>
            <a:r>
              <a:rPr lang="fr-FR" dirty="0"/>
              <a:t>: "Bleu" }));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35751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55F61-82D9-DB45-A77E-4F833392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AE6B6-52C7-17DA-DF47-3809AA0B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Hook </a:t>
            </a:r>
            <a:r>
              <a:rPr lang="fr-FR" dirty="0" err="1"/>
              <a:t>useEffect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FAA7FD-9419-CF51-54D8-77DD250EF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69849"/>
          </a:xfrm>
        </p:spPr>
        <p:txBody>
          <a:bodyPr>
            <a:normAutofit/>
          </a:bodyPr>
          <a:lstStyle/>
          <a:p>
            <a:r>
              <a:rPr lang="fr-FR" sz="2000" dirty="0"/>
              <a:t>Permet de gérer les effets secondaires :</a:t>
            </a:r>
          </a:p>
          <a:p>
            <a:pPr lvl="1"/>
            <a:r>
              <a:rPr lang="fr-FR" sz="1800" dirty="0"/>
              <a:t>Appels API</a:t>
            </a:r>
          </a:p>
          <a:p>
            <a:pPr lvl="1"/>
            <a:r>
              <a:rPr lang="fr-FR" sz="1800" dirty="0" err="1"/>
              <a:t>Timers</a:t>
            </a:r>
            <a:endParaRPr lang="fr-FR" sz="1800" dirty="0"/>
          </a:p>
          <a:p>
            <a:pPr lvl="1"/>
            <a:r>
              <a:rPr lang="fr-FR" sz="1800" dirty="0"/>
              <a:t>Accès DOM</a:t>
            </a:r>
          </a:p>
          <a:p>
            <a:r>
              <a:rPr lang="fr-FR" sz="2000" dirty="0"/>
              <a:t>Syntaxe :</a:t>
            </a:r>
          </a:p>
          <a:p>
            <a:pPr marL="0" indent="0">
              <a:buNone/>
            </a:pPr>
            <a:r>
              <a:rPr lang="fr-FR" sz="2000" i="1" dirty="0" err="1"/>
              <a:t>useEffect</a:t>
            </a:r>
            <a:r>
              <a:rPr lang="fr-FR" sz="2000" i="1" dirty="0"/>
              <a:t>(() =&gt; {</a:t>
            </a:r>
          </a:p>
          <a:p>
            <a:pPr marL="0" indent="0">
              <a:buNone/>
            </a:pPr>
            <a:r>
              <a:rPr lang="fr-FR" sz="2000" i="1" dirty="0"/>
              <a:t>  // effet ici</a:t>
            </a:r>
          </a:p>
          <a:p>
            <a:pPr marL="0" indent="0">
              <a:buNone/>
            </a:pPr>
            <a:r>
              <a:rPr lang="fr-FR" sz="2000" i="1" dirty="0"/>
              <a:t>}, [</a:t>
            </a:r>
            <a:r>
              <a:rPr lang="fr-FR" sz="2000" b="1" i="1" dirty="0"/>
              <a:t>dépendances</a:t>
            </a:r>
            <a:r>
              <a:rPr lang="fr-FR" sz="2000" i="1" dirty="0"/>
              <a:t>]);</a:t>
            </a:r>
          </a:p>
          <a:p>
            <a:endParaRPr lang="fr-FR" sz="20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4213F9-2CC3-E281-FED3-A787A10F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340A-8897-4DD7-88F7-EE0115CA29D4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840BF1-FE50-90B0-DCCA-A6BE8F68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A3D0E5-D982-9185-48FC-AACC45F9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91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961FE4F-27A6-B72F-6C33-0AAB1D77CECF}"/>
              </a:ext>
            </a:extLst>
          </p:cNvPr>
          <p:cNvSpPr txBox="1"/>
          <p:nvPr/>
        </p:nvSpPr>
        <p:spPr>
          <a:xfrm>
            <a:off x="838200" y="5361892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Hook se déclenche lorsque les </a:t>
            </a:r>
            <a:r>
              <a:rPr lang="fr-FR" b="1" dirty="0"/>
              <a:t>dépendances</a:t>
            </a:r>
            <a:r>
              <a:rPr lang="fr-FR" dirty="0"/>
              <a:t> changent.</a:t>
            </a:r>
          </a:p>
        </p:txBody>
      </p:sp>
    </p:spTree>
    <p:extLst>
      <p:ext uri="{BB962C8B-B14F-4D97-AF65-F5344CB8AC3E}">
        <p14:creationId xmlns:p14="http://schemas.microsoft.com/office/powerpoint/2010/main" val="118896302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A6F9-194D-78A8-8A4B-D54D01A2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9FF3C0-9F23-19D4-8723-E251DF04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</a:t>
            </a:r>
            <a:r>
              <a:rPr lang="fr-FR" dirty="0" err="1"/>
              <a:t>useEffect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229239-D9B5-3843-5271-36D80820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998C-6314-4FB1-A41A-37B05FB2F7D9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87C854-27BE-283A-83C7-BC4059174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1C808B-E398-FA12-1BAA-B6282AA3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D526309-2B78-84ED-0812-262421761311}"/>
              </a:ext>
            </a:extLst>
          </p:cNvPr>
          <p:cNvSpPr txBox="1"/>
          <p:nvPr/>
        </p:nvSpPr>
        <p:spPr>
          <a:xfrm>
            <a:off x="838200" y="1713771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Rendu initial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20BE5A7-32B6-66B3-6A68-67A272DA44FC}"/>
              </a:ext>
            </a:extLst>
          </p:cNvPr>
          <p:cNvSpPr txBox="1"/>
          <p:nvPr/>
        </p:nvSpPr>
        <p:spPr>
          <a:xfrm>
            <a:off x="838200" y="2223025"/>
            <a:ext cx="609399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400" dirty="0" err="1"/>
              <a:t>useEffect</a:t>
            </a:r>
            <a:r>
              <a:rPr lang="fr-FR" sz="2400" dirty="0"/>
              <a:t>(() =&gt; {</a:t>
            </a:r>
          </a:p>
          <a:p>
            <a:r>
              <a:rPr lang="fr-FR" sz="2400" dirty="0"/>
              <a:t>  console.log("Composant affiché");</a:t>
            </a:r>
          </a:p>
          <a:p>
            <a:r>
              <a:rPr lang="fr-FR" sz="2400" dirty="0"/>
              <a:t>}, []); // tableau vide ⇒ exécution unique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C6D5DBF-EF69-1C84-AD23-41DCA94EB5D9}"/>
              </a:ext>
            </a:extLst>
          </p:cNvPr>
          <p:cNvSpPr txBox="1"/>
          <p:nvPr/>
        </p:nvSpPr>
        <p:spPr>
          <a:xfrm>
            <a:off x="838200" y="383885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Dépendant d’un état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880954-13B7-EEC8-8142-5147F94C60D7}"/>
              </a:ext>
            </a:extLst>
          </p:cNvPr>
          <p:cNvSpPr txBox="1"/>
          <p:nvPr/>
        </p:nvSpPr>
        <p:spPr>
          <a:xfrm>
            <a:off x="838200" y="4358937"/>
            <a:ext cx="968943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400" dirty="0" err="1"/>
              <a:t>useEffect</a:t>
            </a:r>
            <a:r>
              <a:rPr lang="fr-FR" sz="2400" dirty="0"/>
              <a:t>(() =&gt; {</a:t>
            </a:r>
          </a:p>
          <a:p>
            <a:r>
              <a:rPr lang="fr-FR" sz="2400" dirty="0"/>
              <a:t>  console.log("Compteur modifié :", </a:t>
            </a:r>
            <a:r>
              <a:rPr lang="fr-FR" sz="2400" b="1" dirty="0"/>
              <a:t>count</a:t>
            </a:r>
            <a:r>
              <a:rPr lang="fr-FR" sz="2400" dirty="0"/>
              <a:t>);</a:t>
            </a:r>
          </a:p>
          <a:p>
            <a:r>
              <a:rPr lang="fr-FR" sz="2400" dirty="0"/>
              <a:t>}, [</a:t>
            </a:r>
            <a:r>
              <a:rPr lang="fr-FR" sz="2400" b="1" dirty="0"/>
              <a:t>count</a:t>
            </a:r>
            <a:r>
              <a:rPr lang="fr-FR" sz="2400" dirty="0"/>
              <a:t>]); // L’effet se relance </a:t>
            </a:r>
            <a:r>
              <a:rPr lang="fr-FR" sz="2400" b="1" dirty="0"/>
              <a:t>seulement</a:t>
            </a:r>
            <a:r>
              <a:rPr lang="fr-FR" sz="2400" dirty="0"/>
              <a:t> quand </a:t>
            </a:r>
            <a:r>
              <a:rPr lang="fr-FR" dirty="0"/>
              <a:t>count</a:t>
            </a:r>
            <a:r>
              <a:rPr lang="fr-FR" sz="2400" dirty="0"/>
              <a:t> change.</a:t>
            </a:r>
          </a:p>
        </p:txBody>
      </p:sp>
    </p:spTree>
    <p:extLst>
      <p:ext uri="{BB962C8B-B14F-4D97-AF65-F5344CB8AC3E}">
        <p14:creationId xmlns:p14="http://schemas.microsoft.com/office/powerpoint/2010/main" val="28989905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6B7D8-547C-BB28-3055-EBCB0787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203D1C-F24C-0382-2FF2-E0247C41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Nettoyage </a:t>
            </a:r>
            <a:r>
              <a:rPr lang="fr-FR" dirty="0" err="1"/>
              <a:t>useEffect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259108-1C2A-FC89-0F86-6F349DDC8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49922"/>
          </a:xfrm>
        </p:spPr>
        <p:txBody>
          <a:bodyPr/>
          <a:lstStyle/>
          <a:p>
            <a:r>
              <a:rPr lang="fr-FR" dirty="0"/>
              <a:t>Certains effets doivent être nettoyés :</a:t>
            </a:r>
            <a:r>
              <a:rPr lang="fr-FR" dirty="0" err="1"/>
              <a:t>timers</a:t>
            </a:r>
            <a:r>
              <a:rPr lang="fr-FR" dirty="0"/>
              <a:t>, </a:t>
            </a:r>
            <a:r>
              <a:rPr lang="fr-FR" dirty="0" err="1"/>
              <a:t>listeners</a:t>
            </a:r>
            <a:r>
              <a:rPr lang="fr-FR" dirty="0"/>
              <a:t>, API socket…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812025-1D0E-20AB-5F48-46D27F2AF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2E3C-410F-435B-BA8D-C06A32134C44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7354D2-D1DD-A623-1088-CD8B7A62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F74537-C040-EB09-2B65-D5C97DDE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93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6EA9047-7DE7-098A-D86B-AD96404DF507}"/>
              </a:ext>
            </a:extLst>
          </p:cNvPr>
          <p:cNvSpPr txBox="1"/>
          <p:nvPr/>
        </p:nvSpPr>
        <p:spPr>
          <a:xfrm>
            <a:off x="838200" y="3010484"/>
            <a:ext cx="7772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/>
              <a:t>useEffect</a:t>
            </a:r>
            <a:r>
              <a:rPr lang="fr-FR" sz="2000" dirty="0"/>
              <a:t>(() =&gt; {</a:t>
            </a:r>
          </a:p>
          <a:p>
            <a:r>
              <a:rPr lang="fr-FR" sz="2000" dirty="0"/>
              <a:t>  </a:t>
            </a:r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dirty="0" err="1"/>
              <a:t>timer</a:t>
            </a:r>
            <a:r>
              <a:rPr lang="fr-FR" sz="2000" dirty="0"/>
              <a:t> = </a:t>
            </a:r>
            <a:r>
              <a:rPr lang="fr-FR" sz="2000" dirty="0" err="1"/>
              <a:t>setInterval</a:t>
            </a:r>
            <a:r>
              <a:rPr lang="fr-FR" sz="2000" dirty="0"/>
              <a:t>(() =&gt; </a:t>
            </a:r>
            <a:r>
              <a:rPr lang="fr-FR" sz="2000" dirty="0" err="1"/>
              <a:t>setCount</a:t>
            </a:r>
            <a:r>
              <a:rPr lang="fr-FR" sz="2000" dirty="0"/>
              <a:t>(c =&gt; c + 1), 1000);</a:t>
            </a:r>
          </a:p>
          <a:p>
            <a:r>
              <a:rPr lang="fr-FR" sz="2000" dirty="0"/>
              <a:t>  </a:t>
            </a:r>
            <a:r>
              <a:rPr lang="fr-FR" sz="2000" b="1" dirty="0">
                <a:solidFill>
                  <a:srgbClr val="00B0F0"/>
                </a:solidFill>
              </a:rPr>
              <a:t>return () =&gt; </a:t>
            </a:r>
            <a:r>
              <a:rPr lang="fr-FR" sz="2000" b="1" dirty="0" err="1">
                <a:solidFill>
                  <a:srgbClr val="00B0F0"/>
                </a:solidFill>
              </a:rPr>
              <a:t>clearInterval</a:t>
            </a:r>
            <a:r>
              <a:rPr lang="fr-FR" sz="2000" b="1" dirty="0">
                <a:solidFill>
                  <a:srgbClr val="00B0F0"/>
                </a:solidFill>
              </a:rPr>
              <a:t>(</a:t>
            </a:r>
            <a:r>
              <a:rPr lang="fr-FR" sz="2000" b="1" dirty="0" err="1">
                <a:solidFill>
                  <a:srgbClr val="00B0F0"/>
                </a:solidFill>
              </a:rPr>
              <a:t>timer</a:t>
            </a:r>
            <a:r>
              <a:rPr lang="fr-FR" sz="2000" b="1" dirty="0">
                <a:solidFill>
                  <a:srgbClr val="00B0F0"/>
                </a:solidFill>
              </a:rPr>
              <a:t>); // nettoyage</a:t>
            </a:r>
          </a:p>
          <a:p>
            <a:r>
              <a:rPr lang="fr-FR" sz="2000" dirty="0"/>
              <a:t>}, []);</a:t>
            </a:r>
          </a:p>
        </p:txBody>
      </p:sp>
    </p:spTree>
    <p:extLst>
      <p:ext uri="{BB962C8B-B14F-4D97-AF65-F5344CB8AC3E}">
        <p14:creationId xmlns:p14="http://schemas.microsoft.com/office/powerpoint/2010/main" val="33774928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C3BD7-AF05-20FD-C364-093F2873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FE13D-D028-6F6B-1827-4894BB79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useContext</a:t>
            </a:r>
            <a:r>
              <a:rPr lang="fr-FR" dirty="0"/>
              <a:t> (État global)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0681C9-178B-48D0-48BA-3C76249BD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Évite le </a:t>
            </a:r>
            <a:r>
              <a:rPr lang="fr-FR" dirty="0" err="1"/>
              <a:t>prop</a:t>
            </a:r>
            <a:r>
              <a:rPr lang="fr-FR" dirty="0"/>
              <a:t> </a:t>
            </a:r>
            <a:r>
              <a:rPr lang="fr-FR" dirty="0" err="1"/>
              <a:t>drilling</a:t>
            </a:r>
            <a:r>
              <a:rPr lang="fr-FR" dirty="0"/>
              <a:t> (transmission manuelle des </a:t>
            </a:r>
            <a:r>
              <a:rPr lang="fr-FR" dirty="0" err="1"/>
              <a:t>props</a:t>
            </a:r>
            <a:r>
              <a:rPr lang="fr-FR" dirty="0"/>
              <a:t>).</a:t>
            </a:r>
          </a:p>
          <a:p>
            <a:r>
              <a:rPr lang="fr-FR" dirty="0"/>
              <a:t>Création du contexte :</a:t>
            </a:r>
          </a:p>
          <a:p>
            <a:pPr marL="457200" lvl="1" indent="0">
              <a:buNone/>
            </a:pP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UserContext</a:t>
            </a:r>
            <a:r>
              <a:rPr lang="fr-FR" dirty="0"/>
              <a:t> = </a:t>
            </a:r>
            <a:r>
              <a:rPr lang="fr-FR" dirty="0" err="1"/>
              <a:t>createContext</a:t>
            </a:r>
            <a:r>
              <a:rPr lang="fr-FR" dirty="0"/>
              <a:t>();</a:t>
            </a:r>
          </a:p>
          <a:p>
            <a:r>
              <a:rPr lang="fr-FR" dirty="0"/>
              <a:t>Fournisseur :</a:t>
            </a:r>
          </a:p>
          <a:p>
            <a:pPr marL="457200" lvl="1" indent="0">
              <a:buNone/>
            </a:pPr>
            <a:r>
              <a:rPr lang="fr-FR" dirty="0"/>
              <a:t>&lt;</a:t>
            </a:r>
            <a:r>
              <a:rPr lang="fr-FR" dirty="0" err="1"/>
              <a:t>UserContext.Provider</a:t>
            </a:r>
            <a:r>
              <a:rPr lang="fr-FR" dirty="0"/>
              <a:t> value={user}&gt; </a:t>
            </a:r>
          </a:p>
          <a:p>
            <a:pPr marL="457200" lvl="1" indent="0">
              <a:buNone/>
            </a:pPr>
            <a:r>
              <a:rPr lang="fr-FR" dirty="0"/>
              <a:t> &lt;App /&gt;</a:t>
            </a:r>
          </a:p>
          <a:p>
            <a:pPr marL="457200" lvl="1" indent="0">
              <a:buNone/>
            </a:pPr>
            <a:r>
              <a:rPr lang="fr-FR" dirty="0"/>
              <a:t>&lt;/</a:t>
            </a:r>
            <a:r>
              <a:rPr lang="fr-FR" dirty="0" err="1"/>
              <a:t>UserContext.Provider</a:t>
            </a:r>
            <a:r>
              <a:rPr lang="fr-FR" dirty="0"/>
              <a:t>&gt;</a:t>
            </a:r>
          </a:p>
          <a:p>
            <a:r>
              <a:rPr lang="fr-FR" dirty="0"/>
              <a:t>Utilisation :</a:t>
            </a:r>
          </a:p>
          <a:p>
            <a:pPr marL="457200" lvl="1" indent="0">
              <a:buNone/>
            </a:pPr>
            <a:r>
              <a:rPr lang="fr-FR" dirty="0" err="1"/>
              <a:t>const</a:t>
            </a:r>
            <a:r>
              <a:rPr lang="fr-FR" dirty="0"/>
              <a:t> user = </a:t>
            </a:r>
            <a:r>
              <a:rPr lang="fr-FR" dirty="0" err="1"/>
              <a:t>useContext</a:t>
            </a:r>
            <a:r>
              <a:rPr lang="fr-FR" dirty="0"/>
              <a:t>(</a:t>
            </a:r>
            <a:r>
              <a:rPr lang="fr-FR" dirty="0" err="1"/>
              <a:t>UserContext</a:t>
            </a:r>
            <a:r>
              <a:rPr lang="fr-FR" dirty="0"/>
              <a:t>);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5B61B0-FF0B-2CA5-41B5-5867C42D1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D2743-015C-427D-8D93-D32E0BA3BA25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E09E60-FED3-B0F3-9CC3-CB2A1D99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C8745B-95BE-2FC7-0E72-B0E0E78B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993224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8E28C-FE8F-F119-FA43-F642E05B7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63D7E3-2D70-B2C4-B899-088344BE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useRef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A20774-6570-250C-AF7F-70CBD5C59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Conserve une valeur sans re-rendu.</a:t>
            </a:r>
          </a:p>
          <a:p>
            <a:r>
              <a:rPr lang="fr-FR" dirty="0"/>
              <a:t>Sert aussi à accéder à un élément DOM.</a:t>
            </a:r>
          </a:p>
          <a:p>
            <a:pPr marL="0" indent="0">
              <a:buNone/>
            </a:pPr>
            <a:r>
              <a:rPr lang="fr-FR" i="1" dirty="0" err="1"/>
              <a:t>const</a:t>
            </a:r>
            <a:r>
              <a:rPr lang="fr-FR" i="1" dirty="0"/>
              <a:t> </a:t>
            </a:r>
            <a:r>
              <a:rPr lang="fr-FR" i="1" dirty="0" err="1"/>
              <a:t>inputRef</a:t>
            </a:r>
            <a:r>
              <a:rPr lang="fr-FR" i="1" dirty="0"/>
              <a:t> = </a:t>
            </a:r>
            <a:r>
              <a:rPr lang="fr-FR" i="1" dirty="0" err="1"/>
              <a:t>useRef</a:t>
            </a:r>
            <a:r>
              <a:rPr lang="fr-FR" i="1" dirty="0"/>
              <a:t>(</a:t>
            </a:r>
            <a:r>
              <a:rPr lang="fr-FR" i="1" dirty="0" err="1"/>
              <a:t>null</a:t>
            </a:r>
            <a:r>
              <a:rPr lang="fr-FR" i="1" dirty="0"/>
              <a:t>);</a:t>
            </a:r>
          </a:p>
          <a:p>
            <a:pPr marL="0" indent="0">
              <a:buNone/>
            </a:pPr>
            <a:r>
              <a:rPr lang="fr-FR" i="1" dirty="0" err="1"/>
              <a:t>function</a:t>
            </a:r>
            <a:r>
              <a:rPr lang="fr-FR" i="1" dirty="0"/>
              <a:t> </a:t>
            </a:r>
            <a:r>
              <a:rPr lang="fr-FR" i="1" dirty="0" err="1"/>
              <a:t>focusField</a:t>
            </a:r>
            <a:r>
              <a:rPr lang="fr-FR" i="1" dirty="0"/>
              <a:t>() {  </a:t>
            </a:r>
          </a:p>
          <a:p>
            <a:pPr marL="0" indent="0">
              <a:buNone/>
            </a:pPr>
            <a:r>
              <a:rPr lang="fr-FR" i="1" dirty="0" err="1"/>
              <a:t>inputRef.current.focus</a:t>
            </a:r>
            <a:r>
              <a:rPr lang="fr-FR" i="1" dirty="0"/>
              <a:t>();</a:t>
            </a:r>
          </a:p>
          <a:p>
            <a:pPr marL="0" indent="0">
              <a:buNone/>
            </a:pPr>
            <a:r>
              <a:rPr lang="fr-FR" i="1" dirty="0"/>
              <a:t>}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i="1" dirty="0"/>
              <a:t>&lt;input </a:t>
            </a:r>
            <a:r>
              <a:rPr lang="fr-FR" i="1" dirty="0" err="1"/>
              <a:t>ref</a:t>
            </a:r>
            <a:r>
              <a:rPr lang="fr-FR" i="1" dirty="0"/>
              <a:t>={</a:t>
            </a:r>
            <a:r>
              <a:rPr lang="fr-FR" i="1" dirty="0" err="1"/>
              <a:t>inputRef</a:t>
            </a:r>
            <a:r>
              <a:rPr lang="fr-FR" i="1" dirty="0"/>
              <a:t>} /&gt;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E8E0A0-E634-96BF-DC42-4F404176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ADCF-852A-4FCF-AC5E-6DEEAB9578FA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CEFDD-527D-CE6C-9450-ACCBFD66F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4685C7-30EB-B4C4-DD6C-CB352BAA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8426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4D36A-2C57-94D0-2CD7-7FE166CA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5A787-B75B-97BD-6C01-B23AA1BF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useReducer</a:t>
            </a:r>
            <a:r>
              <a:rPr lang="fr-FR" dirty="0"/>
              <a:t> (État complexe)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B09CF5-E240-14DE-973A-AE05EB186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Alternative à </a:t>
            </a:r>
            <a:r>
              <a:rPr lang="fr-FR" sz="3200" dirty="0" err="1"/>
              <a:t>useState</a:t>
            </a:r>
            <a:r>
              <a:rPr lang="fr-FR" sz="3200" dirty="0"/>
              <a:t> lorsque la logique est plus structurée.</a:t>
            </a:r>
          </a:p>
          <a:p>
            <a:pPr marL="0" indent="0">
              <a:buNone/>
            </a:pPr>
            <a:r>
              <a:rPr lang="fr-FR" sz="3200" dirty="0" err="1"/>
              <a:t>function</a:t>
            </a:r>
            <a:r>
              <a:rPr lang="fr-FR" sz="3200" dirty="0"/>
              <a:t> </a:t>
            </a:r>
            <a:r>
              <a:rPr lang="fr-FR" sz="3200" dirty="0" err="1"/>
              <a:t>reducer</a:t>
            </a:r>
            <a:r>
              <a:rPr lang="fr-FR" sz="3200" dirty="0"/>
              <a:t>(state, action) {  </a:t>
            </a:r>
          </a:p>
          <a:p>
            <a:pPr marL="457200" lvl="1" indent="0">
              <a:buNone/>
            </a:pPr>
            <a:r>
              <a:rPr lang="fr-FR" sz="3200" dirty="0"/>
              <a:t>switch(</a:t>
            </a:r>
            <a:r>
              <a:rPr lang="fr-FR" sz="3200" dirty="0" err="1"/>
              <a:t>action.type</a:t>
            </a:r>
            <a:r>
              <a:rPr lang="fr-FR" sz="3200" dirty="0"/>
              <a:t>) {    </a:t>
            </a:r>
          </a:p>
          <a:p>
            <a:pPr marL="914400" lvl="2" indent="0">
              <a:buNone/>
            </a:pPr>
            <a:r>
              <a:rPr lang="fr-FR" sz="3200" dirty="0"/>
              <a:t>case "</a:t>
            </a:r>
            <a:r>
              <a:rPr lang="fr-FR" sz="3200" dirty="0" err="1"/>
              <a:t>increment</a:t>
            </a:r>
            <a:r>
              <a:rPr lang="fr-FR" sz="3200" dirty="0"/>
              <a:t>": return { count: </a:t>
            </a:r>
            <a:r>
              <a:rPr lang="fr-FR" sz="3200" dirty="0" err="1"/>
              <a:t>state.count</a:t>
            </a:r>
            <a:r>
              <a:rPr lang="fr-FR" sz="3200" dirty="0"/>
              <a:t> + 1 };  </a:t>
            </a:r>
          </a:p>
          <a:p>
            <a:pPr marL="0" indent="0">
              <a:buNone/>
            </a:pPr>
            <a:r>
              <a:rPr lang="fr-FR" sz="3200" dirty="0"/>
              <a:t>}</a:t>
            </a:r>
          </a:p>
          <a:p>
            <a:pPr marL="0" indent="0">
              <a:buNone/>
            </a:pPr>
            <a:r>
              <a:rPr lang="fr-FR" sz="3200" dirty="0"/>
              <a:t>}</a:t>
            </a:r>
          </a:p>
          <a:p>
            <a:pPr marL="0" indent="0">
              <a:buNone/>
            </a:pPr>
            <a:r>
              <a:rPr lang="fr-FR" sz="3200" dirty="0" err="1"/>
              <a:t>const</a:t>
            </a:r>
            <a:r>
              <a:rPr lang="fr-FR" sz="3200" dirty="0"/>
              <a:t> [state, dispatch] = </a:t>
            </a:r>
            <a:r>
              <a:rPr lang="fr-FR" sz="3200" dirty="0" err="1"/>
              <a:t>useReducer</a:t>
            </a:r>
            <a:r>
              <a:rPr lang="fr-FR" sz="3200" dirty="0"/>
              <a:t>(</a:t>
            </a:r>
            <a:r>
              <a:rPr lang="fr-FR" sz="3200" dirty="0" err="1"/>
              <a:t>reducer</a:t>
            </a:r>
            <a:r>
              <a:rPr lang="fr-FR" sz="3200" dirty="0"/>
              <a:t>, { count: 0 });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D5CB42-40AD-31BD-6B1C-CEEE216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BEBE-DB8C-4F02-9DEE-00179C92EB7E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07CCC9-B235-99DC-CB69-52E38E98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457DD3-F1F2-4617-CAD7-68F8A9F0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494264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7C546-B6E2-49CD-C540-7B752335F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695051-C6E9-578F-368B-18CE2916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useCallback</a:t>
            </a:r>
            <a:r>
              <a:rPr lang="fr-FR" dirty="0"/>
              <a:t> (Performance)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00D18C-6F73-1E26-B381-D48F314E6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Empêche une fonction d’être recréée à chaque rendu.</a:t>
            </a:r>
          </a:p>
          <a:p>
            <a:pPr marL="0" indent="0">
              <a:buNone/>
            </a:pP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increment</a:t>
            </a:r>
            <a:r>
              <a:rPr lang="fr-FR" dirty="0"/>
              <a:t> = </a:t>
            </a:r>
            <a:r>
              <a:rPr lang="fr-FR" dirty="0" err="1"/>
              <a:t>useCallback</a:t>
            </a:r>
            <a:r>
              <a:rPr lang="fr-FR" dirty="0"/>
              <a:t>(() =&gt; </a:t>
            </a:r>
            <a:r>
              <a:rPr lang="fr-FR" dirty="0" err="1"/>
              <a:t>setCount</a:t>
            </a:r>
            <a:r>
              <a:rPr lang="fr-FR" dirty="0"/>
              <a:t>(c =&gt; c + 1), []);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5C10FF-F48A-00E4-2230-326699B9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5FB8E-566C-44D7-B13F-5FA5D841DFEA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726D21-55DD-FDED-8369-1930EBF4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E42A50-292B-BF63-D9C8-17182770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1174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4AED7-DA39-44A3-ED37-09B06FEE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553D056-AE48-E873-408D-87AC5A236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9EEC756-6180-377A-F5C0-B8B89453F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dirty="0"/>
              <a:t>Dans </a:t>
            </a:r>
            <a:r>
              <a:rPr lang="fr-FR" dirty="0" err="1"/>
              <a:t>FirstApp</a:t>
            </a:r>
            <a:endParaRPr lang="fr-FR" dirty="0"/>
          </a:p>
          <a:p>
            <a:r>
              <a:rPr lang="fr-FR" b="1" dirty="0"/>
              <a:t>Atelier 02.08 Hook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53AD8F2-39F2-C132-A850-758F58C974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F9C3E10-288E-546B-D1CF-2645898B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A344-891D-4685-B633-3F64A4AF5985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94171356-A92F-7401-DD41-BA601E90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7201CDBE-E5E6-5FB8-CBF9-19AD3447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9612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0E59CB-B017-4821-F083-D689C60D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à l’atelier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854239-EB7B-D586-1DAC-5CC7488D8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Objectif : </a:t>
            </a:r>
          </a:p>
          <a:p>
            <a:pPr lvl="1"/>
            <a:r>
              <a:rPr lang="fr-FR" dirty="0"/>
              <a:t>créer une application </a:t>
            </a:r>
            <a:r>
              <a:rPr lang="fr-FR" dirty="0" err="1"/>
              <a:t>TodoList</a:t>
            </a:r>
            <a:r>
              <a:rPr lang="fr-FR" dirty="0"/>
              <a:t> en </a:t>
            </a:r>
            <a:r>
              <a:rPr lang="fr-FR" dirty="0" err="1"/>
              <a:t>React</a:t>
            </a:r>
            <a:r>
              <a:rPr lang="fr-FR" dirty="0"/>
              <a:t>.</a:t>
            </a:r>
          </a:p>
          <a:p>
            <a:r>
              <a:rPr lang="fr-FR" dirty="0"/>
              <a:t>Compétences visées :</a:t>
            </a:r>
          </a:p>
          <a:p>
            <a:pPr lvl="1"/>
            <a:r>
              <a:rPr lang="fr-FR" dirty="0"/>
              <a:t>Gérer l’état avec </a:t>
            </a:r>
            <a:r>
              <a:rPr lang="fr-FR" dirty="0" err="1"/>
              <a:t>useState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Mettre à jour les valeurs avec </a:t>
            </a:r>
            <a:r>
              <a:rPr lang="fr-FR" dirty="0" err="1"/>
              <a:t>onChange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Filtrer une liste avec </a:t>
            </a:r>
            <a:r>
              <a:rPr lang="fr-FR" b="1" dirty="0" err="1"/>
              <a:t>filter</a:t>
            </a:r>
            <a:r>
              <a:rPr lang="fr-FR" dirty="0"/>
              <a:t>().</a:t>
            </a:r>
          </a:p>
          <a:p>
            <a:pPr lvl="1"/>
            <a:r>
              <a:rPr lang="fr-FR" dirty="0"/>
              <a:t>Comprendre le rendu conditionnel.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416626-78B0-B102-4F32-2AAE2728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CFC5-39A1-402F-9BA5-EC6FFDD7DBFA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A9B7B4-AC1B-B839-3B83-BD1C6C5F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FB7BA3-94E6-EC5A-9ECA-F121BB1B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99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478364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3B99-F8D8-F5C7-9928-0409C3CC4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42AAE-0D43-9903-E2CD-7347BFAD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useState</a:t>
            </a:r>
            <a:r>
              <a:rPr lang="fr-FR" dirty="0"/>
              <a:t> : 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A92B22-2048-ED5B-4F83-3B09F11CA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 [value, </a:t>
            </a:r>
            <a:r>
              <a:rPr lang="en-US" dirty="0" err="1"/>
              <a:t>setValue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</a:t>
            </a:r>
            <a:r>
              <a:rPr lang="en-US" dirty="0" err="1"/>
              <a:t>initialValue</a:t>
            </a:r>
            <a:r>
              <a:rPr lang="en-US" dirty="0"/>
              <a:t>);</a:t>
            </a:r>
          </a:p>
          <a:p>
            <a:r>
              <a:rPr lang="fr-FR" dirty="0" err="1"/>
              <a:t>initialValue</a:t>
            </a:r>
            <a:r>
              <a:rPr lang="fr-FR" dirty="0"/>
              <a:t> peut être :</a:t>
            </a:r>
          </a:p>
          <a:p>
            <a:pPr lvl="1"/>
            <a:r>
              <a:rPr lang="fr-FR" dirty="0" err="1"/>
              <a:t>Null</a:t>
            </a:r>
            <a:endParaRPr lang="fr-FR" dirty="0"/>
          </a:p>
          <a:p>
            <a:pPr lvl="1"/>
            <a:r>
              <a:rPr lang="fr-FR" dirty="0"/>
              <a:t>une valeur scalaire : nombre, string, </a:t>
            </a:r>
            <a:r>
              <a:rPr lang="fr-FR" dirty="0" err="1"/>
              <a:t>booléenun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objet : { id: 1, </a:t>
            </a:r>
            <a:r>
              <a:rPr lang="fr-FR" dirty="0" err="1"/>
              <a:t>text</a:t>
            </a:r>
            <a:r>
              <a:rPr lang="fr-FR" dirty="0"/>
              <a:t>: "Hello" }</a:t>
            </a:r>
          </a:p>
          <a:p>
            <a:pPr lvl="1"/>
            <a:r>
              <a:rPr lang="fr-FR" dirty="0"/>
              <a:t>un tableau : [1, 2, 3]</a:t>
            </a:r>
          </a:p>
          <a:p>
            <a:pPr lvl="1"/>
            <a:r>
              <a:rPr lang="fr-FR" dirty="0"/>
              <a:t>un JSON (en réalité un objet JavaScript)</a:t>
            </a:r>
          </a:p>
          <a:p>
            <a:r>
              <a:rPr lang="fr-FR" dirty="0" err="1"/>
              <a:t>React</a:t>
            </a:r>
            <a:r>
              <a:rPr lang="fr-FR" dirty="0"/>
              <a:t> garde cette valeur pour le </a:t>
            </a:r>
            <a:r>
              <a:rPr lang="fr-FR" dirty="0" err="1"/>
              <a:t>composant.T</a:t>
            </a:r>
            <a:endParaRPr lang="fr-FR" dirty="0"/>
          </a:p>
          <a:p>
            <a:r>
              <a:rPr lang="fr-FR" dirty="0" err="1"/>
              <a:t>oute</a:t>
            </a:r>
            <a:r>
              <a:rPr lang="fr-FR" dirty="0"/>
              <a:t> mise à jour déclenche un nouveau rendu.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742EF4-DE3F-954E-13DA-7B7E726A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551E-7B6F-4B6E-A78A-4BAFCFD127A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77CE72-22F0-C567-8D08-0A358187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50E22B-A907-256C-AD4D-2A4221DD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40692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2B381B-80D8-0298-2A33-D7A7305B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onChange</a:t>
            </a:r>
            <a:r>
              <a:rPr lang="fr-FR" dirty="0"/>
              <a:t> : comment ça marche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F12A14-EEC0-330C-26BE-372C310E8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49097" cy="420447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sz="2000" b="1" dirty="0"/>
              <a:t>&lt;input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000" b="1" dirty="0"/>
              <a:t>value={</a:t>
            </a:r>
            <a:r>
              <a:rPr lang="fr-FR" sz="2000" b="1" dirty="0" err="1"/>
              <a:t>newTask</a:t>
            </a:r>
            <a:r>
              <a:rPr lang="fr-FR" sz="2000" b="1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000" b="1" dirty="0" err="1"/>
              <a:t>onChange</a:t>
            </a:r>
            <a:r>
              <a:rPr lang="fr-FR" sz="2000" b="1" dirty="0"/>
              <a:t>={e =&gt; </a:t>
            </a:r>
            <a:r>
              <a:rPr lang="fr-FR" sz="2000" b="1" dirty="0" err="1"/>
              <a:t>setNewTask</a:t>
            </a:r>
            <a:r>
              <a:rPr lang="fr-FR" sz="2000" b="1" dirty="0"/>
              <a:t>(</a:t>
            </a:r>
            <a:r>
              <a:rPr lang="fr-FR" sz="2000" b="1" dirty="0" err="1"/>
              <a:t>e.target.value</a:t>
            </a:r>
            <a:r>
              <a:rPr lang="fr-FR" sz="2000" b="1" dirty="0"/>
              <a:t>)}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000" b="1" dirty="0"/>
              <a:t>/&gt;</a:t>
            </a:r>
          </a:p>
          <a:p>
            <a:pPr>
              <a:lnSpc>
                <a:spcPct val="120000"/>
              </a:lnSpc>
            </a:pPr>
            <a:r>
              <a:rPr lang="fr-FR" sz="2000" b="1" dirty="0"/>
              <a:t>Pourquoi cette syntaxe ?</a:t>
            </a:r>
          </a:p>
          <a:p>
            <a:pPr>
              <a:lnSpc>
                <a:spcPct val="120000"/>
              </a:lnSpc>
            </a:pPr>
            <a:r>
              <a:rPr lang="fr-FR" sz="2000" dirty="0" err="1"/>
              <a:t>onChange</a:t>
            </a:r>
            <a:r>
              <a:rPr lang="fr-FR" sz="2000" dirty="0"/>
              <a:t> attend </a:t>
            </a:r>
            <a:r>
              <a:rPr lang="fr-FR" sz="2000" b="1" dirty="0"/>
              <a:t>une fonction</a:t>
            </a:r>
            <a:r>
              <a:rPr lang="fr-FR" sz="2000" dirty="0"/>
              <a:t>.</a:t>
            </a:r>
          </a:p>
          <a:p>
            <a:pPr>
              <a:lnSpc>
                <a:spcPct val="120000"/>
              </a:lnSpc>
            </a:pPr>
            <a:r>
              <a:rPr lang="fr-FR" sz="2000" dirty="0"/>
              <a:t>e =&gt; </a:t>
            </a:r>
            <a:r>
              <a:rPr lang="fr-FR" sz="2000" dirty="0" err="1"/>
              <a:t>setNewTask</a:t>
            </a:r>
            <a:r>
              <a:rPr lang="fr-FR" sz="2000" dirty="0"/>
              <a:t>(</a:t>
            </a:r>
            <a:r>
              <a:rPr lang="fr-FR" sz="2000" dirty="0" err="1"/>
              <a:t>e.target.value</a:t>
            </a:r>
            <a:r>
              <a:rPr lang="fr-FR" sz="2000" dirty="0"/>
              <a:t>) est une </a:t>
            </a:r>
            <a:r>
              <a:rPr lang="fr-FR" sz="2000" b="1" dirty="0"/>
              <a:t>fonction fléchée</a:t>
            </a:r>
            <a:r>
              <a:rPr lang="fr-FR" sz="2000" dirty="0"/>
              <a:t>.</a:t>
            </a:r>
          </a:p>
          <a:p>
            <a:pPr>
              <a:lnSpc>
                <a:spcPct val="120000"/>
              </a:lnSpc>
            </a:pPr>
            <a:r>
              <a:rPr lang="fr-FR" sz="2000" dirty="0"/>
              <a:t>Si on écrit : </a:t>
            </a:r>
            <a:r>
              <a:rPr lang="fr-FR" sz="2000" dirty="0" err="1"/>
              <a:t>onChange</a:t>
            </a:r>
            <a:r>
              <a:rPr lang="fr-FR" sz="2000" dirty="0"/>
              <a:t>={</a:t>
            </a:r>
            <a:r>
              <a:rPr lang="fr-FR" sz="2000" dirty="0" err="1"/>
              <a:t>setNewTask</a:t>
            </a:r>
            <a:r>
              <a:rPr lang="fr-FR" sz="2000" dirty="0"/>
              <a:t>(</a:t>
            </a:r>
            <a:r>
              <a:rPr lang="fr-FR" sz="2000" dirty="0" err="1"/>
              <a:t>e.target.value</a:t>
            </a:r>
            <a:r>
              <a:rPr lang="fr-FR" sz="2000" dirty="0"/>
              <a:t>)}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E051CE-4638-639D-7E31-95E89C75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B59C8-C379-460B-8066-AE4B6E302286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D09841-CB6A-20FE-F6AA-91966FAF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737AC5-0A4E-021A-6E10-D119FBB5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101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A4375E2-F6E1-FFBC-3A41-C6EA81A1D775}"/>
              </a:ext>
            </a:extLst>
          </p:cNvPr>
          <p:cNvSpPr txBox="1"/>
          <p:nvPr/>
        </p:nvSpPr>
        <p:spPr>
          <a:xfrm>
            <a:off x="6301946" y="4191895"/>
            <a:ext cx="5890054" cy="22870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sz="2000" dirty="0"/>
              <a:t>➡️ Ici </a:t>
            </a:r>
            <a:r>
              <a:rPr lang="fr-FR" sz="2000" dirty="0" err="1"/>
              <a:t>setNewTask</a:t>
            </a:r>
            <a:r>
              <a:rPr lang="fr-FR" sz="2000" dirty="0"/>
              <a:t>(</a:t>
            </a:r>
            <a:r>
              <a:rPr lang="fr-FR" sz="2000" dirty="0" err="1"/>
              <a:t>e.target.value</a:t>
            </a:r>
            <a:r>
              <a:rPr lang="fr-FR" sz="2000" dirty="0"/>
              <a:t>) s’exécute immédiatement avant même que l’utilisateur tape.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000" dirty="0"/>
              <a:t>➡️ On passerait le </a:t>
            </a:r>
            <a:r>
              <a:rPr lang="fr-FR" sz="2000" b="1" dirty="0"/>
              <a:t>résultat</a:t>
            </a:r>
            <a:r>
              <a:rPr lang="fr-FR" sz="2000" dirty="0"/>
              <a:t> à </a:t>
            </a:r>
            <a:r>
              <a:rPr lang="fr-FR" sz="2000" dirty="0" err="1"/>
              <a:t>onChange</a:t>
            </a:r>
            <a:r>
              <a:rPr lang="fr-FR" sz="2000" dirty="0"/>
              <a:t>, pas une fonction.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2000" dirty="0"/>
              <a:t>➡️ </a:t>
            </a:r>
            <a:r>
              <a:rPr lang="fr-FR" sz="2000" dirty="0" err="1"/>
              <a:t>React</a:t>
            </a:r>
            <a:r>
              <a:rPr lang="fr-FR" sz="2000" dirty="0"/>
              <a:t> recevrait une valeur </a:t>
            </a:r>
            <a:r>
              <a:rPr lang="fr-FR" sz="2000" b="1" dirty="0"/>
              <a:t>non fonctionnelle → erreur</a:t>
            </a:r>
            <a:r>
              <a:rPr lang="fr-FR" sz="2000" dirty="0"/>
              <a:t>.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587B98D8-E6F8-F312-9328-B9E6F7E759BE}"/>
              </a:ext>
            </a:extLst>
          </p:cNvPr>
          <p:cNvSpPr/>
          <p:nvPr/>
        </p:nvSpPr>
        <p:spPr>
          <a:xfrm>
            <a:off x="5597611" y="5548184"/>
            <a:ext cx="498389" cy="296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71806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3BA2B-F43A-781B-D9F4-AC13C4D9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filter</a:t>
            </a:r>
            <a:r>
              <a:rPr lang="fr-FR" dirty="0"/>
              <a:t>() : fonctionnement général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277847-0C78-6BA2-12E0-E2F3432A4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/>
              <a:t>Syntaxe :</a:t>
            </a:r>
          </a:p>
          <a:p>
            <a:pPr marL="0" indent="0">
              <a:buNone/>
            </a:pP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= </a:t>
            </a:r>
            <a:r>
              <a:rPr lang="fr-FR" dirty="0" err="1"/>
              <a:t>array.</a:t>
            </a:r>
            <a:r>
              <a:rPr lang="fr-FR" b="1" dirty="0" err="1"/>
              <a:t>filter</a:t>
            </a:r>
            <a:r>
              <a:rPr lang="fr-FR" dirty="0"/>
              <a:t>(</a:t>
            </a:r>
            <a:r>
              <a:rPr lang="fr-FR" dirty="0" err="1"/>
              <a:t>element</a:t>
            </a:r>
            <a:r>
              <a:rPr lang="fr-FR" dirty="0"/>
              <a:t> =&gt; condition);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 err="1"/>
              <a:t>filter</a:t>
            </a:r>
            <a:r>
              <a:rPr lang="fr-FR" dirty="0"/>
              <a:t>() parcourt un tableau.</a:t>
            </a:r>
          </a:p>
          <a:p>
            <a:r>
              <a:rPr lang="fr-FR" dirty="0"/>
              <a:t>Garde uniquement les éléments pour lesquels la condition retourne </a:t>
            </a:r>
            <a:r>
              <a:rPr lang="fr-FR" dirty="0" err="1"/>
              <a:t>true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Exemple simple :</a:t>
            </a:r>
          </a:p>
          <a:p>
            <a:r>
              <a:rPr lang="pt-BR" dirty="0"/>
              <a:t>const nums = [1, 2, 3, 4];</a:t>
            </a:r>
          </a:p>
          <a:p>
            <a:r>
              <a:rPr lang="pt-BR" dirty="0"/>
              <a:t>const evens = nums.filter(n =&gt; n % 2 === 0); // [2, 4]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400AE6-9CBD-2B33-ED43-709518E3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B1F2-8614-4286-8DF3-9447839747B2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B371AB-D8E5-933A-F13F-D4E801B9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3B2327-1FDB-9803-FA2C-E32D81AA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26170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8307-7DB0-2AEC-DE4B-08FA83C0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EB25114-E8AB-73B9-CDFF-E6A62004E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 dirty="0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90DB8820-00FC-5DCC-B04A-FFB961B30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b="1" dirty="0"/>
              <a:t>Atelier 03 </a:t>
            </a:r>
            <a:r>
              <a:rPr lang="fr-FR" b="1" dirty="0" err="1"/>
              <a:t>TodoList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E68496A-BBFB-32CF-91E8-A4E61B9C5A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59DFAC86-CF16-913D-29CD-CAB6D2FB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792F-FAC9-4BC9-AECE-D65F36F7FEAA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1ABD0FE-33FC-F0AE-41A7-7B25E470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95D1312-9CC0-BDA8-5528-F6E072B3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442098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7E75-69C7-5E50-3ECC-7F2DE3F26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EC3861C-D5B5-D570-D842-D936EB334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 dirty="0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B0E1E39E-0C55-9306-D630-D743E9129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b="1" dirty="0"/>
              <a:t>Atelier 04 </a:t>
            </a:r>
            <a:r>
              <a:rPr lang="fr-FR" b="1" dirty="0" err="1"/>
              <a:t>Weather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50C2C87-2123-A389-5141-DF365DEE7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1CB975E2-E99E-EB73-C8BB-5C6E2680D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F707-7169-449E-BFD2-4AA1A49C5EDC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83397512-74AE-8777-9980-9302C2B8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DAE3BEFB-9C0A-5759-7B8D-C9999FE3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1423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25A6-2FAE-93E2-5E73-2738A3E4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D97A21C-E8E0-65B5-CE77-7F24D14B6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 dirty="0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0E209CA2-3F5A-7D5B-D7ED-50D41ECFB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b="1" dirty="0"/>
              <a:t>Atelier 05 </a:t>
            </a:r>
            <a:r>
              <a:rPr lang="fr-FR" b="1" dirty="0" err="1"/>
              <a:t>MiniEcommerce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1B64485-3A2D-075B-A685-90817CD775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6AD4146E-E108-846E-14EF-F76074A3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2058-C78C-433F-B1B5-33672DF43EAE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54C4FB23-AFCF-3F89-F3B4-7463881A7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AA88031-0611-69C5-2FE7-65D6923C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188443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3402B1-DAC6-A448-8D18-66E8E8CCE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aux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2769B5-A326-1CDC-4DAF-316EA70FE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dirty="0"/>
              <a:t>Une </a:t>
            </a:r>
            <a:r>
              <a:rPr lang="fr-FR" b="1" dirty="0"/>
              <a:t>API</a:t>
            </a:r>
            <a:r>
              <a:rPr lang="fr-FR" dirty="0"/>
              <a:t> (Application </a:t>
            </a:r>
            <a:r>
              <a:rPr lang="fr-FR" dirty="0" err="1"/>
              <a:t>Programming</a:t>
            </a:r>
            <a:r>
              <a:rPr lang="fr-FR" dirty="0"/>
              <a:t> Interface) permet à une application de communiquer avec un serveur pour :</a:t>
            </a:r>
          </a:p>
          <a:p>
            <a:pPr>
              <a:lnSpc>
                <a:spcPct val="120000"/>
              </a:lnSpc>
            </a:pPr>
            <a:r>
              <a:rPr lang="fr-FR" dirty="0"/>
              <a:t>Lire des données (GET)</a:t>
            </a:r>
          </a:p>
          <a:p>
            <a:pPr>
              <a:lnSpc>
                <a:spcPct val="120000"/>
              </a:lnSpc>
            </a:pPr>
            <a:r>
              <a:rPr lang="fr-FR" dirty="0"/>
              <a:t>Ajouter (POST)</a:t>
            </a:r>
          </a:p>
          <a:p>
            <a:pPr>
              <a:lnSpc>
                <a:spcPct val="120000"/>
              </a:lnSpc>
            </a:pPr>
            <a:r>
              <a:rPr lang="fr-FR" dirty="0"/>
              <a:t>Modifier (PUT / PATCH)</a:t>
            </a:r>
          </a:p>
          <a:p>
            <a:pPr>
              <a:lnSpc>
                <a:spcPct val="120000"/>
              </a:lnSpc>
            </a:pPr>
            <a:r>
              <a:rPr lang="fr-FR" dirty="0"/>
              <a:t>Supprimer (DELETE)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/>
              <a:t>Exemples d'APIs publiques gratuites :</a:t>
            </a:r>
          </a:p>
          <a:p>
            <a:pPr>
              <a:lnSpc>
                <a:spcPct val="120000"/>
              </a:lnSpc>
            </a:pPr>
            <a:r>
              <a:rPr lang="fr-FR" dirty="0" err="1"/>
              <a:t>JSONPlaceholder</a:t>
            </a:r>
            <a:endParaRPr lang="fr-FR" dirty="0"/>
          </a:p>
          <a:p>
            <a:pPr>
              <a:lnSpc>
                <a:spcPct val="120000"/>
              </a:lnSpc>
            </a:pPr>
            <a:r>
              <a:rPr lang="fr-FR" dirty="0" err="1"/>
              <a:t>ReqRes</a:t>
            </a:r>
            <a:endParaRPr lang="fr-FR" dirty="0"/>
          </a:p>
          <a:p>
            <a:pPr>
              <a:lnSpc>
                <a:spcPct val="120000"/>
              </a:lnSpc>
            </a:pPr>
            <a:r>
              <a:rPr lang="fr-FR" dirty="0" err="1"/>
              <a:t>DummyJSON</a:t>
            </a:r>
            <a:endParaRPr lang="fr-FR" dirty="0"/>
          </a:p>
          <a:p>
            <a:pPr marL="0" indent="0">
              <a:lnSpc>
                <a:spcPct val="120000"/>
              </a:lnSpc>
              <a:buNone/>
            </a:pPr>
            <a:r>
              <a:rPr lang="fr-FR" dirty="0"/>
              <a:t>Dans l'atelier, nous utiliserons : 👉 </a:t>
            </a:r>
            <a:r>
              <a:rPr lang="fr-FR" b="1" dirty="0" err="1"/>
              <a:t>DummyJSON</a:t>
            </a:r>
            <a:r>
              <a:rPr lang="fr-FR" dirty="0"/>
              <a:t>  (API 100% gratuite)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88B47F-E7C0-8B6C-7A72-2DA9D209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3F0D-47E2-499F-8AC5-E222911AF6A5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0AE033-98BC-9647-D242-12AD1B9D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30012E-F1A9-EEF6-D8F8-8D9987EC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66219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306A3-8528-19EF-AFEA-8747A6EB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Utiliser </a:t>
            </a:r>
            <a:r>
              <a:rPr lang="fr-FR" dirty="0" err="1"/>
              <a:t>fetch</a:t>
            </a:r>
            <a:r>
              <a:rPr lang="fr-FR" dirty="0"/>
              <a:t> en </a:t>
            </a:r>
            <a:r>
              <a:rPr lang="fr-FR" dirty="0" err="1"/>
              <a:t>React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D7E8D2-6534-4770-720B-E69DA19C1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Exemple simple : récupérer des </a:t>
            </a:r>
            <a:r>
              <a:rPr lang="fr-FR" b="1" dirty="0" err="1"/>
              <a:t>posts</a:t>
            </a:r>
            <a:endParaRPr lang="fr-FR" b="1" dirty="0"/>
          </a:p>
          <a:p>
            <a:pPr marL="0" indent="0">
              <a:buNone/>
            </a:pPr>
            <a:r>
              <a:rPr lang="en-US" dirty="0" err="1"/>
              <a:t>useEffect</a:t>
            </a:r>
            <a:r>
              <a:rPr lang="en-US" dirty="0"/>
              <a:t>(() =&gt;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fetch</a:t>
            </a:r>
            <a:r>
              <a:rPr lang="en-US" dirty="0"/>
              <a:t>("https://jsonplaceholder.typicode.com/posts")</a:t>
            </a:r>
          </a:p>
          <a:p>
            <a:pPr marL="0" indent="0">
              <a:buNone/>
            </a:pPr>
            <a:r>
              <a:rPr lang="en-US" dirty="0"/>
              <a:t>         .</a:t>
            </a:r>
            <a:r>
              <a:rPr lang="en-US" b="1" dirty="0"/>
              <a:t>then</a:t>
            </a:r>
            <a:r>
              <a:rPr lang="en-US" dirty="0"/>
              <a:t>(res =&gt; </a:t>
            </a:r>
            <a:r>
              <a:rPr lang="en-US" dirty="0" err="1"/>
              <a:t>res.json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         .</a:t>
            </a:r>
            <a:r>
              <a:rPr lang="en-US" b="1" dirty="0"/>
              <a:t>then</a:t>
            </a:r>
            <a:r>
              <a:rPr lang="en-US" dirty="0"/>
              <a:t>(data =&gt; </a:t>
            </a:r>
            <a:r>
              <a:rPr lang="en-US" dirty="0" err="1"/>
              <a:t>setPosts</a:t>
            </a:r>
            <a:r>
              <a:rPr lang="en-US" dirty="0"/>
              <a:t>(data));</a:t>
            </a:r>
          </a:p>
          <a:p>
            <a:pPr marL="0" indent="0">
              <a:buNone/>
            </a:pPr>
            <a:r>
              <a:rPr lang="en-US" dirty="0"/>
              <a:t>}, []);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82D4D6-89DE-E5BA-CB7B-956C4B1E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7FD2E-8591-41E1-8C53-3A60695BE1C6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BA9C2E-C33B-9E3B-0687-364D415E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90DE56-18F1-DFB4-289C-B723043D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010722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37FC-BFFF-7D2D-A738-31DB9E6F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34EEF0-199E-6160-1F65-2278FBBE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Utiliser </a:t>
            </a:r>
            <a:r>
              <a:rPr lang="fr-FR" dirty="0" err="1"/>
              <a:t>fetch</a:t>
            </a:r>
            <a:r>
              <a:rPr lang="fr-FR" dirty="0"/>
              <a:t> en </a:t>
            </a:r>
            <a:r>
              <a:rPr lang="fr-FR" dirty="0" err="1"/>
              <a:t>React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DE9026-0004-5902-EB87-E9E63414A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b="1" dirty="0"/>
              <a:t>Version recommandée (</a:t>
            </a:r>
            <a:r>
              <a:rPr lang="fr-FR" b="1" dirty="0" err="1"/>
              <a:t>async</a:t>
            </a:r>
            <a:r>
              <a:rPr lang="fr-FR" b="1" dirty="0"/>
              <a:t>/</a:t>
            </a:r>
            <a:r>
              <a:rPr lang="fr-FR" b="1" dirty="0" err="1"/>
              <a:t>await</a:t>
            </a:r>
            <a:r>
              <a:rPr lang="fr-FR" b="1" dirty="0"/>
              <a:t>)</a:t>
            </a:r>
          </a:p>
          <a:p>
            <a:pPr marL="0" indent="0">
              <a:buNone/>
            </a:pPr>
            <a:r>
              <a:rPr lang="fr-FR" dirty="0" err="1"/>
              <a:t>useEffect</a:t>
            </a:r>
            <a:r>
              <a:rPr lang="fr-FR" dirty="0"/>
              <a:t>(() =&gt; {</a:t>
            </a:r>
          </a:p>
          <a:p>
            <a:pPr marL="0" indent="0">
              <a:buNone/>
            </a:pPr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loadPosts</a:t>
            </a:r>
            <a:r>
              <a:rPr lang="fr-FR" dirty="0"/>
              <a:t> = </a:t>
            </a:r>
            <a:r>
              <a:rPr lang="fr-FR" dirty="0" err="1"/>
              <a:t>async</a:t>
            </a:r>
            <a:r>
              <a:rPr lang="fr-FR" dirty="0"/>
              <a:t> () =&gt; {</a:t>
            </a:r>
          </a:p>
          <a:p>
            <a:pPr marL="0" indent="0">
              <a:buNone/>
            </a:pPr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res</a:t>
            </a:r>
            <a:r>
              <a:rPr lang="fr-FR" dirty="0"/>
              <a:t> = </a:t>
            </a:r>
            <a:r>
              <a:rPr lang="fr-FR" b="1" dirty="0" err="1"/>
              <a:t>await</a:t>
            </a:r>
            <a:r>
              <a:rPr lang="fr-FR" dirty="0"/>
              <a:t> </a:t>
            </a:r>
            <a:r>
              <a:rPr lang="fr-FR" dirty="0" err="1"/>
              <a:t>fetch</a:t>
            </a:r>
            <a:r>
              <a:rPr lang="fr-FR" dirty="0"/>
              <a:t>("https://jsonplaceholder.typicode.com/</a:t>
            </a:r>
            <a:r>
              <a:rPr lang="fr-FR" dirty="0" err="1"/>
              <a:t>posts</a:t>
            </a:r>
            <a:r>
              <a:rPr lang="fr-FR" dirty="0"/>
              <a:t>");</a:t>
            </a:r>
          </a:p>
          <a:p>
            <a:pPr marL="0" indent="0">
              <a:buNone/>
            </a:pPr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data = </a:t>
            </a:r>
            <a:r>
              <a:rPr lang="fr-FR" b="1" dirty="0" err="1"/>
              <a:t>await</a:t>
            </a:r>
            <a:r>
              <a:rPr lang="fr-FR" dirty="0"/>
              <a:t> </a:t>
            </a:r>
            <a:r>
              <a:rPr lang="fr-FR" dirty="0" err="1"/>
              <a:t>res.json</a:t>
            </a:r>
            <a:r>
              <a:rPr lang="fr-FR" dirty="0"/>
              <a:t>();</a:t>
            </a:r>
          </a:p>
          <a:p>
            <a:pPr marL="0" indent="0">
              <a:buNone/>
            </a:pPr>
            <a:r>
              <a:rPr lang="fr-FR" dirty="0"/>
              <a:t>     </a:t>
            </a:r>
            <a:r>
              <a:rPr lang="fr-FR" dirty="0" err="1"/>
              <a:t>setPosts</a:t>
            </a:r>
            <a:r>
              <a:rPr lang="fr-FR" dirty="0"/>
              <a:t>(data);</a:t>
            </a:r>
          </a:p>
          <a:p>
            <a:pPr marL="0" indent="0">
              <a:buNone/>
            </a:pPr>
            <a:r>
              <a:rPr lang="fr-FR" dirty="0"/>
              <a:t>    };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loadPosts</a:t>
            </a:r>
            <a:r>
              <a:rPr lang="fr-FR" dirty="0"/>
              <a:t>();</a:t>
            </a:r>
          </a:p>
          <a:p>
            <a:pPr marL="0" indent="0">
              <a:buNone/>
            </a:pPr>
            <a:r>
              <a:rPr lang="fr-FR" dirty="0"/>
              <a:t>}, []);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683661-8C66-1EFA-E1D0-342AA482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D8C0-B215-46DC-BF5A-060102AC3920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7E63E2-BE7F-29F3-3FDB-A9C518DD3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EA30-1122-43D5-B112-608E41D2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433836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D0FD4-3D8C-997F-97D6-5D2EDFF64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Envoyer des données : POST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97EA4F-5C81-CF6B-2E80-F14E9568D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None/>
            </a:pPr>
            <a:r>
              <a:rPr lang="fr-FR" sz="1800" dirty="0" err="1"/>
              <a:t>const</a:t>
            </a:r>
            <a:r>
              <a:rPr lang="fr-FR" sz="1800" dirty="0"/>
              <a:t> </a:t>
            </a:r>
            <a:r>
              <a:rPr lang="fr-FR" sz="1800" dirty="0" err="1"/>
              <a:t>addPost</a:t>
            </a:r>
            <a:r>
              <a:rPr lang="fr-FR" sz="1800" dirty="0"/>
              <a:t> = </a:t>
            </a:r>
            <a:r>
              <a:rPr lang="fr-FR" sz="1800" dirty="0" err="1"/>
              <a:t>async</a:t>
            </a:r>
            <a:r>
              <a:rPr lang="fr-FR" sz="1800" dirty="0"/>
              <a:t> () =&gt; {</a:t>
            </a:r>
          </a:p>
          <a:p>
            <a:pPr>
              <a:lnSpc>
                <a:spcPct val="120000"/>
              </a:lnSpc>
              <a:buNone/>
            </a:pPr>
            <a:r>
              <a:rPr lang="fr-FR" sz="1800" dirty="0" err="1"/>
              <a:t>const</a:t>
            </a:r>
            <a:r>
              <a:rPr lang="fr-FR" sz="1800" dirty="0"/>
              <a:t> </a:t>
            </a:r>
            <a:r>
              <a:rPr lang="fr-FR" sz="1800" dirty="0" err="1"/>
              <a:t>newPost</a:t>
            </a:r>
            <a:r>
              <a:rPr lang="fr-FR" sz="1800" dirty="0"/>
              <a:t> = { </a:t>
            </a:r>
            <a:r>
              <a:rPr lang="fr-FR" sz="1800" dirty="0" err="1"/>
              <a:t>title</a:t>
            </a:r>
            <a:r>
              <a:rPr lang="fr-FR" sz="1800" dirty="0"/>
              <a:t>: "Test", body: "Contenu" };</a:t>
            </a:r>
          </a:p>
          <a:p>
            <a:pPr>
              <a:lnSpc>
                <a:spcPct val="120000"/>
              </a:lnSpc>
              <a:buNone/>
            </a:pPr>
            <a:r>
              <a:rPr lang="fr-FR" sz="1800" dirty="0" err="1"/>
              <a:t>const</a:t>
            </a:r>
            <a:r>
              <a:rPr lang="fr-FR" sz="1800" dirty="0"/>
              <a:t> </a:t>
            </a:r>
            <a:r>
              <a:rPr lang="fr-FR" sz="1800" dirty="0" err="1"/>
              <a:t>res</a:t>
            </a:r>
            <a:r>
              <a:rPr lang="fr-FR" sz="1800" dirty="0"/>
              <a:t> = </a:t>
            </a:r>
            <a:r>
              <a:rPr lang="fr-FR" sz="1800" dirty="0" err="1"/>
              <a:t>await</a:t>
            </a:r>
            <a:r>
              <a:rPr lang="fr-FR" sz="1800" dirty="0"/>
              <a:t> </a:t>
            </a:r>
            <a:r>
              <a:rPr lang="fr-FR" sz="1800" dirty="0" err="1"/>
              <a:t>fetch</a:t>
            </a:r>
            <a:r>
              <a:rPr lang="fr-FR" sz="1800" dirty="0"/>
              <a:t>("https://jsonplaceholder.typicode.com/</a:t>
            </a:r>
            <a:r>
              <a:rPr lang="fr-FR" sz="1800" dirty="0" err="1"/>
              <a:t>posts</a:t>
            </a:r>
            <a:r>
              <a:rPr lang="fr-FR" sz="1800" dirty="0"/>
              <a:t>", {</a:t>
            </a:r>
          </a:p>
          <a:p>
            <a:pPr>
              <a:lnSpc>
                <a:spcPct val="120000"/>
              </a:lnSpc>
              <a:buNone/>
            </a:pPr>
            <a:r>
              <a:rPr lang="fr-FR" sz="1800" dirty="0" err="1"/>
              <a:t>method</a:t>
            </a:r>
            <a:r>
              <a:rPr lang="fr-FR" sz="1800" dirty="0"/>
              <a:t>: "</a:t>
            </a:r>
            <a:r>
              <a:rPr lang="fr-FR" sz="1800" b="1" dirty="0"/>
              <a:t>POST</a:t>
            </a:r>
            <a:r>
              <a:rPr lang="fr-FR" sz="1800" dirty="0"/>
              <a:t>",</a:t>
            </a:r>
          </a:p>
          <a:p>
            <a:pPr>
              <a:lnSpc>
                <a:spcPct val="120000"/>
              </a:lnSpc>
              <a:buNone/>
            </a:pPr>
            <a:r>
              <a:rPr lang="fr-FR" sz="1800" dirty="0"/>
              <a:t>headers: { "Content-Type": "application/</a:t>
            </a:r>
            <a:r>
              <a:rPr lang="fr-FR" sz="1800" dirty="0" err="1"/>
              <a:t>json</a:t>
            </a:r>
            <a:r>
              <a:rPr lang="fr-FR" sz="1800" dirty="0"/>
              <a:t>" },</a:t>
            </a:r>
          </a:p>
          <a:p>
            <a:pPr>
              <a:lnSpc>
                <a:spcPct val="120000"/>
              </a:lnSpc>
              <a:buNone/>
            </a:pPr>
            <a:r>
              <a:rPr lang="fr-FR" sz="1800" dirty="0"/>
              <a:t>body: </a:t>
            </a:r>
            <a:r>
              <a:rPr lang="fr-FR" sz="1800" dirty="0" err="1"/>
              <a:t>JSON.stringify</a:t>
            </a:r>
            <a:r>
              <a:rPr lang="fr-FR" sz="1800" dirty="0"/>
              <a:t>(</a:t>
            </a:r>
            <a:r>
              <a:rPr lang="fr-FR" sz="1800" dirty="0" err="1"/>
              <a:t>newPost</a:t>
            </a:r>
            <a:r>
              <a:rPr lang="fr-FR" sz="1800" dirty="0"/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fr-FR" sz="1800" dirty="0"/>
              <a:t>});</a:t>
            </a:r>
          </a:p>
          <a:p>
            <a:pPr>
              <a:lnSpc>
                <a:spcPct val="120000"/>
              </a:lnSpc>
              <a:buNone/>
            </a:pPr>
            <a:r>
              <a:rPr lang="fr-FR" sz="1800" dirty="0" err="1"/>
              <a:t>const</a:t>
            </a:r>
            <a:r>
              <a:rPr lang="fr-FR" sz="1800" dirty="0"/>
              <a:t> data = </a:t>
            </a:r>
            <a:r>
              <a:rPr lang="fr-FR" sz="1800" dirty="0" err="1"/>
              <a:t>await</a:t>
            </a:r>
            <a:r>
              <a:rPr lang="fr-FR" sz="1800" dirty="0"/>
              <a:t> </a:t>
            </a:r>
            <a:r>
              <a:rPr lang="fr-FR" sz="1800" dirty="0" err="1"/>
              <a:t>res.json</a:t>
            </a:r>
            <a:r>
              <a:rPr lang="fr-FR" sz="1800" dirty="0"/>
              <a:t>();</a:t>
            </a:r>
          </a:p>
          <a:p>
            <a:pPr>
              <a:lnSpc>
                <a:spcPct val="120000"/>
              </a:lnSpc>
              <a:buNone/>
            </a:pPr>
            <a:r>
              <a:rPr lang="fr-FR" sz="1800" dirty="0"/>
              <a:t>console.log("Nouveau post :", data);</a:t>
            </a:r>
          </a:p>
          <a:p>
            <a:pPr>
              <a:lnSpc>
                <a:spcPct val="120000"/>
              </a:lnSpc>
              <a:buNone/>
            </a:pPr>
            <a:r>
              <a:rPr lang="fr-FR" sz="1800" dirty="0"/>
              <a:t>};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676AF7-E870-E21F-084F-9AA816734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89E5-F5FE-4F2C-840A-F478848B8EB7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27B747-95C4-9E52-CC86-D828BE50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D84D86-CD0F-98A5-46AC-EFA6A7C8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109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07465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39165-5B8D-6B37-0702-AB75F9E0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Modifier : PUT / PATCH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4F83F5-E703-7746-A886-0DF8FEE09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updatePost</a:t>
            </a:r>
            <a:r>
              <a:rPr lang="fr-FR" dirty="0"/>
              <a:t> = </a:t>
            </a:r>
            <a:r>
              <a:rPr lang="fr-FR" dirty="0" err="1"/>
              <a:t>async</a:t>
            </a:r>
            <a:r>
              <a:rPr lang="fr-FR" dirty="0"/>
              <a:t> (id) =&gt; {</a:t>
            </a:r>
          </a:p>
          <a:p>
            <a:pPr>
              <a:buNone/>
            </a:pP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res</a:t>
            </a:r>
            <a:r>
              <a:rPr lang="fr-FR" dirty="0"/>
              <a:t> = </a:t>
            </a:r>
            <a:r>
              <a:rPr lang="fr-FR" dirty="0" err="1"/>
              <a:t>await</a:t>
            </a:r>
            <a:r>
              <a:rPr lang="fr-FR" dirty="0"/>
              <a:t> </a:t>
            </a:r>
            <a:r>
              <a:rPr lang="fr-FR" dirty="0" err="1"/>
              <a:t>fetch</a:t>
            </a:r>
            <a:r>
              <a:rPr lang="fr-FR" dirty="0"/>
              <a:t>(`https://jsonplaceholder.typicode.com/</a:t>
            </a:r>
            <a:r>
              <a:rPr lang="fr-FR" dirty="0" err="1"/>
              <a:t>posts</a:t>
            </a:r>
            <a:r>
              <a:rPr lang="fr-FR" dirty="0"/>
              <a:t>/${id}`, {</a:t>
            </a:r>
          </a:p>
          <a:p>
            <a:pPr>
              <a:buNone/>
            </a:pPr>
            <a:r>
              <a:rPr lang="fr-FR" dirty="0" err="1"/>
              <a:t>method</a:t>
            </a:r>
            <a:r>
              <a:rPr lang="fr-FR" dirty="0"/>
              <a:t>: "</a:t>
            </a:r>
            <a:r>
              <a:rPr lang="fr-FR" b="1" dirty="0"/>
              <a:t>PUT</a:t>
            </a:r>
            <a:r>
              <a:rPr lang="fr-FR" dirty="0"/>
              <a:t>",</a:t>
            </a:r>
          </a:p>
          <a:p>
            <a:pPr>
              <a:buNone/>
            </a:pPr>
            <a:r>
              <a:rPr lang="fr-FR" dirty="0"/>
              <a:t>headers: { "Content-Type": "application/</a:t>
            </a:r>
            <a:r>
              <a:rPr lang="fr-FR" dirty="0" err="1"/>
              <a:t>json</a:t>
            </a:r>
            <a:r>
              <a:rPr lang="fr-FR" dirty="0"/>
              <a:t>" },</a:t>
            </a:r>
          </a:p>
          <a:p>
            <a:pPr>
              <a:buNone/>
            </a:pPr>
            <a:r>
              <a:rPr lang="fr-FR" dirty="0"/>
              <a:t>body: </a:t>
            </a:r>
            <a:r>
              <a:rPr lang="fr-FR" dirty="0" err="1"/>
              <a:t>JSON.stringify</a:t>
            </a:r>
            <a:r>
              <a:rPr lang="fr-FR" dirty="0"/>
              <a:t>({ </a:t>
            </a:r>
            <a:r>
              <a:rPr lang="fr-FR" dirty="0" err="1"/>
              <a:t>title</a:t>
            </a:r>
            <a:r>
              <a:rPr lang="fr-FR" dirty="0"/>
              <a:t>: "Modifié" })</a:t>
            </a:r>
          </a:p>
          <a:p>
            <a:pPr>
              <a:buNone/>
            </a:pPr>
            <a:r>
              <a:rPr lang="fr-FR" dirty="0"/>
              <a:t>});</a:t>
            </a:r>
          </a:p>
          <a:p>
            <a:pPr>
              <a:buNone/>
            </a:pPr>
            <a:r>
              <a:rPr lang="fr-FR" dirty="0" err="1"/>
              <a:t>const</a:t>
            </a:r>
            <a:r>
              <a:rPr lang="fr-FR" dirty="0"/>
              <a:t> data = </a:t>
            </a:r>
            <a:r>
              <a:rPr lang="fr-FR" dirty="0" err="1"/>
              <a:t>await</a:t>
            </a:r>
            <a:r>
              <a:rPr lang="fr-FR" dirty="0"/>
              <a:t> </a:t>
            </a:r>
            <a:r>
              <a:rPr lang="fr-FR" dirty="0" err="1"/>
              <a:t>res.json</a:t>
            </a:r>
            <a:r>
              <a:rPr lang="fr-FR" dirty="0"/>
              <a:t>();</a:t>
            </a:r>
          </a:p>
          <a:p>
            <a:pPr>
              <a:buNone/>
            </a:pPr>
            <a:r>
              <a:rPr lang="fr-FR" dirty="0"/>
              <a:t>console.log("Maj :", data);</a:t>
            </a:r>
          </a:p>
          <a:p>
            <a:pPr>
              <a:buNone/>
            </a:pPr>
            <a:r>
              <a:rPr lang="fr-FR" dirty="0"/>
              <a:t>};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8A5BA8-39B8-38C5-493F-30B754A2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BB88-8BE3-454D-84F7-BB04DCC3C9E6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CDFA31-8544-18D8-8E1E-982358FB9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6A78B1-B3B2-2FE5-6437-DDFFAA72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21735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DD0563-F75A-E1B9-E747-68916A27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Supprimer : DELETE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6F7EF2-7F15-1BCB-4ADA-F1D732A45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deletePost</a:t>
            </a:r>
            <a:r>
              <a:rPr lang="fr-FR" dirty="0"/>
              <a:t> = </a:t>
            </a:r>
            <a:r>
              <a:rPr lang="fr-FR" dirty="0" err="1"/>
              <a:t>async</a:t>
            </a:r>
            <a:r>
              <a:rPr lang="fr-FR" dirty="0"/>
              <a:t> (id) =&gt; {</a:t>
            </a:r>
          </a:p>
          <a:p>
            <a:pPr>
              <a:buNone/>
            </a:pPr>
            <a:r>
              <a:rPr lang="fr-FR" dirty="0" err="1"/>
              <a:t>await</a:t>
            </a:r>
            <a:r>
              <a:rPr lang="fr-FR" dirty="0"/>
              <a:t> </a:t>
            </a:r>
            <a:r>
              <a:rPr lang="fr-FR" dirty="0" err="1"/>
              <a:t>fetch</a:t>
            </a:r>
            <a:r>
              <a:rPr lang="fr-FR" dirty="0"/>
              <a:t>(`https://jsonplaceholder.typicode.com/</a:t>
            </a:r>
            <a:r>
              <a:rPr lang="fr-FR" dirty="0" err="1"/>
              <a:t>posts</a:t>
            </a:r>
            <a:r>
              <a:rPr lang="fr-FR" dirty="0"/>
              <a:t>/${id}`, {</a:t>
            </a:r>
          </a:p>
          <a:p>
            <a:pPr>
              <a:buNone/>
            </a:pPr>
            <a:r>
              <a:rPr lang="fr-FR" dirty="0" err="1"/>
              <a:t>method</a:t>
            </a:r>
            <a:r>
              <a:rPr lang="fr-FR" dirty="0"/>
              <a:t>: "DELETE"</a:t>
            </a:r>
          </a:p>
          <a:p>
            <a:pPr>
              <a:buNone/>
            </a:pPr>
            <a:r>
              <a:rPr lang="fr-FR" dirty="0"/>
              <a:t>});</a:t>
            </a:r>
          </a:p>
          <a:p>
            <a:pPr>
              <a:buNone/>
            </a:pPr>
            <a:r>
              <a:rPr lang="fr-FR" dirty="0"/>
              <a:t>console.log("Supprimé");</a:t>
            </a:r>
          </a:p>
          <a:p>
            <a:pPr>
              <a:buNone/>
            </a:pPr>
            <a:r>
              <a:rPr lang="fr-FR" dirty="0"/>
              <a:t>};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81F2CA-AF7C-82C3-775C-A7C66695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4C6B-9A7E-4FC8-82BA-BB7AD16C4E14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FAF203-2BEB-0FD0-546C-5EC54D3D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2FBE9-8A96-3852-4EF0-7E64EFFA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120195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57069-CD1E-BE6B-EFD6-836EFF13E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LocalStorage</a:t>
            </a:r>
            <a:r>
              <a:rPr lang="fr-FR" dirty="0"/>
              <a:t> en </a:t>
            </a:r>
            <a:r>
              <a:rPr lang="fr-FR" dirty="0" err="1"/>
              <a:t>React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4241D3-96DE-BE68-4C45-84A23124D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82797"/>
          </a:xfrm>
        </p:spPr>
        <p:txBody>
          <a:bodyPr/>
          <a:lstStyle/>
          <a:p>
            <a:r>
              <a:rPr lang="fr-FR" b="1" dirty="0"/>
              <a:t>Permet de garder des données même après le rechargement.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A4EAA8-7B77-EDAC-4D54-EC893C4B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0A45-29D7-4C37-822C-2679503FF1B2}" type="datetime1">
              <a:rPr lang="en-US" smtClean="0"/>
              <a:t>11/19/2025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DAC59E-8F31-53ED-5FDE-A33C83D7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078562-D0D0-41D9-BB61-958D23AB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112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A675274-C292-4C58-1CD8-19F494758764}"/>
              </a:ext>
            </a:extLst>
          </p:cNvPr>
          <p:cNvSpPr txBox="1"/>
          <p:nvPr/>
        </p:nvSpPr>
        <p:spPr>
          <a:xfrm>
            <a:off x="838200" y="2643359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/>
              <a:t>Enregistrer</a:t>
            </a:r>
            <a:endParaRPr lang="fr-FR" sz="2400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49E949A-C575-8683-A8A8-C5DFEFD64FCA}"/>
              </a:ext>
            </a:extLst>
          </p:cNvPr>
          <p:cNvSpPr txBox="1"/>
          <p:nvPr/>
        </p:nvSpPr>
        <p:spPr>
          <a:xfrm>
            <a:off x="3046971" y="2643359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localStorage.setItem</a:t>
            </a:r>
            <a:r>
              <a:rPr lang="fr-FR" sz="2400" b="1" dirty="0"/>
              <a:t>("</a:t>
            </a:r>
            <a:r>
              <a:rPr lang="fr-FR" sz="2400" b="1" dirty="0" err="1"/>
              <a:t>token</a:t>
            </a:r>
            <a:r>
              <a:rPr lang="fr-FR" sz="2400" b="1" dirty="0"/>
              <a:t>", "123ABC");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409B338-18A5-664D-1950-9B9B037C415A}"/>
              </a:ext>
            </a:extLst>
          </p:cNvPr>
          <p:cNvSpPr txBox="1"/>
          <p:nvPr/>
        </p:nvSpPr>
        <p:spPr>
          <a:xfrm>
            <a:off x="838200" y="3264350"/>
            <a:ext cx="1966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Lire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037E98-5E61-0ED7-DDA8-B1F85EB5E3BC}"/>
              </a:ext>
            </a:extLst>
          </p:cNvPr>
          <p:cNvSpPr txBox="1"/>
          <p:nvPr/>
        </p:nvSpPr>
        <p:spPr>
          <a:xfrm>
            <a:off x="3049029" y="3244334"/>
            <a:ext cx="6861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const</a:t>
            </a:r>
            <a:r>
              <a:rPr lang="fr-FR" sz="2400" b="1" dirty="0"/>
              <a:t> </a:t>
            </a:r>
            <a:r>
              <a:rPr lang="fr-FR" sz="2400" b="1" dirty="0" err="1"/>
              <a:t>token</a:t>
            </a:r>
            <a:r>
              <a:rPr lang="fr-FR" sz="2400" b="1" dirty="0"/>
              <a:t> = </a:t>
            </a:r>
            <a:r>
              <a:rPr lang="fr-FR" sz="2400" b="1" dirty="0" err="1"/>
              <a:t>localStorage.getItem</a:t>
            </a:r>
            <a:r>
              <a:rPr lang="fr-FR" sz="2400" b="1" dirty="0"/>
              <a:t>("</a:t>
            </a:r>
            <a:r>
              <a:rPr lang="fr-FR" sz="2400" b="1" dirty="0" err="1"/>
              <a:t>token</a:t>
            </a:r>
            <a:r>
              <a:rPr lang="fr-FR" sz="2400" b="1" dirty="0"/>
              <a:t>");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12B605B-6960-080B-727A-26A15F26C3EE}"/>
              </a:ext>
            </a:extLst>
          </p:cNvPr>
          <p:cNvSpPr txBox="1"/>
          <p:nvPr/>
        </p:nvSpPr>
        <p:spPr>
          <a:xfrm>
            <a:off x="838200" y="3971707"/>
            <a:ext cx="22108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Supprimer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2957999-1F58-4314-38A8-1124620D467B}"/>
              </a:ext>
            </a:extLst>
          </p:cNvPr>
          <p:cNvSpPr txBox="1"/>
          <p:nvPr/>
        </p:nvSpPr>
        <p:spPr>
          <a:xfrm>
            <a:off x="3049029" y="3951691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localStorage.removeItem</a:t>
            </a:r>
            <a:r>
              <a:rPr lang="fr-FR" sz="2400" b="1" dirty="0"/>
              <a:t>("</a:t>
            </a:r>
            <a:r>
              <a:rPr lang="fr-FR" sz="2400" b="1" dirty="0" err="1"/>
              <a:t>token</a:t>
            </a:r>
            <a:r>
              <a:rPr lang="fr-FR" sz="2400" b="1" dirty="0"/>
              <a:t>");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505EA5D-9B4D-CA98-5C6B-D5CA7E2EFBF0}"/>
              </a:ext>
            </a:extLst>
          </p:cNvPr>
          <p:cNvSpPr txBox="1"/>
          <p:nvPr/>
        </p:nvSpPr>
        <p:spPr>
          <a:xfrm>
            <a:off x="838200" y="4720225"/>
            <a:ext cx="609805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Exemple pratique : sauvegarder un thème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543BB48-B5AA-DC8E-67D6-522FD155D828}"/>
              </a:ext>
            </a:extLst>
          </p:cNvPr>
          <p:cNvSpPr txBox="1"/>
          <p:nvPr/>
        </p:nvSpPr>
        <p:spPr>
          <a:xfrm>
            <a:off x="838199" y="5156021"/>
            <a:ext cx="10515599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</a:t>
            </a:r>
            <a:r>
              <a:rPr lang="fr-FR" dirty="0" err="1"/>
              <a:t>theme</a:t>
            </a:r>
            <a:r>
              <a:rPr lang="fr-FR" dirty="0"/>
              <a:t>, </a:t>
            </a:r>
            <a:r>
              <a:rPr lang="fr-FR" dirty="0" err="1"/>
              <a:t>setTheme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</a:t>
            </a:r>
            <a:r>
              <a:rPr lang="fr-FR" dirty="0" err="1"/>
              <a:t>localStorage.getItem</a:t>
            </a:r>
            <a:r>
              <a:rPr lang="fr-FR" dirty="0"/>
              <a:t>("</a:t>
            </a:r>
            <a:r>
              <a:rPr lang="fr-FR" dirty="0" err="1"/>
              <a:t>theme</a:t>
            </a:r>
            <a:r>
              <a:rPr lang="fr-FR" dirty="0"/>
              <a:t>") || "light");</a:t>
            </a:r>
          </a:p>
          <a:p>
            <a:r>
              <a:rPr lang="fr-FR" dirty="0" err="1"/>
              <a:t>useEffect</a:t>
            </a:r>
            <a:r>
              <a:rPr lang="fr-FR" dirty="0"/>
              <a:t>(() =&gt; {</a:t>
            </a:r>
          </a:p>
          <a:p>
            <a:r>
              <a:rPr lang="fr-FR" dirty="0" err="1"/>
              <a:t>localStorage.setItem</a:t>
            </a:r>
            <a:r>
              <a:rPr lang="fr-FR" dirty="0"/>
              <a:t>("</a:t>
            </a:r>
            <a:r>
              <a:rPr lang="fr-FR" dirty="0" err="1"/>
              <a:t>theme</a:t>
            </a:r>
            <a:r>
              <a:rPr lang="fr-FR" dirty="0"/>
              <a:t>", </a:t>
            </a:r>
            <a:r>
              <a:rPr lang="fr-FR" dirty="0" err="1"/>
              <a:t>theme</a:t>
            </a:r>
            <a:r>
              <a:rPr lang="fr-FR" dirty="0"/>
              <a:t>);</a:t>
            </a:r>
          </a:p>
          <a:p>
            <a:r>
              <a:rPr lang="fr-FR" dirty="0"/>
              <a:t>}, [</a:t>
            </a:r>
            <a:r>
              <a:rPr lang="fr-FR" dirty="0" err="1"/>
              <a:t>theme</a:t>
            </a:r>
            <a:r>
              <a:rPr lang="fr-FR" dirty="0"/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64152523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DC17E-58E0-03F8-74F0-DE743147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8F2D08E-B192-B968-E392-1FA2F8B55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 dirty="0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92EA1498-98DF-E002-B774-BB66F17A8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b="1" dirty="0"/>
              <a:t>Atelier 06 </a:t>
            </a:r>
            <a:r>
              <a:rPr lang="fr-FR" b="1" dirty="0" err="1"/>
              <a:t>APICrud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BB200CB-0CF6-4C80-93F0-516ED19BA7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256C0F9E-F288-A93F-26EC-584BCF4B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936A-7F6F-4868-869D-B5C053A9A53E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F1E4809-0705-B4C7-80D1-41B55662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C5F1720-5FC8-0A59-6368-100AA476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65172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2B60-927D-F8FA-1F88-FFB19F58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E5465A6-D55C-22C0-7748-21D0E9524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fr-FR" dirty="0"/>
              <a:t>Pratique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7BF892-7E04-9E21-5B38-46BEF7A44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fr-FR" b="1" dirty="0"/>
              <a:t>Atelier 07 Hébergement et déploiement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22D7D83-26FB-594C-D50F-48BC7C2BA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0EA1FBD8-32E6-FFB3-D6C5-8DE2DC84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56EBC-66A1-462B-BA1B-EA223D8E5B9A}" type="datetime1">
              <a:rPr lang="en-US" smtClean="0"/>
              <a:t>11/19/2025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EE2391D0-F5BC-2878-F66D-E928DA3E1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React - M. Kamel ABBASSI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4E3B5919-0055-ACDB-F220-016247D7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E16-C5AC-4BC6-9CFA-BCF455D4CA34}" type="slidenum">
              <a:rPr lang="fr-FR" smtClean="0"/>
              <a:t>114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9218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5064</TotalTime>
  <Words>9217</Words>
  <Application>Microsoft Office PowerPoint</Application>
  <PresentationFormat>Grand écran</PresentationFormat>
  <Paragraphs>1660</Paragraphs>
  <Slides>114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114</vt:i4>
      </vt:variant>
    </vt:vector>
  </HeadingPairs>
  <TitlesOfParts>
    <vt:vector size="120" baseType="lpstr">
      <vt:lpstr>Aptos</vt:lpstr>
      <vt:lpstr>Aptos Display</vt:lpstr>
      <vt:lpstr>Arial</vt:lpstr>
      <vt:lpstr>Courier New</vt:lpstr>
      <vt:lpstr>Wingdings</vt:lpstr>
      <vt:lpstr>Thème Office</vt:lpstr>
      <vt:lpstr>Une bibliothèque JavaScript qui permet de créer des interfaces utilisateur interactives et réutilisables.</vt:lpstr>
      <vt:lpstr>About</vt:lpstr>
      <vt:lpstr>Plan</vt:lpstr>
      <vt:lpstr>Organisation</vt:lpstr>
      <vt:lpstr>Qu'est-ce que React ?</vt:lpstr>
      <vt:lpstr>Comment fonctionne React ?</vt:lpstr>
      <vt:lpstr>Environnement React (1/4)</vt:lpstr>
      <vt:lpstr>Environnement React (2/4)</vt:lpstr>
      <vt:lpstr>Environnement React (3/4)</vt:lpstr>
      <vt:lpstr>Environnement React (4/4)</vt:lpstr>
      <vt:lpstr>Introduction à Docker</vt:lpstr>
      <vt:lpstr>Étapes pour installer la première app React dans Docker</vt:lpstr>
      <vt:lpstr>Lancer l’application React</vt:lpstr>
      <vt:lpstr>Pratique :</vt:lpstr>
      <vt:lpstr>Qu'est-ce que JSX ?</vt:lpstr>
      <vt:lpstr>Sans JSX (JavaScript pur)</vt:lpstr>
      <vt:lpstr>Avec React mais sans JSX (createElement)</vt:lpstr>
      <vt:lpstr>Avec JSX (la manière standard en React)</vt:lpstr>
      <vt:lpstr>Manipulez des données dans JSX</vt:lpstr>
      <vt:lpstr>Manipulez des données dans JSX</vt:lpstr>
      <vt:lpstr>Manipulez des données dans JSX</vt:lpstr>
      <vt:lpstr>React Components</vt:lpstr>
      <vt:lpstr>Exemple: Composant de classe</vt:lpstr>
      <vt:lpstr>Exemple: Composant de fonction</vt:lpstr>
      <vt:lpstr>Rendu d'un composant</vt:lpstr>
      <vt:lpstr>Composant dans un autre Composant</vt:lpstr>
      <vt:lpstr>Pratique :</vt:lpstr>
      <vt:lpstr>Component Constructor</vt:lpstr>
      <vt:lpstr>Component Constructor</vt:lpstr>
      <vt:lpstr>Le rôle de super() dans le constructor</vt:lpstr>
      <vt:lpstr>Qu’est-ce que state ?</vt:lpstr>
      <vt:lpstr>Qu’est-ce que state ?</vt:lpstr>
      <vt:lpstr>Modification de l’état (State) dans un composant classe</vt:lpstr>
      <vt:lpstr>Exemple : changer la couleur via un bouton</vt:lpstr>
      <vt:lpstr>Modification de l’état dans un composant fonctionnel</vt:lpstr>
      <vt:lpstr>Qu’est-ce que props ?</vt:lpstr>
      <vt:lpstr>Différence entre props et state</vt:lpstr>
      <vt:lpstr>Hook</vt:lpstr>
      <vt:lpstr>useState</vt:lpstr>
      <vt:lpstr>useEffect : Syntaxe de base</vt:lpstr>
      <vt:lpstr>useEffect : Avec tableau de dépendances</vt:lpstr>
      <vt:lpstr>useEffect : Nettoyage (Cleanup)</vt:lpstr>
      <vt:lpstr>useEffect : Nettoyage (Cleanup)</vt:lpstr>
      <vt:lpstr>Pratique :</vt:lpstr>
      <vt:lpstr>React Events - Définition</vt:lpstr>
      <vt:lpstr>React Events - Différence avec HTML</vt:lpstr>
      <vt:lpstr>React Events - Exemple simple</vt:lpstr>
      <vt:lpstr>React Events - Passage de paramètre</vt:lpstr>
      <vt:lpstr>React Events - Gestion des Inputs</vt:lpstr>
      <vt:lpstr>Pratique :</vt:lpstr>
      <vt:lpstr>Rendu conditionnel : If Statement</vt:lpstr>
      <vt:lpstr>Rendu conditionnel : &amp;&amp; Opérateur logique</vt:lpstr>
      <vt:lpstr>Rendu conditionnel : Opérateur ternaire</vt:lpstr>
      <vt:lpstr>Rendu conditionnel : Listes et itération avec map()</vt:lpstr>
      <vt:lpstr>Le Spread Operator (opérateur de décomposition)...</vt:lpstr>
      <vt:lpstr>Le Spread Operator (opérateur de décomposition)...</vt:lpstr>
      <vt:lpstr>Le Spread Operator (opérateur de décomposition)...</vt:lpstr>
      <vt:lpstr>Pratique :</vt:lpstr>
      <vt:lpstr>Formulaire en React</vt:lpstr>
      <vt:lpstr>Soumission par défaut des formulaires</vt:lpstr>
      <vt:lpstr>Empêcher l'actualisation</vt:lpstr>
      <vt:lpstr>Concept : Formulaire contrôlé</vt:lpstr>
      <vt:lpstr>Gestion du formulaire avec useState</vt:lpstr>
      <vt:lpstr>Champs Multiples dans un Formulaire</vt:lpstr>
      <vt:lpstr>Zone de texte (textarea)</vt:lpstr>
      <vt:lpstr>Liste déroulante (select)</vt:lpstr>
      <vt:lpstr>Pratique :</vt:lpstr>
      <vt:lpstr>Routage et navigation SPA (Single Page Application)</vt:lpstr>
      <vt:lpstr>Pourquoi utiliser React Router ?</vt:lpstr>
      <vt:lpstr>Installation</vt:lpstr>
      <vt:lpstr>Structure de projet recommandée</vt:lpstr>
      <vt:lpstr>Layout.jsx (Page Layout / Template)</vt:lpstr>
      <vt:lpstr>Configuration du routage (main.jsx)</vt:lpstr>
      <vt:lpstr>Outlet &amp; Link</vt:lpstr>
      <vt:lpstr>Navigation programmée</vt:lpstr>
      <vt:lpstr>Routage dynamique (:id)</vt:lpstr>
      <vt:lpstr>Pratique :</vt:lpstr>
      <vt:lpstr>React : Styliser vos composants</vt:lpstr>
      <vt:lpstr>Pourquoi styliser React ?</vt:lpstr>
      <vt:lpstr>Style en ligne (Inline Style)</vt:lpstr>
      <vt:lpstr>Objet JavaScript pour styles</vt:lpstr>
      <vt:lpstr>Feuilles de style CSS</vt:lpstr>
      <vt:lpstr>Modules CSS</vt:lpstr>
      <vt:lpstr>Pratique :</vt:lpstr>
      <vt:lpstr>Hooks</vt:lpstr>
      <vt:lpstr>Qu’est-ce qu’un Hook ?</vt:lpstr>
      <vt:lpstr>Règles des Hooks</vt:lpstr>
      <vt:lpstr>Le Hook useState</vt:lpstr>
      <vt:lpstr>Exemple Simple useState</vt:lpstr>
      <vt:lpstr>useState avec Objets</vt:lpstr>
      <vt:lpstr>Le Hook useEffect</vt:lpstr>
      <vt:lpstr>Exemple useEffect</vt:lpstr>
      <vt:lpstr>Nettoyage useEffect</vt:lpstr>
      <vt:lpstr>useContext (État global)</vt:lpstr>
      <vt:lpstr>useRef</vt:lpstr>
      <vt:lpstr>useReducer (État complexe)</vt:lpstr>
      <vt:lpstr>useCallback (Performance)</vt:lpstr>
      <vt:lpstr>Pratique :</vt:lpstr>
      <vt:lpstr>Introduction à l’atelier</vt:lpstr>
      <vt:lpstr>useState : rappel</vt:lpstr>
      <vt:lpstr>onChange : comment ça marche ?</vt:lpstr>
      <vt:lpstr>filter() : fonctionnement général</vt:lpstr>
      <vt:lpstr>Pratique :</vt:lpstr>
      <vt:lpstr>Pratique :</vt:lpstr>
      <vt:lpstr>Pratique :</vt:lpstr>
      <vt:lpstr>Introduction aux API</vt:lpstr>
      <vt:lpstr>Utiliser fetch en React</vt:lpstr>
      <vt:lpstr>Utiliser fetch en React</vt:lpstr>
      <vt:lpstr>Envoyer des données : POST</vt:lpstr>
      <vt:lpstr>Modifier : PUT / PATCH</vt:lpstr>
      <vt:lpstr>Supprimer : DELETE</vt:lpstr>
      <vt:lpstr>LocalStorage en React</vt:lpstr>
      <vt:lpstr>Pratique :</vt:lpstr>
      <vt:lpstr>Pratique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react</dc:title>
  <dc:creator>ABBASSI kamel</dc:creator>
  <cp:keywords>React</cp:keywords>
  <cp:lastModifiedBy>ABBASSI kamel</cp:lastModifiedBy>
  <cp:revision>91</cp:revision>
  <dcterms:created xsi:type="dcterms:W3CDTF">2025-11-08T15:35:27Z</dcterms:created>
  <dcterms:modified xsi:type="dcterms:W3CDTF">2025-11-19T12:46:14Z</dcterms:modified>
</cp:coreProperties>
</file>